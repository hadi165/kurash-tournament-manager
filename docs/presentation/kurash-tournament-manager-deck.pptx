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TOURNAMENT SOFTWARE</a:t>
            </a:r>
            <a:endParaRPr lang="en-US" sz="1800" dirty="0"/>
          </a:p>
        </p:txBody>
      </p:sp>
      <p:sp>
        <p:nvSpPr>
          <p:cNvPr id="3" name="Text 1"/>
          <p:cNvSpPr/>
          <p:nvPr/>
        </p:nvSpPr>
        <p:spPr>
          <a:xfrm>
            <a:off x="1074420" y="2971800"/>
            <a:ext cx="16552697" cy="2324100"/>
          </a:xfrm>
          <a:prstGeom prst="rect">
            <a:avLst/>
          </a:prstGeom>
          <a:noFill/>
          <a:ln/>
        </p:spPr>
        <p:txBody>
          <a:bodyPr wrap="square" lIns="25400" tIns="25400" rIns="25400" bIns="25400" rtlCol="0" anchor="t">
            <a:normAutofit/>
          </a:bodyPr>
          <a:lstStyle/>
          <a:p>
            <a:pPr algn="l" indent="0" marL="0">
              <a:lnSpc>
                <a:spcPct val="85714"/>
              </a:lnSpc>
              <a:buNone/>
            </a:pPr>
            <a:r>
              <a:rPr lang="en-US" sz="9300" b="1" spc="-186" kern="0" dirty="0">
                <a:solidFill>
                  <a:srgbClr val="201E1D"/>
                </a:solidFill>
                <a:latin typeface="Arial" pitchFamily="34" charset="0"/>
                <a:ea typeface="Arial" pitchFamily="34" charset="-122"/>
                <a:cs typeface="Arial" pitchFamily="34" charset="-120"/>
              </a:rPr>
              <a:t>Kurash Competition Manager</a:t>
            </a:r>
            <a:endParaRPr lang="en-US" sz="9300" dirty="0"/>
          </a:p>
        </p:txBody>
      </p:sp>
      <p:sp>
        <p:nvSpPr>
          <p:cNvPr id="4" name="Text 2"/>
          <p:cNvSpPr/>
          <p:nvPr/>
        </p:nvSpPr>
        <p:spPr>
          <a:xfrm>
            <a:off x="1143000" y="5715000"/>
            <a:ext cx="8993188" cy="1409700"/>
          </a:xfrm>
          <a:prstGeom prst="rect">
            <a:avLst/>
          </a:prstGeom>
          <a:noFill/>
          <a:ln/>
        </p:spPr>
        <p:txBody>
          <a:bodyPr wrap="square" lIns="25400" tIns="25400" rIns="25400" bIns="25400" rtlCol="0" anchor="t">
            <a:normAutofit/>
          </a:bodyPr>
          <a:lstStyle/>
          <a:p>
            <a:pPr algn="l" indent="0" marL="0">
              <a:lnSpc>
                <a:spcPct val="104348"/>
              </a:lnSpc>
              <a:buNone/>
            </a:pPr>
            <a:r>
              <a:rPr lang="en-US" sz="3000" dirty="0">
                <a:solidFill>
                  <a:srgbClr val="201E1D">
                    <a:alpha val="55000"/>
                  </a:srgbClr>
                </a:solidFill>
                <a:latin typeface="Arial" pitchFamily="34" charset="0"/>
                <a:ea typeface="Arial" pitchFamily="34" charset="-122"/>
                <a:cs typeface="Arial" pitchFamily="34" charset="-120"/>
              </a:rPr>
              <a:t>One system for a championship: entry, accreditation, weigh-in, draw, live scoring on the mats, venue boards, medals and paperwork.</a:t>
            </a:r>
            <a:endParaRPr lang="en-US" sz="3000" dirty="0"/>
          </a:p>
        </p:txBody>
      </p:sp>
      <p:sp>
        <p:nvSpPr>
          <p:cNvPr id="5" name="Text 3"/>
          <p:cNvSpPr/>
          <p:nvPr/>
        </p:nvSpPr>
        <p:spPr>
          <a:xfrm>
            <a:off x="1143000" y="8987155"/>
            <a:ext cx="4484719"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201E1D">
                    <a:alpha val="55000"/>
                  </a:srgbClr>
                </a:solidFill>
                <a:latin typeface="Arial" pitchFamily="34" charset="0"/>
                <a:ea typeface="Arial" pitchFamily="34" charset="-122"/>
                <a:cs typeface="Arial" pitchFamily="34" charset="-120"/>
              </a:rPr>
              <a:t>Written against the IKA competition rules</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Contents</a:t>
            </a:r>
            <a:endParaRPr lang="en-US" sz="4800" dirty="0"/>
          </a:p>
        </p:txBody>
      </p:sp>
      <p:sp>
        <p:nvSpPr>
          <p:cNvPr id="3" name="Shape 1"/>
          <p:cNvSpPr/>
          <p:nvPr/>
        </p:nvSpPr>
        <p:spPr>
          <a:xfrm>
            <a:off x="1143000" y="3200400"/>
            <a:ext cx="10477500" cy="19050"/>
          </a:xfrm>
          <a:prstGeom prst="rect">
            <a:avLst/>
          </a:prstGeom>
          <a:solidFill>
            <a:srgbClr val="201E1D">
              <a:alpha val="40000"/>
            </a:srgbClr>
          </a:solidFill>
          <a:ln/>
        </p:spPr>
      </p:sp>
      <p:sp>
        <p:nvSpPr>
          <p:cNvPr id="4" name="Shape 2"/>
          <p:cNvSpPr/>
          <p:nvPr/>
        </p:nvSpPr>
        <p:spPr>
          <a:xfrm>
            <a:off x="1143000" y="4572000"/>
            <a:ext cx="10477500" cy="19050"/>
          </a:xfrm>
          <a:prstGeom prst="rect">
            <a:avLst/>
          </a:prstGeom>
          <a:solidFill>
            <a:srgbClr val="201E1D">
              <a:alpha val="40000"/>
            </a:srgbClr>
          </a:solidFill>
          <a:ln/>
        </p:spPr>
      </p:sp>
      <p:sp>
        <p:nvSpPr>
          <p:cNvPr id="5" name="Text 3"/>
          <p:cNvSpPr/>
          <p:nvPr/>
        </p:nvSpPr>
        <p:spPr>
          <a:xfrm>
            <a:off x="1143000" y="3869531"/>
            <a:ext cx="335915"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EC3013"/>
                </a:solidFill>
                <a:latin typeface="Arial" pitchFamily="34" charset="0"/>
                <a:ea typeface="Arial" pitchFamily="34" charset="-122"/>
                <a:cs typeface="Arial" pitchFamily="34" charset="-120"/>
              </a:rPr>
              <a:t>01</a:t>
            </a:r>
            <a:endParaRPr lang="en-US" sz="1800" dirty="0"/>
          </a:p>
        </p:txBody>
      </p:sp>
      <p:sp>
        <p:nvSpPr>
          <p:cNvPr id="6" name="Text 4"/>
          <p:cNvSpPr/>
          <p:nvPr/>
        </p:nvSpPr>
        <p:spPr>
          <a:xfrm>
            <a:off x="1859915" y="3765074"/>
            <a:ext cx="3768757" cy="299402"/>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201E1D"/>
                </a:solidFill>
                <a:latin typeface="Arial" pitchFamily="34" charset="0"/>
                <a:ea typeface="Arial" pitchFamily="34" charset="-122"/>
                <a:cs typeface="Arial" pitchFamily="34" charset="-120"/>
              </a:rPr>
              <a:t>The competition day</a:t>
            </a:r>
            <a:endParaRPr lang="en-US" sz="3000" dirty="0"/>
          </a:p>
        </p:txBody>
      </p:sp>
      <p:sp>
        <p:nvSpPr>
          <p:cNvPr id="7" name="Shape 5"/>
          <p:cNvSpPr/>
          <p:nvPr/>
        </p:nvSpPr>
        <p:spPr>
          <a:xfrm>
            <a:off x="1143000" y="5943600"/>
            <a:ext cx="10477500" cy="19050"/>
          </a:xfrm>
          <a:prstGeom prst="rect">
            <a:avLst/>
          </a:prstGeom>
          <a:solidFill>
            <a:srgbClr val="201E1D">
              <a:alpha val="40000"/>
            </a:srgbClr>
          </a:solidFill>
          <a:ln/>
        </p:spPr>
      </p:sp>
      <p:sp>
        <p:nvSpPr>
          <p:cNvPr id="8" name="Text 6"/>
          <p:cNvSpPr/>
          <p:nvPr/>
        </p:nvSpPr>
        <p:spPr>
          <a:xfrm>
            <a:off x="1143000" y="5241131"/>
            <a:ext cx="335915"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EC3013"/>
                </a:solidFill>
                <a:latin typeface="Arial" pitchFamily="34" charset="0"/>
                <a:ea typeface="Arial" pitchFamily="34" charset="-122"/>
                <a:cs typeface="Arial" pitchFamily="34" charset="-120"/>
              </a:rPr>
              <a:t>02</a:t>
            </a:r>
            <a:endParaRPr lang="en-US" sz="1800" dirty="0"/>
          </a:p>
        </p:txBody>
      </p:sp>
      <p:sp>
        <p:nvSpPr>
          <p:cNvPr id="9" name="Text 7"/>
          <p:cNvSpPr/>
          <p:nvPr/>
        </p:nvSpPr>
        <p:spPr>
          <a:xfrm>
            <a:off x="1859915" y="5136674"/>
            <a:ext cx="1719532" cy="299402"/>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201E1D"/>
                </a:solidFill>
                <a:latin typeface="Arial" pitchFamily="34" charset="0"/>
                <a:ea typeface="Arial" pitchFamily="34" charset="-122"/>
                <a:cs typeface="Arial" pitchFamily="34" charset="-120"/>
              </a:rPr>
              <a:t>The rules</a:t>
            </a:r>
            <a:endParaRPr lang="en-US" sz="3000" dirty="0"/>
          </a:p>
        </p:txBody>
      </p:sp>
      <p:sp>
        <p:nvSpPr>
          <p:cNvPr id="10" name="Shape 8"/>
          <p:cNvSpPr/>
          <p:nvPr/>
        </p:nvSpPr>
        <p:spPr>
          <a:xfrm>
            <a:off x="1143000" y="7315200"/>
            <a:ext cx="10477500" cy="19050"/>
          </a:xfrm>
          <a:prstGeom prst="rect">
            <a:avLst/>
          </a:prstGeom>
          <a:solidFill>
            <a:srgbClr val="201E1D">
              <a:alpha val="40000"/>
            </a:srgbClr>
          </a:solidFill>
          <a:ln/>
        </p:spPr>
      </p:sp>
      <p:sp>
        <p:nvSpPr>
          <p:cNvPr id="11" name="Text 9"/>
          <p:cNvSpPr/>
          <p:nvPr/>
        </p:nvSpPr>
        <p:spPr>
          <a:xfrm>
            <a:off x="1143000" y="6612731"/>
            <a:ext cx="335915"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EC3013"/>
                </a:solidFill>
                <a:latin typeface="Arial" pitchFamily="34" charset="0"/>
                <a:ea typeface="Arial" pitchFamily="34" charset="-122"/>
                <a:cs typeface="Arial" pitchFamily="34" charset="-120"/>
              </a:rPr>
              <a:t>03</a:t>
            </a:r>
            <a:endParaRPr lang="en-US" sz="1800" dirty="0"/>
          </a:p>
        </p:txBody>
      </p:sp>
      <p:sp>
        <p:nvSpPr>
          <p:cNvPr id="12" name="Text 10"/>
          <p:cNvSpPr/>
          <p:nvPr/>
        </p:nvSpPr>
        <p:spPr>
          <a:xfrm>
            <a:off x="1859915" y="6508274"/>
            <a:ext cx="1460040" cy="299402"/>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201E1D"/>
                </a:solidFill>
                <a:latin typeface="Arial" pitchFamily="34" charset="0"/>
                <a:ea typeface="Arial" pitchFamily="34" charset="-122"/>
                <a:cs typeface="Arial" pitchFamily="34" charset="-120"/>
              </a:rPr>
              <a:t>The hall</a:t>
            </a:r>
            <a:endParaRPr lang="en-US" sz="3000" dirty="0"/>
          </a:p>
        </p:txBody>
      </p:sp>
      <p:sp>
        <p:nvSpPr>
          <p:cNvPr id="13" name="Shape 11"/>
          <p:cNvSpPr/>
          <p:nvPr/>
        </p:nvSpPr>
        <p:spPr>
          <a:xfrm>
            <a:off x="1143000" y="8686800"/>
            <a:ext cx="10477500" cy="19050"/>
          </a:xfrm>
          <a:prstGeom prst="rect">
            <a:avLst/>
          </a:prstGeom>
          <a:solidFill>
            <a:srgbClr val="201E1D">
              <a:alpha val="40000"/>
            </a:srgbClr>
          </a:solidFill>
          <a:ln/>
        </p:spPr>
      </p:sp>
      <p:sp>
        <p:nvSpPr>
          <p:cNvPr id="14" name="Text 12"/>
          <p:cNvSpPr/>
          <p:nvPr/>
        </p:nvSpPr>
        <p:spPr>
          <a:xfrm>
            <a:off x="1143000" y="7984331"/>
            <a:ext cx="335915"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EC3013"/>
                </a:solidFill>
                <a:latin typeface="Arial" pitchFamily="34" charset="0"/>
                <a:ea typeface="Arial" pitchFamily="34" charset="-122"/>
                <a:cs typeface="Arial" pitchFamily="34" charset="-120"/>
              </a:rPr>
              <a:t>04</a:t>
            </a:r>
            <a:endParaRPr lang="en-US" sz="1800" dirty="0"/>
          </a:p>
        </p:txBody>
      </p:sp>
      <p:sp>
        <p:nvSpPr>
          <p:cNvPr id="15" name="Text 13"/>
          <p:cNvSpPr/>
          <p:nvPr/>
        </p:nvSpPr>
        <p:spPr>
          <a:xfrm>
            <a:off x="1859915" y="7879874"/>
            <a:ext cx="1693688" cy="299402"/>
          </a:xfrm>
          <a:prstGeom prst="rect">
            <a:avLst/>
          </a:prstGeom>
          <a:noFill/>
          <a:ln/>
        </p:spPr>
        <p:txBody>
          <a:bodyPr wrap="square" lIns="25400" tIns="25400" rIns="25400" bIns="25400" rtlCol="0" anchor="t">
            <a:normAutofit/>
          </a:bodyPr>
          <a:lstStyle/>
          <a:p>
            <a:pPr algn="l" indent="0" marL="0">
              <a:lnSpc>
                <a:spcPct val="134783"/>
              </a:lnSpc>
              <a:buNone/>
            </a:pPr>
            <a:r>
              <a:rPr lang="en-US" sz="3000" dirty="0">
                <a:solidFill>
                  <a:srgbClr val="201E1D"/>
                </a:solidFill>
                <a:latin typeface="Arial" pitchFamily="34" charset="0"/>
                <a:ea typeface="Arial" pitchFamily="34" charset="-122"/>
                <a:cs typeface="Arial" pitchFamily="34" charset="-120"/>
              </a:rPr>
              <a:t>Adoption</a:t>
            </a:r>
            <a:endParaRPr lang="en-US" sz="3000" dirty="0"/>
          </a:p>
        </p:txBody>
      </p:sp>
      <p:pic>
        <p:nvPicPr>
          <p:cNvPr id="16" name="Image 0" descr="preencoded.png">    </p:cNvPr>
          <p:cNvPicPr>
            <a:picLocks noChangeAspect="1"/>
          </p:cNvPicPr>
          <p:nvPr/>
        </p:nvPicPr>
        <p:blipFill>
          <a:blip r:embed="rId1"/>
          <a:stretch>
            <a:fillRect/>
          </a:stretch>
        </p:blipFill>
        <p:spPr>
          <a:xfrm>
            <a:off x="1143000" y="8987155"/>
            <a:ext cx="3261360" cy="15684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C3013"/>
        </a:solidFill>
      </p:bgPr>
    </p:bg>
    <p:spTree>
      <p:nvGrpSpPr>
        <p:cNvPr id="1" name=""/>
        <p:cNvGrpSpPr/>
        <p:nvPr/>
      </p:nvGrpSpPr>
      <p:grpSpPr>
        <a:xfrm>
          <a:off x="0" y="0"/>
          <a:ext cx="0" cy="0"/>
          <a:chOff x="0" y="0"/>
          <a:chExt cx="0" cy="0"/>
        </a:xfrm>
      </p:grpSpPr>
      <p:sp>
        <p:nvSpPr>
          <p:cNvPr id="2" name="Text 0"/>
          <p:cNvSpPr/>
          <p:nvPr/>
        </p:nvSpPr>
        <p:spPr>
          <a:xfrm>
            <a:off x="1031558" y="3477101"/>
            <a:ext cx="3296221" cy="2266950"/>
          </a:xfrm>
          <a:prstGeom prst="rect">
            <a:avLst/>
          </a:prstGeom>
          <a:noFill/>
          <a:ln/>
        </p:spPr>
        <p:txBody>
          <a:bodyPr wrap="square" lIns="25400" tIns="25400" rIns="25400" bIns="25400" rtlCol="0" anchor="t">
            <a:normAutofit/>
          </a:bodyPr>
          <a:lstStyle/>
          <a:p>
            <a:pPr algn="l" indent="0" marL="0">
              <a:lnSpc>
                <a:spcPct val="80137"/>
              </a:lnSpc>
              <a:buNone/>
            </a:pPr>
            <a:r>
              <a:rPr lang="en-US" sz="19500" b="1" spc="-390" kern="0" dirty="0">
                <a:solidFill>
                  <a:srgbClr val="AE1800"/>
                </a:solidFill>
                <a:latin typeface="Arial" pitchFamily="34" charset="0"/>
                <a:ea typeface="Arial" pitchFamily="34" charset="-122"/>
                <a:cs typeface="Arial" pitchFamily="34" charset="-120"/>
              </a:rPr>
              <a:t>01</a:t>
            </a:r>
            <a:endParaRPr lang="en-US" sz="19500" dirty="0"/>
          </a:p>
        </p:txBody>
      </p:sp>
      <p:sp>
        <p:nvSpPr>
          <p:cNvPr id="3" name="Text 1"/>
          <p:cNvSpPr/>
          <p:nvPr/>
        </p:nvSpPr>
        <p:spPr>
          <a:xfrm>
            <a:off x="1107599" y="6163151"/>
            <a:ext cx="6626844"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F3F2F2"/>
                </a:solidFill>
                <a:latin typeface="Arial" pitchFamily="34" charset="0"/>
                <a:ea typeface="Arial" pitchFamily="34" charset="-122"/>
                <a:cs typeface="Arial" pitchFamily="34" charset="-120"/>
              </a:rPr>
              <a:t>The competition day</a:t>
            </a:r>
            <a:endParaRPr lang="en-US" sz="4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01 · THE COMPETITION DAY</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The desk</a:t>
            </a:r>
            <a:endParaRPr lang="en-US" sz="4800" dirty="0"/>
          </a:p>
        </p:txBody>
      </p:sp>
      <p:sp>
        <p:nvSpPr>
          <p:cNvPr id="4" name="Shape 2"/>
          <p:cNvSpPr/>
          <p:nvPr/>
        </p:nvSpPr>
        <p:spPr>
          <a:xfrm>
            <a:off x="1143000" y="3200400"/>
            <a:ext cx="9753600" cy="5486400"/>
          </a:xfrm>
          <a:prstGeom prst="rect">
            <a:avLst/>
          </a:prstGeom>
          <a:solidFill>
            <a:srgbClr val="F6F8F7"/>
          </a:solidFill>
          <a:ln w="19050">
            <a:solidFill>
              <a:srgbClr val="201E1D">
                <a:alpha val="40000"/>
              </a:srgbClr>
            </a:solidFill>
            <a:prstDash val="solid"/>
          </a:ln>
        </p:spPr>
      </p:sp>
      <p:sp>
        <p:nvSpPr>
          <p:cNvPr id="5" name="Shape 3"/>
          <p:cNvSpPr/>
          <p:nvPr/>
        </p:nvSpPr>
        <p:spPr>
          <a:xfrm>
            <a:off x="1162050" y="3219450"/>
            <a:ext cx="9753600" cy="5486400"/>
          </a:xfrm>
          <a:prstGeom prst="rect">
            <a:avLst/>
          </a:prstGeom>
          <a:solidFill>
            <a:srgbClr val="F6F8F7"/>
          </a:solidFill>
          <a:ln/>
        </p:spPr>
      </p:sp>
      <p:sp>
        <p:nvSpPr>
          <p:cNvPr id="6" name="Shape 4"/>
          <p:cNvSpPr/>
          <p:nvPr/>
        </p:nvSpPr>
        <p:spPr>
          <a:xfrm>
            <a:off x="1162050" y="3219450"/>
            <a:ext cx="1788160" cy="5486400"/>
          </a:xfrm>
          <a:custGeom>
            <a:avLst/>
            <a:gdLst/>
            <a:ahLst/>
            <a:cxnLst/>
            <a:rect l="l" t="t" r="r" b="b"/>
            <a:pathLst>
              <a:path w="1788160" h="5486400">
                <a:moveTo>
                  <a:pt x="0" y="0"/>
                </a:moveTo>
                <a:lnTo>
                  <a:pt x="1666240" y="0"/>
                </a:lnTo>
                <a:arcTo hR="121920" wR="121920" stAng="16200000" swAng="5400000"/>
                <a:lnTo>
                  <a:pt x="1788160" y="5364480"/>
                </a:lnTo>
                <a:arcTo hR="121920" wR="121920" stAng="0" swAng="5400000"/>
                <a:lnTo>
                  <a:pt x="0" y="5486400"/>
                </a:lnTo>
                <a:lnTo>
                  <a:pt x="0" y="0"/>
                </a:lnTo>
                <a:close/>
              </a:path>
            </a:pathLst>
          </a:custGeom>
          <a:solidFill>
            <a:srgbClr val="DCEBE2"/>
          </a:solidFill>
          <a:ln/>
        </p:spPr>
      </p:sp>
      <p:sp>
        <p:nvSpPr>
          <p:cNvPr id="7" name="Shape 5"/>
          <p:cNvSpPr/>
          <p:nvPr/>
        </p:nvSpPr>
        <p:spPr>
          <a:xfrm>
            <a:off x="2943437" y="3219450"/>
            <a:ext cx="9525" cy="5486400"/>
          </a:xfrm>
          <a:prstGeom prst="rect">
            <a:avLst/>
          </a:prstGeom>
          <a:solidFill>
            <a:srgbClr val="C4D9CB"/>
          </a:solidFill>
          <a:ln/>
        </p:spPr>
      </p:sp>
      <p:sp>
        <p:nvSpPr>
          <p:cNvPr id="8" name="Shape 6"/>
          <p:cNvSpPr/>
          <p:nvPr/>
        </p:nvSpPr>
        <p:spPr>
          <a:xfrm>
            <a:off x="1311116" y="3382010"/>
            <a:ext cx="284480" cy="284480"/>
          </a:xfrm>
          <a:prstGeom prst="roundRect">
            <a:avLst>
              <a:gd name="adj" fmla="val 28571"/>
            </a:avLst>
          </a:prstGeom>
          <a:solidFill>
            <a:srgbClr val="FFFFFF"/>
          </a:solidFill>
          <a:ln/>
          <a:effectLst>
            <a:outerShdw sx="100000" sy="100000" kx="0" ky="0" algn="bl" rotWithShape="0" blurRad="19050" dist="9525" dir="5400000">
              <a:srgbClr val="10211D">
                <a:alpha val="6000"/>
              </a:srgbClr>
            </a:outerShdw>
          </a:effectLst>
        </p:spPr>
      </p:sp>
      <p:sp>
        <p:nvSpPr>
          <p:cNvPr id="9" name="Text 7"/>
          <p:cNvSpPr/>
          <p:nvPr/>
        </p:nvSpPr>
        <p:spPr>
          <a:xfrm>
            <a:off x="1306830" y="3415824"/>
            <a:ext cx="292894" cy="254794"/>
          </a:xfrm>
          <a:prstGeom prst="rect">
            <a:avLst/>
          </a:prstGeom>
          <a:noFill/>
          <a:ln/>
        </p:spPr>
        <p:txBody>
          <a:bodyPr wrap="square" lIns="25400" tIns="25400" rIns="25400" bIns="25400" rtlCol="0" anchor="ctr">
            <a:normAutofit/>
          </a:bodyPr>
          <a:lstStyle/>
          <a:p>
            <a:pPr algn="ctr" indent="0" marL="0">
              <a:lnSpc>
                <a:spcPct val="131154"/>
              </a:lnSpc>
              <a:buNone/>
            </a:pPr>
            <a:r>
              <a:rPr lang="en-US" sz="587" b="1" dirty="0">
                <a:solidFill>
                  <a:srgbClr val="046830"/>
                </a:solidFill>
                <a:latin typeface="Arial" pitchFamily="34" charset="0"/>
                <a:ea typeface="Arial" pitchFamily="34" charset="-122"/>
                <a:cs typeface="Arial" pitchFamily="34" charset="-120"/>
              </a:rPr>
              <a:t>IKA</a:t>
            </a:r>
            <a:endParaRPr lang="en-US" sz="587" dirty="0"/>
          </a:p>
        </p:txBody>
      </p:sp>
      <p:sp>
        <p:nvSpPr>
          <p:cNvPr id="10" name="Text 8"/>
          <p:cNvSpPr/>
          <p:nvPr/>
        </p:nvSpPr>
        <p:spPr>
          <a:xfrm>
            <a:off x="1663224" y="3404553"/>
            <a:ext cx="1203008" cy="156686"/>
          </a:xfrm>
          <a:prstGeom prst="rect">
            <a:avLst/>
          </a:prstGeom>
          <a:noFill/>
          <a:ln/>
        </p:spPr>
        <p:txBody>
          <a:bodyPr wrap="square" lIns="25400" tIns="25400" rIns="25400" bIns="25400" rtlCol="0" anchor="t">
            <a:normAutofit/>
          </a:bodyPr>
          <a:lstStyle/>
          <a:p>
            <a:pPr algn="l" indent="0" marL="0">
              <a:lnSpc>
                <a:spcPct val="109375"/>
              </a:lnSpc>
              <a:buNone/>
            </a:pPr>
            <a:r>
              <a:rPr lang="en-US" sz="747" b="1" dirty="0">
                <a:solidFill>
                  <a:srgbClr val="12211A"/>
                </a:solidFill>
                <a:latin typeface="Arial" pitchFamily="34" charset="0"/>
                <a:ea typeface="Arial" pitchFamily="34" charset="-122"/>
                <a:cs typeface="Arial" pitchFamily="34" charset="-120"/>
              </a:rPr>
              <a:t>IKA Manager</a:t>
            </a:r>
            <a:endParaRPr lang="en-US" sz="747" dirty="0"/>
          </a:p>
        </p:txBody>
      </p:sp>
      <p:sp>
        <p:nvSpPr>
          <p:cNvPr id="11" name="Text 9"/>
          <p:cNvSpPr/>
          <p:nvPr/>
        </p:nvSpPr>
        <p:spPr>
          <a:xfrm>
            <a:off x="1663224" y="3523139"/>
            <a:ext cx="1203008" cy="158750"/>
          </a:xfrm>
          <a:prstGeom prst="rect">
            <a:avLst/>
          </a:prstGeom>
          <a:noFill/>
          <a:ln/>
        </p:spPr>
        <p:txBody>
          <a:bodyPr wrap="square" lIns="25400" tIns="25400" rIns="25400" bIns="25400" rtlCol="0" anchor="t">
            <a:normAutofit/>
          </a:bodyPr>
          <a:lstStyle/>
          <a:p>
            <a:pPr algn="l" indent="0" marL="0">
              <a:lnSpc>
                <a:spcPct val="127262"/>
              </a:lnSpc>
              <a:buNone/>
            </a:pPr>
            <a:r>
              <a:rPr lang="en-US" sz="613" dirty="0">
                <a:solidFill>
                  <a:srgbClr val="4F6559"/>
                </a:solidFill>
                <a:latin typeface="Arial" pitchFamily="34" charset="0"/>
                <a:ea typeface="Arial" pitchFamily="34" charset="-122"/>
                <a:cs typeface="Arial" pitchFamily="34" charset="-120"/>
              </a:rPr>
              <a:t>International Kurash Association</a:t>
            </a:r>
            <a:endParaRPr lang="en-US" sz="613" dirty="0"/>
          </a:p>
        </p:txBody>
      </p:sp>
      <p:sp>
        <p:nvSpPr>
          <p:cNvPr id="12" name="Text 10"/>
          <p:cNvSpPr/>
          <p:nvPr/>
        </p:nvSpPr>
        <p:spPr>
          <a:xfrm>
            <a:off x="1351703" y="3856143"/>
            <a:ext cx="1478227" cy="153564"/>
          </a:xfrm>
          <a:prstGeom prst="rect">
            <a:avLst/>
          </a:prstGeom>
          <a:noFill/>
          <a:ln/>
        </p:spPr>
        <p:txBody>
          <a:bodyPr wrap="square" lIns="25400" tIns="25400" rIns="25400" bIns="25400" rtlCol="0" anchor="t">
            <a:normAutofit/>
          </a:bodyPr>
          <a:lstStyle/>
          <a:p>
            <a:pPr algn="l" indent="0" marL="0">
              <a:lnSpc>
                <a:spcPct val="131154"/>
              </a:lnSpc>
              <a:buNone/>
            </a:pPr>
            <a:r>
              <a:rPr lang="en-US" sz="587" b="1" spc="29" kern="0" dirty="0">
                <a:solidFill>
                  <a:srgbClr val="4F6559"/>
                </a:solidFill>
                <a:latin typeface="Arial" pitchFamily="34" charset="0"/>
                <a:ea typeface="Arial" pitchFamily="34" charset="-122"/>
                <a:cs typeface="Arial" pitchFamily="34" charset="-120"/>
              </a:rPr>
              <a:t>PLATFORM</a:t>
            </a:r>
            <a:endParaRPr lang="en-US" sz="587" dirty="0"/>
          </a:p>
        </p:txBody>
      </p:sp>
      <p:sp>
        <p:nvSpPr>
          <p:cNvPr id="13" name="Shape 11"/>
          <p:cNvSpPr/>
          <p:nvPr/>
        </p:nvSpPr>
        <p:spPr>
          <a:xfrm>
            <a:off x="1243330" y="4039394"/>
            <a:ext cx="1618774" cy="277178"/>
          </a:xfrm>
          <a:prstGeom prst="roundRect">
            <a:avLst>
              <a:gd name="adj" fmla="val 50000"/>
            </a:avLst>
          </a:prstGeom>
          <a:solidFill>
            <a:srgbClr val="019A44">
              <a:alpha val="16000"/>
            </a:srgbClr>
          </a:solidFill>
          <a:ln/>
        </p:spPr>
      </p:sp>
      <p:sp>
        <p:nvSpPr>
          <p:cNvPr id="14" name="Text 12"/>
          <p:cNvSpPr/>
          <p:nvPr/>
        </p:nvSpPr>
        <p:spPr>
          <a:xfrm>
            <a:off x="1351756" y="4107021"/>
            <a:ext cx="535622"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b="1" dirty="0">
                <a:solidFill>
                  <a:srgbClr val="04331A"/>
                </a:solidFill>
                <a:latin typeface="Arial" pitchFamily="34" charset="0"/>
                <a:ea typeface="Arial" pitchFamily="34" charset="-122"/>
                <a:cs typeface="Arial" pitchFamily="34" charset="-120"/>
              </a:rPr>
              <a:t>Dashboard</a:t>
            </a:r>
            <a:endParaRPr lang="en-US" sz="720" dirty="0"/>
          </a:p>
        </p:txBody>
      </p:sp>
      <p:sp>
        <p:nvSpPr>
          <p:cNvPr id="15" name="Text 13"/>
          <p:cNvSpPr/>
          <p:nvPr/>
        </p:nvSpPr>
        <p:spPr>
          <a:xfrm>
            <a:off x="1351756" y="4411504"/>
            <a:ext cx="710406"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Championships</a:t>
            </a:r>
            <a:endParaRPr lang="en-US" sz="720" dirty="0"/>
          </a:p>
        </p:txBody>
      </p:sp>
      <p:sp>
        <p:nvSpPr>
          <p:cNvPr id="16" name="Text 14"/>
          <p:cNvSpPr/>
          <p:nvPr/>
        </p:nvSpPr>
        <p:spPr>
          <a:xfrm>
            <a:off x="1351756" y="4715828"/>
            <a:ext cx="391001"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Archive</a:t>
            </a:r>
            <a:endParaRPr lang="en-US" sz="720" dirty="0"/>
          </a:p>
        </p:txBody>
      </p:sp>
      <p:sp>
        <p:nvSpPr>
          <p:cNvPr id="17" name="Text 15"/>
          <p:cNvSpPr/>
          <p:nvPr/>
        </p:nvSpPr>
        <p:spPr>
          <a:xfrm>
            <a:off x="1351756" y="5020469"/>
            <a:ext cx="796290"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Draws to present</a:t>
            </a:r>
            <a:endParaRPr lang="en-US" sz="720" dirty="0"/>
          </a:p>
        </p:txBody>
      </p:sp>
      <p:sp>
        <p:nvSpPr>
          <p:cNvPr id="18" name="Shape 16"/>
          <p:cNvSpPr/>
          <p:nvPr/>
        </p:nvSpPr>
        <p:spPr>
          <a:xfrm>
            <a:off x="2603341" y="5020151"/>
            <a:ext cx="150336" cy="142557"/>
          </a:xfrm>
          <a:prstGeom prst="ellipse">
            <a:avLst/>
          </a:prstGeom>
          <a:solidFill>
            <a:srgbClr val="019A44">
              <a:alpha val="16000"/>
            </a:srgbClr>
          </a:solidFill>
          <a:ln/>
        </p:spPr>
      </p:sp>
      <p:sp>
        <p:nvSpPr>
          <p:cNvPr id="19" name="Text 17"/>
          <p:cNvSpPr/>
          <p:nvPr/>
        </p:nvSpPr>
        <p:spPr>
          <a:xfrm>
            <a:off x="2657528" y="5033698"/>
            <a:ext cx="118163" cy="153564"/>
          </a:xfrm>
          <a:prstGeom prst="rect">
            <a:avLst/>
          </a:prstGeom>
          <a:noFill/>
          <a:ln/>
        </p:spPr>
        <p:txBody>
          <a:bodyPr wrap="square" lIns="25400" tIns="25400" rIns="25400" bIns="25400" rtlCol="0" anchor="t">
            <a:normAutofit/>
          </a:bodyPr>
          <a:lstStyle/>
          <a:p>
            <a:pPr algn="l" indent="0" marL="0">
              <a:lnSpc>
                <a:spcPct val="131154"/>
              </a:lnSpc>
              <a:buNone/>
            </a:pPr>
            <a:r>
              <a:rPr lang="en-US" sz="587" b="1" dirty="0">
                <a:solidFill>
                  <a:srgbClr val="04331A"/>
                </a:solidFill>
                <a:latin typeface="Arial" pitchFamily="34" charset="0"/>
                <a:ea typeface="Arial" pitchFamily="34" charset="-122"/>
                <a:cs typeface="Arial" pitchFamily="34" charset="-120"/>
              </a:rPr>
              <a:t>4</a:t>
            </a:r>
            <a:endParaRPr lang="en-US" sz="587" dirty="0"/>
          </a:p>
        </p:txBody>
      </p:sp>
      <p:sp>
        <p:nvSpPr>
          <p:cNvPr id="20" name="Text 18"/>
          <p:cNvSpPr/>
          <p:nvPr/>
        </p:nvSpPr>
        <p:spPr>
          <a:xfrm>
            <a:off x="1351703" y="5325216"/>
            <a:ext cx="1478227" cy="153564"/>
          </a:xfrm>
          <a:prstGeom prst="rect">
            <a:avLst/>
          </a:prstGeom>
          <a:noFill/>
          <a:ln/>
        </p:spPr>
        <p:txBody>
          <a:bodyPr wrap="square" lIns="25400" tIns="25400" rIns="25400" bIns="25400" rtlCol="0" anchor="t">
            <a:normAutofit/>
          </a:bodyPr>
          <a:lstStyle/>
          <a:p>
            <a:pPr algn="l" indent="0" marL="0">
              <a:lnSpc>
                <a:spcPct val="131154"/>
              </a:lnSpc>
              <a:buNone/>
            </a:pPr>
            <a:r>
              <a:rPr lang="en-US" sz="587" b="1" spc="29" kern="0" dirty="0">
                <a:solidFill>
                  <a:srgbClr val="4F6559"/>
                </a:solidFill>
                <a:latin typeface="Arial" pitchFamily="34" charset="0"/>
                <a:ea typeface="Arial" pitchFamily="34" charset="-122"/>
                <a:cs typeface="Arial" pitchFamily="34" charset="-120"/>
              </a:rPr>
              <a:t>ASIAN KURASH CHAMPIONSHIP 20…</a:t>
            </a:r>
            <a:endParaRPr lang="en-US" sz="587" dirty="0"/>
          </a:p>
        </p:txBody>
      </p:sp>
      <p:sp>
        <p:nvSpPr>
          <p:cNvPr id="21" name="Text 19"/>
          <p:cNvSpPr/>
          <p:nvPr/>
        </p:nvSpPr>
        <p:spPr>
          <a:xfrm>
            <a:off x="1351756" y="5576253"/>
            <a:ext cx="529590"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Categories</a:t>
            </a:r>
            <a:endParaRPr lang="en-US" sz="720" dirty="0"/>
          </a:p>
        </p:txBody>
      </p:sp>
      <p:sp>
        <p:nvSpPr>
          <p:cNvPr id="22" name="Text 20"/>
          <p:cNvSpPr/>
          <p:nvPr/>
        </p:nvSpPr>
        <p:spPr>
          <a:xfrm>
            <a:off x="1351756" y="5880576"/>
            <a:ext cx="931862"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Athlete Registration</a:t>
            </a:r>
            <a:endParaRPr lang="en-US" sz="720" dirty="0"/>
          </a:p>
        </p:txBody>
      </p:sp>
      <p:sp>
        <p:nvSpPr>
          <p:cNvPr id="23" name="Text 21"/>
          <p:cNvSpPr/>
          <p:nvPr/>
        </p:nvSpPr>
        <p:spPr>
          <a:xfrm>
            <a:off x="1351756" y="6184900"/>
            <a:ext cx="685165"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Weigh-in Form</a:t>
            </a:r>
            <a:endParaRPr lang="en-US" sz="720" dirty="0"/>
          </a:p>
        </p:txBody>
      </p:sp>
      <p:sp>
        <p:nvSpPr>
          <p:cNvPr id="24" name="Text 22"/>
          <p:cNvSpPr/>
          <p:nvPr/>
        </p:nvSpPr>
        <p:spPr>
          <a:xfrm>
            <a:off x="1351756" y="6489224"/>
            <a:ext cx="789622"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Entries and Draw</a:t>
            </a:r>
            <a:endParaRPr lang="en-US" sz="720" dirty="0"/>
          </a:p>
        </p:txBody>
      </p:sp>
      <p:sp>
        <p:nvSpPr>
          <p:cNvPr id="25" name="Text 23"/>
          <p:cNvSpPr/>
          <p:nvPr/>
        </p:nvSpPr>
        <p:spPr>
          <a:xfrm>
            <a:off x="1351756" y="6793548"/>
            <a:ext cx="398780"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Bracket</a:t>
            </a:r>
            <a:endParaRPr lang="en-US" sz="720" dirty="0"/>
          </a:p>
        </p:txBody>
      </p:sp>
      <p:sp>
        <p:nvSpPr>
          <p:cNvPr id="26" name="Text 24"/>
          <p:cNvSpPr/>
          <p:nvPr/>
        </p:nvSpPr>
        <p:spPr>
          <a:xfrm>
            <a:off x="1351756" y="7098030"/>
            <a:ext cx="562769"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Fight Order</a:t>
            </a:r>
            <a:endParaRPr lang="en-US" sz="720" dirty="0"/>
          </a:p>
        </p:txBody>
      </p:sp>
      <p:sp>
        <p:nvSpPr>
          <p:cNvPr id="27" name="Text 25"/>
          <p:cNvSpPr/>
          <p:nvPr/>
        </p:nvSpPr>
        <p:spPr>
          <a:xfrm>
            <a:off x="1351756" y="7402354"/>
            <a:ext cx="283369"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Mats</a:t>
            </a:r>
            <a:endParaRPr lang="en-US" sz="720" dirty="0"/>
          </a:p>
        </p:txBody>
      </p:sp>
      <p:sp>
        <p:nvSpPr>
          <p:cNvPr id="28" name="Text 26"/>
          <p:cNvSpPr/>
          <p:nvPr/>
        </p:nvSpPr>
        <p:spPr>
          <a:xfrm>
            <a:off x="1351756" y="7706677"/>
            <a:ext cx="882174"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Results and Medals</a:t>
            </a:r>
            <a:endParaRPr lang="en-US" sz="720" dirty="0"/>
          </a:p>
        </p:txBody>
      </p:sp>
      <p:sp>
        <p:nvSpPr>
          <p:cNvPr id="29" name="Shape 27"/>
          <p:cNvSpPr/>
          <p:nvPr/>
        </p:nvSpPr>
        <p:spPr>
          <a:xfrm>
            <a:off x="1351756" y="8008937"/>
            <a:ext cx="108426" cy="108426"/>
          </a:xfrm>
          <a:prstGeom prst="ellipse">
            <a:avLst/>
          </a:prstGeom>
          <a:ln w="6773">
            <a:solidFill>
              <a:srgbClr val="4F6559"/>
            </a:solidFill>
            <a:prstDash val="solid"/>
          </a:ln>
        </p:spPr>
      </p:sp>
      <p:sp>
        <p:nvSpPr>
          <p:cNvPr id="30" name="Text 28"/>
          <p:cNvSpPr/>
          <p:nvPr/>
        </p:nvSpPr>
        <p:spPr>
          <a:xfrm>
            <a:off x="1320430" y="8015711"/>
            <a:ext cx="171080" cy="132980"/>
          </a:xfrm>
          <a:prstGeom prst="rect">
            <a:avLst/>
          </a:prstGeom>
          <a:noFill/>
          <a:ln/>
        </p:spPr>
        <p:txBody>
          <a:bodyPr wrap="square" lIns="25400" tIns="25400" rIns="25400" bIns="25400" rtlCol="0" anchor="ctr">
            <a:normAutofit/>
          </a:bodyPr>
          <a:lstStyle/>
          <a:p>
            <a:pPr algn="ctr" indent="0" marL="0">
              <a:lnSpc>
                <a:spcPct val="119231"/>
              </a:lnSpc>
              <a:buNone/>
            </a:pPr>
            <a:r>
              <a:rPr lang="en-US" sz="533" b="1" dirty="0">
                <a:solidFill>
                  <a:srgbClr val="4F6559"/>
                </a:solidFill>
                <a:latin typeface="Arial" pitchFamily="34" charset="0"/>
                <a:ea typeface="Arial" pitchFamily="34" charset="-122"/>
                <a:cs typeface="Arial" pitchFamily="34" charset="-120"/>
              </a:rPr>
              <a:t>?</a:t>
            </a:r>
            <a:endParaRPr lang="en-US" sz="533" dirty="0"/>
          </a:p>
        </p:txBody>
      </p:sp>
      <p:sp>
        <p:nvSpPr>
          <p:cNvPr id="31" name="Text 29"/>
          <p:cNvSpPr/>
          <p:nvPr/>
        </p:nvSpPr>
        <p:spPr>
          <a:xfrm>
            <a:off x="1514316" y="7997507"/>
            <a:ext cx="257651"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4F6559"/>
                </a:solidFill>
                <a:latin typeface="Arial" pitchFamily="34" charset="0"/>
                <a:ea typeface="Arial" pitchFamily="34" charset="-122"/>
                <a:cs typeface="Arial" pitchFamily="34" charset="-120"/>
              </a:rPr>
              <a:t>Help</a:t>
            </a:r>
            <a:endParaRPr lang="en-US" sz="667" dirty="0"/>
          </a:p>
        </p:txBody>
      </p:sp>
      <p:sp>
        <p:nvSpPr>
          <p:cNvPr id="32" name="Shape 30"/>
          <p:cNvSpPr/>
          <p:nvPr/>
        </p:nvSpPr>
        <p:spPr>
          <a:xfrm>
            <a:off x="1243330" y="8264207"/>
            <a:ext cx="1618774" cy="397669"/>
          </a:xfrm>
          <a:prstGeom prst="roundRect">
            <a:avLst>
              <a:gd name="adj" fmla="val 20439"/>
            </a:avLst>
          </a:prstGeom>
          <a:solidFill>
            <a:srgbClr val="FFFFFF"/>
          </a:solidFill>
          <a:ln/>
          <a:effectLst>
            <a:outerShdw sx="100000" sy="100000" kx="0" ky="0" algn="bl" rotWithShape="0" blurRad="19050" dist="9525" dir="5400000">
              <a:srgbClr val="10211D">
                <a:alpha val="6000"/>
              </a:srgbClr>
            </a:outerShdw>
          </a:effectLst>
        </p:spPr>
      </p:sp>
      <p:sp>
        <p:nvSpPr>
          <p:cNvPr id="33" name="Shape 31"/>
          <p:cNvSpPr/>
          <p:nvPr/>
        </p:nvSpPr>
        <p:spPr>
          <a:xfrm>
            <a:off x="1324610" y="8354695"/>
            <a:ext cx="216694" cy="216694"/>
          </a:xfrm>
          <a:prstGeom prst="ellipse">
            <a:avLst/>
          </a:prstGeom>
          <a:solidFill>
            <a:srgbClr val="019A44"/>
          </a:solidFill>
          <a:ln/>
        </p:spPr>
      </p:sp>
      <p:sp>
        <p:nvSpPr>
          <p:cNvPr id="34" name="Text 32"/>
          <p:cNvSpPr/>
          <p:nvPr/>
        </p:nvSpPr>
        <p:spPr>
          <a:xfrm>
            <a:off x="1286510" y="8354695"/>
            <a:ext cx="292894" cy="254794"/>
          </a:xfrm>
          <a:prstGeom prst="rect">
            <a:avLst/>
          </a:prstGeom>
          <a:noFill/>
          <a:ln/>
        </p:spPr>
        <p:txBody>
          <a:bodyPr wrap="square" lIns="25400" tIns="25400" rIns="25400" bIns="25400" rtlCol="0" anchor="ctr">
            <a:normAutofit/>
          </a:bodyPr>
          <a:lstStyle/>
          <a:p>
            <a:pPr algn="ctr" indent="0" marL="0">
              <a:lnSpc>
                <a:spcPct val="134333"/>
              </a:lnSpc>
              <a:buNone/>
            </a:pPr>
            <a:r>
              <a:rPr lang="en-US" sz="693" b="1" dirty="0">
                <a:solidFill>
                  <a:srgbClr val="FFFFFF"/>
                </a:solidFill>
                <a:latin typeface="Arial" pitchFamily="34" charset="0"/>
                <a:ea typeface="Arial" pitchFamily="34" charset="-122"/>
                <a:cs typeface="Arial" pitchFamily="34" charset="-120"/>
              </a:rPr>
              <a:t>A</a:t>
            </a:r>
            <a:endParaRPr lang="en-US" sz="693" dirty="0"/>
          </a:p>
        </p:txBody>
      </p:sp>
      <p:sp>
        <p:nvSpPr>
          <p:cNvPr id="35" name="Text 33"/>
          <p:cNvSpPr/>
          <p:nvPr/>
        </p:nvSpPr>
        <p:spPr>
          <a:xfrm>
            <a:off x="1609090" y="8345488"/>
            <a:ext cx="624681" cy="152400"/>
          </a:xfrm>
          <a:prstGeom prst="rect">
            <a:avLst/>
          </a:prstGeom>
          <a:noFill/>
          <a:ln/>
        </p:spPr>
        <p:txBody>
          <a:bodyPr wrap="square" lIns="25400" tIns="25400" rIns="25400" bIns="25400" rtlCol="0" anchor="t">
            <a:normAutofit/>
          </a:bodyPr>
          <a:lstStyle/>
          <a:p>
            <a:pPr algn="l" indent="0" marL="0">
              <a:lnSpc>
                <a:spcPct val="105521"/>
              </a:lnSpc>
              <a:buNone/>
            </a:pPr>
            <a:r>
              <a:rPr lang="en-US" sz="720" b="1" dirty="0">
                <a:solidFill>
                  <a:srgbClr val="12211A"/>
                </a:solidFill>
                <a:latin typeface="Arial" pitchFamily="34" charset="0"/>
                <a:ea typeface="Arial" pitchFamily="34" charset="-122"/>
                <a:cs typeface="Arial" pitchFamily="34" charset="-120"/>
              </a:rPr>
              <a:t>Aziz Karimov</a:t>
            </a:r>
            <a:endParaRPr lang="en-US" sz="720" dirty="0"/>
          </a:p>
        </p:txBody>
      </p:sp>
      <p:sp>
        <p:nvSpPr>
          <p:cNvPr id="36" name="Text 34"/>
          <p:cNvSpPr/>
          <p:nvPr/>
        </p:nvSpPr>
        <p:spPr>
          <a:xfrm>
            <a:off x="1609090" y="8459788"/>
            <a:ext cx="624681" cy="158750"/>
          </a:xfrm>
          <a:prstGeom prst="rect">
            <a:avLst/>
          </a:prstGeom>
          <a:noFill/>
          <a:ln/>
        </p:spPr>
        <p:txBody>
          <a:bodyPr wrap="square" lIns="25400" tIns="25400" rIns="25400" bIns="25400" rtlCol="0" anchor="t">
            <a:normAutofit/>
          </a:bodyPr>
          <a:lstStyle/>
          <a:p>
            <a:pPr algn="l" indent="0" marL="0">
              <a:lnSpc>
                <a:spcPct val="127262"/>
              </a:lnSpc>
              <a:buNone/>
            </a:pPr>
            <a:r>
              <a:rPr lang="en-US" sz="613" dirty="0">
                <a:solidFill>
                  <a:srgbClr val="4F6559"/>
                </a:solidFill>
                <a:latin typeface="Arial" pitchFamily="34" charset="0"/>
                <a:ea typeface="Arial" pitchFamily="34" charset="-122"/>
                <a:cs typeface="Arial" pitchFamily="34" charset="-120"/>
              </a:rPr>
              <a:t>Admin</a:t>
            </a:r>
            <a:endParaRPr lang="en-US" sz="613" dirty="0"/>
          </a:p>
        </p:txBody>
      </p:sp>
      <p:sp>
        <p:nvSpPr>
          <p:cNvPr id="37" name="Text 35"/>
          <p:cNvSpPr/>
          <p:nvPr/>
        </p:nvSpPr>
        <p:spPr>
          <a:xfrm>
            <a:off x="3072130" y="3327876"/>
            <a:ext cx="440372"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b="1" dirty="0">
                <a:solidFill>
                  <a:srgbClr val="16211D"/>
                </a:solidFill>
                <a:latin typeface="Arial" pitchFamily="34" charset="0"/>
                <a:ea typeface="Arial" pitchFamily="34" charset="-122"/>
                <a:cs typeface="Arial" pitchFamily="34" charset="-120"/>
              </a:rPr>
              <a:t>Platform</a:t>
            </a:r>
            <a:endParaRPr lang="en-US" sz="693" dirty="0"/>
          </a:p>
        </p:txBody>
      </p:sp>
      <p:sp>
        <p:nvSpPr>
          <p:cNvPr id="38" name="Text 36"/>
          <p:cNvSpPr/>
          <p:nvPr/>
        </p:nvSpPr>
        <p:spPr>
          <a:xfrm>
            <a:off x="3017996" y="3626802"/>
            <a:ext cx="8523621" cy="281940"/>
          </a:xfrm>
          <a:prstGeom prst="rect">
            <a:avLst/>
          </a:prstGeom>
          <a:noFill/>
          <a:ln/>
        </p:spPr>
        <p:txBody>
          <a:bodyPr wrap="square" lIns="25400" tIns="25400" rIns="25400" bIns="25400" rtlCol="0" anchor="t">
            <a:normAutofit/>
          </a:bodyPr>
          <a:lstStyle/>
          <a:p>
            <a:pPr algn="l" indent="0" marL="0">
              <a:lnSpc>
                <a:spcPct val="102857"/>
              </a:lnSpc>
              <a:buNone/>
            </a:pPr>
            <a:r>
              <a:rPr lang="en-US" sz="1600" b="1" spc="-32" kern="0" dirty="0">
                <a:solidFill>
                  <a:srgbClr val="16211D"/>
                </a:solidFill>
                <a:latin typeface="Arial" pitchFamily="34" charset="0"/>
                <a:ea typeface="Arial" pitchFamily="34" charset="-122"/>
                <a:cs typeface="Arial" pitchFamily="34" charset="-120"/>
              </a:rPr>
              <a:t>Dashboard</a:t>
            </a:r>
            <a:endParaRPr lang="en-US" sz="1600" dirty="0"/>
          </a:p>
        </p:txBody>
      </p:sp>
      <p:sp>
        <p:nvSpPr>
          <p:cNvPr id="39" name="Text 37"/>
          <p:cNvSpPr/>
          <p:nvPr/>
        </p:nvSpPr>
        <p:spPr>
          <a:xfrm>
            <a:off x="3017996" y="3911282"/>
            <a:ext cx="8523621" cy="190341"/>
          </a:xfrm>
          <a:prstGeom prst="rect">
            <a:avLst/>
          </a:prstGeom>
          <a:noFill/>
          <a:ln/>
        </p:spPr>
        <p:txBody>
          <a:bodyPr wrap="square" lIns="25400" tIns="25400" rIns="25400" bIns="25400" rtlCol="0" anchor="t">
            <a:normAutofit/>
          </a:bodyPr>
          <a:lstStyle/>
          <a:p>
            <a:pPr algn="l" indent="0" marL="0">
              <a:lnSpc>
                <a:spcPct val="124815"/>
              </a:lnSpc>
              <a:buNone/>
            </a:pPr>
            <a:r>
              <a:rPr lang="en-US" sz="773" dirty="0">
                <a:solidFill>
                  <a:srgbClr val="65726C"/>
                </a:solidFill>
                <a:latin typeface="Arial" pitchFamily="34" charset="0"/>
                <a:ea typeface="Arial" pitchFamily="34" charset="-122"/>
                <a:cs typeface="Arial" pitchFamily="34" charset="-120"/>
              </a:rPr>
              <a:t>What the competition needs, and what is happening on the mats.</a:t>
            </a:r>
            <a:endParaRPr lang="en-US" sz="773" dirty="0"/>
          </a:p>
        </p:txBody>
      </p:sp>
      <p:sp>
        <p:nvSpPr>
          <p:cNvPr id="40" name="Shape 38"/>
          <p:cNvSpPr/>
          <p:nvPr/>
        </p:nvSpPr>
        <p:spPr>
          <a:xfrm>
            <a:off x="3017996" y="4171950"/>
            <a:ext cx="7748746" cy="1333818"/>
          </a:xfrm>
          <a:prstGeom prst="roundRect">
            <a:avLst>
              <a:gd name="adj" fmla="val 9141"/>
            </a:avLst>
          </a:prstGeom>
          <a:solidFill>
            <a:srgbClr val="FFFFFF"/>
          </a:solidFill>
          <a:ln/>
          <a:effectLst>
            <a:outerShdw sx="100000" sy="100000" kx="0" ky="0" algn="bl" rotWithShape="0" blurRad="152400" dist="38100" dir="5400000">
              <a:srgbClr val="10211D">
                <a:alpha val="7000"/>
              </a:srgbClr>
            </a:outerShdw>
          </a:effectLst>
        </p:spPr>
      </p:sp>
      <p:sp>
        <p:nvSpPr>
          <p:cNvPr id="41" name="Text 39"/>
          <p:cNvSpPr/>
          <p:nvPr/>
        </p:nvSpPr>
        <p:spPr>
          <a:xfrm>
            <a:off x="3194050" y="4335145"/>
            <a:ext cx="2211975" cy="189865"/>
          </a:xfrm>
          <a:prstGeom prst="rect">
            <a:avLst/>
          </a:prstGeom>
          <a:noFill/>
          <a:ln/>
        </p:spPr>
        <p:txBody>
          <a:bodyPr wrap="square" lIns="25400" tIns="25400" rIns="25400" bIns="25400" rtlCol="0" anchor="t">
            <a:normAutofit/>
          </a:bodyPr>
          <a:lstStyle/>
          <a:p>
            <a:pPr algn="l" indent="0" marL="0">
              <a:lnSpc>
                <a:spcPct val="93333"/>
              </a:lnSpc>
              <a:buNone/>
            </a:pPr>
            <a:r>
              <a:rPr lang="en-US" sz="1067" b="1" spc="-21" kern="0" dirty="0">
                <a:solidFill>
                  <a:srgbClr val="16211D"/>
                </a:solidFill>
                <a:latin typeface="Arial" pitchFamily="34" charset="0"/>
                <a:ea typeface="Arial" pitchFamily="34" charset="-122"/>
                <a:cs typeface="Arial" pitchFamily="34" charset="-120"/>
              </a:rPr>
              <a:t>Asian Kurash Championship 2026</a:t>
            </a:r>
            <a:endParaRPr lang="en-US" sz="1067" dirty="0"/>
          </a:p>
        </p:txBody>
      </p:sp>
      <p:sp>
        <p:nvSpPr>
          <p:cNvPr id="42" name="Shape 40"/>
          <p:cNvSpPr/>
          <p:nvPr/>
        </p:nvSpPr>
        <p:spPr>
          <a:xfrm>
            <a:off x="5272722" y="4320857"/>
            <a:ext cx="574675" cy="180181"/>
          </a:xfrm>
          <a:prstGeom prst="roundRect">
            <a:avLst>
              <a:gd name="adj" fmla="val 50000"/>
            </a:avLst>
          </a:prstGeom>
          <a:solidFill>
            <a:srgbClr val="E9F7EE"/>
          </a:solidFill>
          <a:ln/>
        </p:spPr>
      </p:sp>
      <p:sp>
        <p:nvSpPr>
          <p:cNvPr id="43" name="Shape 41"/>
          <p:cNvSpPr/>
          <p:nvPr/>
        </p:nvSpPr>
        <p:spPr>
          <a:xfrm>
            <a:off x="5354002" y="4387215"/>
            <a:ext cx="47466" cy="47466"/>
          </a:xfrm>
          <a:prstGeom prst="ellipse">
            <a:avLst/>
          </a:prstGeom>
          <a:solidFill>
            <a:srgbClr val="019A44"/>
          </a:solidFill>
          <a:ln/>
        </p:spPr>
      </p:sp>
      <p:sp>
        <p:nvSpPr>
          <p:cNvPr id="44" name="Text 42"/>
          <p:cNvSpPr/>
          <p:nvPr/>
        </p:nvSpPr>
        <p:spPr>
          <a:xfrm>
            <a:off x="5455602" y="4363561"/>
            <a:ext cx="386715" cy="132874"/>
          </a:xfrm>
          <a:prstGeom prst="rect">
            <a:avLst/>
          </a:prstGeom>
          <a:noFill/>
          <a:ln/>
        </p:spPr>
        <p:txBody>
          <a:bodyPr wrap="square" lIns="0" tIns="0" rIns="0" bIns="0" rtlCol="0" anchor="t">
            <a:normAutofit/>
          </a:bodyPr>
          <a:lstStyle/>
          <a:p>
            <a:pPr algn="l" indent="0" marL="0">
              <a:lnSpc>
                <a:spcPct val="132857"/>
              </a:lnSpc>
              <a:buNone/>
            </a:pPr>
            <a:r>
              <a:rPr lang="en-US" sz="640" b="1" dirty="0">
                <a:solidFill>
                  <a:srgbClr val="046830"/>
                </a:solidFill>
                <a:latin typeface="Arial" pitchFamily="34" charset="0"/>
                <a:ea typeface="Arial" pitchFamily="34" charset="-122"/>
                <a:cs typeface="Arial" pitchFamily="34" charset="-120"/>
              </a:rPr>
              <a:t>Running</a:t>
            </a:r>
            <a:endParaRPr lang="en-US" sz="640" dirty="0"/>
          </a:p>
        </p:txBody>
      </p:sp>
      <p:sp>
        <p:nvSpPr>
          <p:cNvPr id="45" name="Text 43"/>
          <p:cNvSpPr/>
          <p:nvPr/>
        </p:nvSpPr>
        <p:spPr>
          <a:xfrm>
            <a:off x="3194050" y="4541679"/>
            <a:ext cx="2918682"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65726C"/>
                </a:solidFill>
                <a:latin typeface="Arial" pitchFamily="34" charset="0"/>
                <a:ea typeface="Arial" pitchFamily="34" charset="-122"/>
                <a:cs typeface="Arial" pitchFamily="34" charset="-120"/>
              </a:rPr>
              <a:t>Tashkent, Uzbekistan · 12 Sep 2026</a:t>
            </a:r>
            <a:endParaRPr lang="en-US" sz="720" dirty="0"/>
          </a:p>
        </p:txBody>
      </p:sp>
      <p:sp>
        <p:nvSpPr>
          <p:cNvPr id="46" name="Shape 44"/>
          <p:cNvSpPr/>
          <p:nvPr/>
        </p:nvSpPr>
        <p:spPr>
          <a:xfrm>
            <a:off x="8540432" y="4320857"/>
            <a:ext cx="993775" cy="231299"/>
          </a:xfrm>
          <a:prstGeom prst="roundRect">
            <a:avLst>
              <a:gd name="adj" fmla="val 50000"/>
            </a:avLst>
          </a:prstGeom>
          <a:solidFill>
            <a:srgbClr val="FFFFFF"/>
          </a:solidFill>
          <a:ln w="6773">
            <a:solidFill>
              <a:srgbClr val="E4EAE7"/>
            </a:solidFill>
            <a:prstDash val="solid"/>
          </a:ln>
        </p:spPr>
      </p:sp>
      <p:sp>
        <p:nvSpPr>
          <p:cNvPr id="47" name="Text 45"/>
          <p:cNvSpPr/>
          <p:nvPr/>
        </p:nvSpPr>
        <p:spPr>
          <a:xfrm>
            <a:off x="8642032" y="4368271"/>
            <a:ext cx="866775"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16211D"/>
                </a:solidFill>
                <a:latin typeface="Arial" pitchFamily="34" charset="0"/>
                <a:ea typeface="Arial" pitchFamily="34" charset="-122"/>
                <a:cs typeface="Arial" pitchFamily="34" charset="-120"/>
              </a:rPr>
              <a:t>Manage fight order</a:t>
            </a:r>
            <a:endParaRPr lang="en-US" sz="693" dirty="0"/>
          </a:p>
        </p:txBody>
      </p:sp>
      <p:sp>
        <p:nvSpPr>
          <p:cNvPr id="48" name="Shape 46"/>
          <p:cNvSpPr/>
          <p:nvPr/>
        </p:nvSpPr>
        <p:spPr>
          <a:xfrm>
            <a:off x="9601835" y="4320857"/>
            <a:ext cx="988695" cy="231299"/>
          </a:xfrm>
          <a:prstGeom prst="roundRect">
            <a:avLst>
              <a:gd name="adj" fmla="val 50000"/>
            </a:avLst>
          </a:prstGeom>
          <a:solidFill>
            <a:srgbClr val="FFFFFF"/>
          </a:solidFill>
          <a:ln w="6773">
            <a:solidFill>
              <a:srgbClr val="E4EAE7"/>
            </a:solidFill>
            <a:prstDash val="solid"/>
          </a:ln>
        </p:spPr>
      </p:sp>
      <p:sp>
        <p:nvSpPr>
          <p:cNvPr id="49" name="Text 47"/>
          <p:cNvSpPr/>
          <p:nvPr/>
        </p:nvSpPr>
        <p:spPr>
          <a:xfrm>
            <a:off x="9703435" y="4368271"/>
            <a:ext cx="861695"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16211D"/>
                </a:solidFill>
                <a:latin typeface="Arial" pitchFamily="34" charset="0"/>
                <a:ea typeface="Arial" pitchFamily="34" charset="-122"/>
                <a:cs typeface="Arial" pitchFamily="34" charset="-120"/>
              </a:rPr>
              <a:t>Results and medals</a:t>
            </a:r>
            <a:endParaRPr lang="en-US" sz="693" dirty="0"/>
          </a:p>
        </p:txBody>
      </p:sp>
      <p:sp>
        <p:nvSpPr>
          <p:cNvPr id="50" name="Shape 48"/>
          <p:cNvSpPr/>
          <p:nvPr/>
        </p:nvSpPr>
        <p:spPr>
          <a:xfrm>
            <a:off x="3194050" y="4819015"/>
            <a:ext cx="1798320" cy="537686"/>
          </a:xfrm>
          <a:prstGeom prst="roundRect">
            <a:avLst>
              <a:gd name="adj" fmla="val 15117"/>
            </a:avLst>
          </a:prstGeom>
          <a:solidFill>
            <a:srgbClr val="F6F8F7"/>
          </a:solidFill>
          <a:ln w="6773">
            <a:solidFill>
              <a:srgbClr val="E4EAE7"/>
            </a:solidFill>
            <a:prstDash val="solid"/>
          </a:ln>
        </p:spPr>
      </p:sp>
      <p:sp>
        <p:nvSpPr>
          <p:cNvPr id="51" name="Text 49"/>
          <p:cNvSpPr/>
          <p:nvPr/>
        </p:nvSpPr>
        <p:spPr>
          <a:xfrm>
            <a:off x="3309144" y="4920615"/>
            <a:ext cx="1724771" cy="214154"/>
          </a:xfrm>
          <a:prstGeom prst="rect">
            <a:avLst/>
          </a:prstGeom>
          <a:noFill/>
          <a:ln/>
        </p:spPr>
        <p:txBody>
          <a:bodyPr wrap="square" lIns="25400" tIns="25400" rIns="25400" bIns="25400" rtlCol="0" anchor="t">
            <a:normAutofit/>
          </a:bodyPr>
          <a:lstStyle/>
          <a:p>
            <a:pPr algn="l" indent="0" marL="0">
              <a:lnSpc>
                <a:spcPct val="86667"/>
              </a:lnSpc>
              <a:buNone/>
            </a:pPr>
            <a:r>
              <a:rPr lang="en-US" sz="1387" b="1" dirty="0">
                <a:solidFill>
                  <a:srgbClr val="16211D"/>
                </a:solidFill>
                <a:latin typeface="Arial" pitchFamily="34" charset="0"/>
                <a:ea typeface="Arial" pitchFamily="34" charset="-122"/>
                <a:cs typeface="Arial" pitchFamily="34" charset="-120"/>
              </a:rPr>
              <a:t>168</a:t>
            </a:r>
            <a:endParaRPr lang="en-US" sz="1387" dirty="0"/>
          </a:p>
        </p:txBody>
      </p:sp>
      <p:sp>
        <p:nvSpPr>
          <p:cNvPr id="52" name="Text 50"/>
          <p:cNvSpPr/>
          <p:nvPr/>
        </p:nvSpPr>
        <p:spPr>
          <a:xfrm>
            <a:off x="3309144" y="5123815"/>
            <a:ext cx="1724771"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Athletes</a:t>
            </a:r>
            <a:endParaRPr lang="en-US" sz="667" dirty="0"/>
          </a:p>
        </p:txBody>
      </p:sp>
      <p:sp>
        <p:nvSpPr>
          <p:cNvPr id="53" name="Shape 51"/>
          <p:cNvSpPr/>
          <p:nvPr/>
        </p:nvSpPr>
        <p:spPr>
          <a:xfrm>
            <a:off x="5060156" y="4819015"/>
            <a:ext cx="1798320" cy="537686"/>
          </a:xfrm>
          <a:prstGeom prst="roundRect">
            <a:avLst>
              <a:gd name="adj" fmla="val 15117"/>
            </a:avLst>
          </a:prstGeom>
          <a:solidFill>
            <a:srgbClr val="F6F8F7"/>
          </a:solidFill>
          <a:ln w="6773">
            <a:solidFill>
              <a:srgbClr val="E4EAE7"/>
            </a:solidFill>
            <a:prstDash val="solid"/>
          </a:ln>
        </p:spPr>
      </p:sp>
      <p:sp>
        <p:nvSpPr>
          <p:cNvPr id="54" name="Text 52"/>
          <p:cNvSpPr/>
          <p:nvPr/>
        </p:nvSpPr>
        <p:spPr>
          <a:xfrm>
            <a:off x="5175250" y="4920615"/>
            <a:ext cx="1724771" cy="214154"/>
          </a:xfrm>
          <a:prstGeom prst="rect">
            <a:avLst/>
          </a:prstGeom>
          <a:noFill/>
          <a:ln/>
        </p:spPr>
        <p:txBody>
          <a:bodyPr wrap="square" lIns="25400" tIns="25400" rIns="25400" bIns="25400" rtlCol="0" anchor="t">
            <a:normAutofit/>
          </a:bodyPr>
          <a:lstStyle/>
          <a:p>
            <a:pPr algn="l" indent="0" marL="0">
              <a:lnSpc>
                <a:spcPct val="86667"/>
              </a:lnSpc>
              <a:buNone/>
            </a:pPr>
            <a:r>
              <a:rPr lang="en-US" sz="1387" b="1" dirty="0">
                <a:solidFill>
                  <a:srgbClr val="16211D"/>
                </a:solidFill>
                <a:latin typeface="Arial" pitchFamily="34" charset="0"/>
                <a:ea typeface="Arial" pitchFamily="34" charset="-122"/>
                <a:cs typeface="Arial" pitchFamily="34" charset="-120"/>
              </a:rPr>
              <a:t>14</a:t>
            </a:r>
            <a:endParaRPr lang="en-US" sz="1387" dirty="0"/>
          </a:p>
        </p:txBody>
      </p:sp>
      <p:sp>
        <p:nvSpPr>
          <p:cNvPr id="55" name="Text 53"/>
          <p:cNvSpPr/>
          <p:nvPr/>
        </p:nvSpPr>
        <p:spPr>
          <a:xfrm>
            <a:off x="5175250" y="5123815"/>
            <a:ext cx="1724771"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Weight classes</a:t>
            </a:r>
            <a:endParaRPr lang="en-US" sz="667" dirty="0"/>
          </a:p>
        </p:txBody>
      </p:sp>
      <p:sp>
        <p:nvSpPr>
          <p:cNvPr id="56" name="Shape 54"/>
          <p:cNvSpPr/>
          <p:nvPr/>
        </p:nvSpPr>
        <p:spPr>
          <a:xfrm>
            <a:off x="6926104" y="4819015"/>
            <a:ext cx="1798320" cy="537686"/>
          </a:xfrm>
          <a:prstGeom prst="roundRect">
            <a:avLst>
              <a:gd name="adj" fmla="val 15117"/>
            </a:avLst>
          </a:prstGeom>
          <a:solidFill>
            <a:srgbClr val="F6F8F7"/>
          </a:solidFill>
          <a:ln w="6773">
            <a:solidFill>
              <a:srgbClr val="E4EAE7"/>
            </a:solidFill>
            <a:prstDash val="solid"/>
          </a:ln>
        </p:spPr>
      </p:sp>
      <p:sp>
        <p:nvSpPr>
          <p:cNvPr id="57" name="Text 55"/>
          <p:cNvSpPr/>
          <p:nvPr/>
        </p:nvSpPr>
        <p:spPr>
          <a:xfrm>
            <a:off x="7041356" y="4920615"/>
            <a:ext cx="1724771" cy="214154"/>
          </a:xfrm>
          <a:prstGeom prst="rect">
            <a:avLst/>
          </a:prstGeom>
          <a:noFill/>
          <a:ln/>
        </p:spPr>
        <p:txBody>
          <a:bodyPr wrap="square" lIns="25400" tIns="25400" rIns="25400" bIns="25400" rtlCol="0" anchor="t">
            <a:normAutofit/>
          </a:bodyPr>
          <a:lstStyle/>
          <a:p>
            <a:pPr algn="l" indent="0" marL="0">
              <a:lnSpc>
                <a:spcPct val="86667"/>
              </a:lnSpc>
              <a:buNone/>
            </a:pPr>
            <a:r>
              <a:rPr lang="en-US" sz="1387" b="1" dirty="0">
                <a:solidFill>
                  <a:srgbClr val="16211D"/>
                </a:solidFill>
                <a:latin typeface="Arial" pitchFamily="34" charset="0"/>
                <a:ea typeface="Arial" pitchFamily="34" charset="-122"/>
                <a:cs typeface="Arial" pitchFamily="34" charset="-120"/>
              </a:rPr>
              <a:t>214</a:t>
            </a:r>
            <a:endParaRPr lang="en-US" sz="1387" dirty="0"/>
          </a:p>
        </p:txBody>
      </p:sp>
      <p:sp>
        <p:nvSpPr>
          <p:cNvPr id="58" name="Text 56"/>
          <p:cNvSpPr/>
          <p:nvPr/>
        </p:nvSpPr>
        <p:spPr>
          <a:xfrm>
            <a:off x="7041356" y="5123815"/>
            <a:ext cx="1724771"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Contests</a:t>
            </a:r>
            <a:endParaRPr lang="en-US" sz="667" dirty="0"/>
          </a:p>
        </p:txBody>
      </p:sp>
      <p:sp>
        <p:nvSpPr>
          <p:cNvPr id="59" name="Shape 57"/>
          <p:cNvSpPr/>
          <p:nvPr/>
        </p:nvSpPr>
        <p:spPr>
          <a:xfrm>
            <a:off x="8792210" y="4819015"/>
            <a:ext cx="1798320" cy="537686"/>
          </a:xfrm>
          <a:prstGeom prst="roundRect">
            <a:avLst>
              <a:gd name="adj" fmla="val 15117"/>
            </a:avLst>
          </a:prstGeom>
          <a:solidFill>
            <a:srgbClr val="F6F8F7"/>
          </a:solidFill>
          <a:ln w="6773">
            <a:solidFill>
              <a:srgbClr val="E4EAE7"/>
            </a:solidFill>
            <a:prstDash val="solid"/>
          </a:ln>
        </p:spPr>
      </p:sp>
      <p:sp>
        <p:nvSpPr>
          <p:cNvPr id="60" name="Text 58"/>
          <p:cNvSpPr/>
          <p:nvPr/>
        </p:nvSpPr>
        <p:spPr>
          <a:xfrm>
            <a:off x="8907304" y="4920615"/>
            <a:ext cx="1724771" cy="214154"/>
          </a:xfrm>
          <a:prstGeom prst="rect">
            <a:avLst/>
          </a:prstGeom>
          <a:noFill/>
          <a:ln/>
        </p:spPr>
        <p:txBody>
          <a:bodyPr wrap="square" lIns="25400" tIns="25400" rIns="25400" bIns="25400" rtlCol="0" anchor="t">
            <a:normAutofit/>
          </a:bodyPr>
          <a:lstStyle/>
          <a:p>
            <a:pPr algn="l" indent="0" marL="0">
              <a:lnSpc>
                <a:spcPct val="86667"/>
              </a:lnSpc>
              <a:buNone/>
            </a:pPr>
            <a:r>
              <a:rPr lang="en-US" sz="1387" b="1" dirty="0">
                <a:solidFill>
                  <a:srgbClr val="16211D"/>
                </a:solidFill>
                <a:latin typeface="Arial" pitchFamily="34" charset="0"/>
                <a:ea typeface="Arial" pitchFamily="34" charset="-122"/>
                <a:cs typeface="Arial" pitchFamily="34" charset="-120"/>
              </a:rPr>
              <a:t>4</a:t>
            </a:r>
            <a:endParaRPr lang="en-US" sz="1387" dirty="0"/>
          </a:p>
        </p:txBody>
      </p:sp>
      <p:sp>
        <p:nvSpPr>
          <p:cNvPr id="61" name="Text 59"/>
          <p:cNvSpPr/>
          <p:nvPr/>
        </p:nvSpPr>
        <p:spPr>
          <a:xfrm>
            <a:off x="8907304" y="5123815"/>
            <a:ext cx="1724771"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Active mats</a:t>
            </a:r>
            <a:endParaRPr lang="en-US" sz="667" dirty="0"/>
          </a:p>
        </p:txBody>
      </p:sp>
      <p:sp>
        <p:nvSpPr>
          <p:cNvPr id="62" name="Shape 60"/>
          <p:cNvSpPr/>
          <p:nvPr/>
        </p:nvSpPr>
        <p:spPr>
          <a:xfrm>
            <a:off x="3017996" y="5614035"/>
            <a:ext cx="3820160" cy="1579404"/>
          </a:xfrm>
          <a:prstGeom prst="roundRect">
            <a:avLst>
              <a:gd name="adj" fmla="val 7719"/>
            </a:avLst>
          </a:prstGeom>
          <a:solidFill>
            <a:srgbClr val="FFFFFF"/>
          </a:solidFill>
          <a:ln/>
          <a:effectLst>
            <a:outerShdw sx="100000" sy="100000" kx="0" ky="0" algn="bl" rotWithShape="0" blurRad="152400" dist="38100" dir="5400000">
              <a:srgbClr val="10211D">
                <a:alpha val="7000"/>
              </a:srgbClr>
            </a:outerShdw>
          </a:effectLst>
        </p:spPr>
      </p:sp>
      <p:sp>
        <p:nvSpPr>
          <p:cNvPr id="63" name="Text 61"/>
          <p:cNvSpPr/>
          <p:nvPr/>
        </p:nvSpPr>
        <p:spPr>
          <a:xfrm>
            <a:off x="3194050" y="5763101"/>
            <a:ext cx="1059656" cy="167005"/>
          </a:xfrm>
          <a:prstGeom prst="rect">
            <a:avLst/>
          </a:prstGeom>
          <a:noFill/>
          <a:ln/>
        </p:spPr>
        <p:txBody>
          <a:bodyPr wrap="square" lIns="25400" tIns="25400" rIns="25400" bIns="25400" rtlCol="0" anchor="t">
            <a:normAutofit/>
          </a:bodyPr>
          <a:lstStyle/>
          <a:p>
            <a:pPr algn="l" indent="0" marL="0">
              <a:lnSpc>
                <a:spcPct val="95166"/>
              </a:lnSpc>
              <a:buNone/>
            </a:pPr>
            <a:r>
              <a:rPr lang="en-US" sz="907" b="1" spc="-18" kern="0" dirty="0">
                <a:solidFill>
                  <a:srgbClr val="16211D"/>
                </a:solidFill>
                <a:latin typeface="Arial" pitchFamily="34" charset="0"/>
                <a:ea typeface="Arial" pitchFamily="34" charset="-122"/>
                <a:cs typeface="Arial" pitchFamily="34" charset="-120"/>
              </a:rPr>
              <a:t>Attention required</a:t>
            </a:r>
            <a:endParaRPr lang="en-US" sz="907" dirty="0"/>
          </a:p>
        </p:txBody>
      </p:sp>
      <p:sp>
        <p:nvSpPr>
          <p:cNvPr id="64" name="Shape 62"/>
          <p:cNvSpPr/>
          <p:nvPr/>
        </p:nvSpPr>
        <p:spPr>
          <a:xfrm>
            <a:off x="3194050" y="6334813"/>
            <a:ext cx="3467894" cy="9525"/>
          </a:xfrm>
          <a:prstGeom prst="rect">
            <a:avLst/>
          </a:prstGeom>
          <a:solidFill>
            <a:srgbClr val="E4EAE7"/>
          </a:solidFill>
          <a:ln/>
        </p:spPr>
      </p:sp>
      <p:sp>
        <p:nvSpPr>
          <p:cNvPr id="65" name="Text 63"/>
          <p:cNvSpPr/>
          <p:nvPr/>
        </p:nvSpPr>
        <p:spPr>
          <a:xfrm>
            <a:off x="3194050" y="6087269"/>
            <a:ext cx="2137235" cy="185103"/>
          </a:xfrm>
          <a:prstGeom prst="rect">
            <a:avLst/>
          </a:prstGeom>
          <a:noFill/>
          <a:ln/>
        </p:spPr>
        <p:txBody>
          <a:bodyPr wrap="square" lIns="25400" tIns="25400" rIns="25400" bIns="25400" rtlCol="0" anchor="t">
            <a:normAutofit/>
          </a:bodyPr>
          <a:lstStyle/>
          <a:p>
            <a:pPr algn="l" indent="0" marL="0">
              <a:lnSpc>
                <a:spcPct val="135625"/>
              </a:lnSpc>
              <a:buNone/>
            </a:pPr>
            <a:r>
              <a:rPr lang="en-US" sz="747" dirty="0">
                <a:solidFill>
                  <a:srgbClr val="16211D"/>
                </a:solidFill>
                <a:latin typeface="Arial" pitchFamily="34" charset="0"/>
                <a:ea typeface="Arial" pitchFamily="34" charset="-122"/>
                <a:cs typeface="Arial" pitchFamily="34" charset="-120"/>
              </a:rPr>
              <a:t>−73 kg Senior Men has 6 athletes and no draw</a:t>
            </a:r>
            <a:endParaRPr lang="en-US" sz="747" dirty="0"/>
          </a:p>
        </p:txBody>
      </p:sp>
      <p:sp>
        <p:nvSpPr>
          <p:cNvPr id="66" name="Shape 64"/>
          <p:cNvSpPr/>
          <p:nvPr/>
        </p:nvSpPr>
        <p:spPr>
          <a:xfrm>
            <a:off x="5231765" y="6054566"/>
            <a:ext cx="578485" cy="212566"/>
          </a:xfrm>
          <a:prstGeom prst="roundRect">
            <a:avLst>
              <a:gd name="adj" fmla="val 50000"/>
            </a:avLst>
          </a:prstGeom>
          <a:solidFill>
            <a:srgbClr val="FFFFFF"/>
          </a:solidFill>
          <a:ln w="6773">
            <a:solidFill>
              <a:srgbClr val="E4EAE7"/>
            </a:solidFill>
            <a:prstDash val="solid"/>
          </a:ln>
        </p:spPr>
      </p:sp>
      <p:sp>
        <p:nvSpPr>
          <p:cNvPr id="67" name="Text 65"/>
          <p:cNvSpPr/>
          <p:nvPr/>
        </p:nvSpPr>
        <p:spPr>
          <a:xfrm>
            <a:off x="5333365" y="6095206"/>
            <a:ext cx="451485" cy="169386"/>
          </a:xfrm>
          <a:prstGeom prst="rect">
            <a:avLst/>
          </a:prstGeom>
          <a:noFill/>
          <a:ln/>
        </p:spPr>
        <p:txBody>
          <a:bodyPr wrap="square" lIns="25400" tIns="25400" rIns="25400" bIns="25400" rtlCol="0" anchor="ctr">
            <a:normAutofit/>
          </a:bodyPr>
          <a:lstStyle/>
          <a:p>
            <a:pPr algn="l" indent="0" marL="0">
              <a:lnSpc>
                <a:spcPct val="129222"/>
              </a:lnSpc>
              <a:buNone/>
            </a:pPr>
            <a:r>
              <a:rPr lang="en-US" sz="667" b="1" dirty="0">
                <a:solidFill>
                  <a:srgbClr val="16211D"/>
                </a:solidFill>
                <a:latin typeface="Arial" pitchFamily="34" charset="0"/>
                <a:ea typeface="Arial" pitchFamily="34" charset="-122"/>
                <a:cs typeface="Arial" pitchFamily="34" charset="-120"/>
              </a:rPr>
              <a:t>Draw it →</a:t>
            </a:r>
            <a:endParaRPr lang="en-US" sz="667" dirty="0"/>
          </a:p>
        </p:txBody>
      </p:sp>
      <p:sp>
        <p:nvSpPr>
          <p:cNvPr id="68" name="Shape 66"/>
          <p:cNvSpPr/>
          <p:nvPr/>
        </p:nvSpPr>
        <p:spPr>
          <a:xfrm>
            <a:off x="3194050" y="6689619"/>
            <a:ext cx="3467894" cy="9525"/>
          </a:xfrm>
          <a:prstGeom prst="rect">
            <a:avLst/>
          </a:prstGeom>
          <a:solidFill>
            <a:srgbClr val="E4EAE7"/>
          </a:solidFill>
          <a:ln/>
        </p:spPr>
      </p:sp>
      <p:sp>
        <p:nvSpPr>
          <p:cNvPr id="69" name="Text 67"/>
          <p:cNvSpPr/>
          <p:nvPr/>
        </p:nvSpPr>
        <p:spPr>
          <a:xfrm>
            <a:off x="3194050" y="6442075"/>
            <a:ext cx="1903413" cy="185103"/>
          </a:xfrm>
          <a:prstGeom prst="rect">
            <a:avLst/>
          </a:prstGeom>
          <a:noFill/>
          <a:ln/>
        </p:spPr>
        <p:txBody>
          <a:bodyPr wrap="square" lIns="25400" tIns="25400" rIns="25400" bIns="25400" rtlCol="0" anchor="t">
            <a:normAutofit/>
          </a:bodyPr>
          <a:lstStyle/>
          <a:p>
            <a:pPr algn="l" indent="0" marL="0">
              <a:lnSpc>
                <a:spcPct val="135625"/>
              </a:lnSpc>
              <a:buNone/>
            </a:pPr>
            <a:r>
              <a:rPr lang="en-US" sz="747" dirty="0">
                <a:solidFill>
                  <a:srgbClr val="16211D"/>
                </a:solidFill>
                <a:latin typeface="Arial" pitchFamily="34" charset="0"/>
                <a:ea typeface="Arial" pitchFamily="34" charset="-122"/>
                <a:cs typeface="Arial" pitchFamily="34" charset="-120"/>
              </a:rPr>
              <a:t>2 athletes are entered outside their class</a:t>
            </a:r>
            <a:endParaRPr lang="en-US" sz="747" dirty="0"/>
          </a:p>
        </p:txBody>
      </p:sp>
      <p:sp>
        <p:nvSpPr>
          <p:cNvPr id="70" name="Shape 68"/>
          <p:cNvSpPr/>
          <p:nvPr/>
        </p:nvSpPr>
        <p:spPr>
          <a:xfrm>
            <a:off x="5019199" y="6409373"/>
            <a:ext cx="640398" cy="212566"/>
          </a:xfrm>
          <a:prstGeom prst="roundRect">
            <a:avLst>
              <a:gd name="adj" fmla="val 50000"/>
            </a:avLst>
          </a:prstGeom>
          <a:solidFill>
            <a:srgbClr val="FFFFFF"/>
          </a:solidFill>
          <a:ln w="6773">
            <a:solidFill>
              <a:srgbClr val="E4EAE7"/>
            </a:solidFill>
            <a:prstDash val="solid"/>
          </a:ln>
        </p:spPr>
      </p:sp>
      <p:sp>
        <p:nvSpPr>
          <p:cNvPr id="71" name="Text 69"/>
          <p:cNvSpPr/>
          <p:nvPr/>
        </p:nvSpPr>
        <p:spPr>
          <a:xfrm>
            <a:off x="5120799" y="6450013"/>
            <a:ext cx="513398" cy="169386"/>
          </a:xfrm>
          <a:prstGeom prst="rect">
            <a:avLst/>
          </a:prstGeom>
          <a:noFill/>
          <a:ln/>
        </p:spPr>
        <p:txBody>
          <a:bodyPr wrap="square" lIns="25400" tIns="25400" rIns="25400" bIns="25400" rtlCol="0" anchor="ctr">
            <a:normAutofit/>
          </a:bodyPr>
          <a:lstStyle/>
          <a:p>
            <a:pPr algn="l" indent="0" marL="0">
              <a:lnSpc>
                <a:spcPct val="129222"/>
              </a:lnSpc>
              <a:buNone/>
            </a:pPr>
            <a:r>
              <a:rPr lang="en-US" sz="667" b="1" dirty="0">
                <a:solidFill>
                  <a:srgbClr val="16211D"/>
                </a:solidFill>
                <a:latin typeface="Arial" pitchFamily="34" charset="0"/>
                <a:ea typeface="Arial" pitchFamily="34" charset="-122"/>
                <a:cs typeface="Arial" pitchFamily="34" charset="-120"/>
              </a:rPr>
              <a:t>Weigh-in →</a:t>
            </a:r>
            <a:endParaRPr lang="en-US" sz="667" dirty="0"/>
          </a:p>
        </p:txBody>
      </p:sp>
      <p:sp>
        <p:nvSpPr>
          <p:cNvPr id="72" name="Text 70"/>
          <p:cNvSpPr/>
          <p:nvPr/>
        </p:nvSpPr>
        <p:spPr>
          <a:xfrm>
            <a:off x="3194050" y="6796881"/>
            <a:ext cx="1399445" cy="185103"/>
          </a:xfrm>
          <a:prstGeom prst="rect">
            <a:avLst/>
          </a:prstGeom>
          <a:noFill/>
          <a:ln/>
        </p:spPr>
        <p:txBody>
          <a:bodyPr wrap="square" lIns="25400" tIns="25400" rIns="25400" bIns="25400" rtlCol="0" anchor="t">
            <a:normAutofit/>
          </a:bodyPr>
          <a:lstStyle/>
          <a:p>
            <a:pPr algn="l" indent="0" marL="0">
              <a:lnSpc>
                <a:spcPct val="135625"/>
              </a:lnSpc>
              <a:buNone/>
            </a:pPr>
            <a:r>
              <a:rPr lang="en-US" sz="747" dirty="0">
                <a:solidFill>
                  <a:srgbClr val="16211D"/>
                </a:solidFill>
                <a:latin typeface="Arial" pitchFamily="34" charset="0"/>
                <a:ea typeface="Arial" pitchFamily="34" charset="-122"/>
                <a:cs typeface="Arial" pitchFamily="34" charset="-120"/>
              </a:rPr>
              <a:t>Mat 4 has no referee assigned</a:t>
            </a:r>
            <a:endParaRPr lang="en-US" sz="747" dirty="0"/>
          </a:p>
        </p:txBody>
      </p:sp>
      <p:sp>
        <p:nvSpPr>
          <p:cNvPr id="73" name="Shape 71"/>
          <p:cNvSpPr/>
          <p:nvPr/>
        </p:nvSpPr>
        <p:spPr>
          <a:xfrm>
            <a:off x="4561046" y="6764179"/>
            <a:ext cx="488632" cy="212566"/>
          </a:xfrm>
          <a:prstGeom prst="roundRect">
            <a:avLst>
              <a:gd name="adj" fmla="val 50000"/>
            </a:avLst>
          </a:prstGeom>
          <a:solidFill>
            <a:srgbClr val="FFFFFF"/>
          </a:solidFill>
          <a:ln w="6773">
            <a:solidFill>
              <a:srgbClr val="E4EAE7"/>
            </a:solidFill>
            <a:prstDash val="solid"/>
          </a:ln>
        </p:spPr>
      </p:sp>
      <p:sp>
        <p:nvSpPr>
          <p:cNvPr id="74" name="Text 72"/>
          <p:cNvSpPr/>
          <p:nvPr/>
        </p:nvSpPr>
        <p:spPr>
          <a:xfrm>
            <a:off x="4662646" y="6804819"/>
            <a:ext cx="361632" cy="169386"/>
          </a:xfrm>
          <a:prstGeom prst="rect">
            <a:avLst/>
          </a:prstGeom>
          <a:noFill/>
          <a:ln/>
        </p:spPr>
        <p:txBody>
          <a:bodyPr wrap="square" lIns="25400" tIns="25400" rIns="25400" bIns="25400" rtlCol="0" anchor="ctr">
            <a:normAutofit/>
          </a:bodyPr>
          <a:lstStyle/>
          <a:p>
            <a:pPr algn="l" indent="0" marL="0">
              <a:lnSpc>
                <a:spcPct val="129222"/>
              </a:lnSpc>
              <a:buNone/>
            </a:pPr>
            <a:r>
              <a:rPr lang="en-US" sz="667" b="1" dirty="0">
                <a:solidFill>
                  <a:srgbClr val="16211D"/>
                </a:solidFill>
                <a:latin typeface="Arial" pitchFamily="34" charset="0"/>
                <a:ea typeface="Arial" pitchFamily="34" charset="-122"/>
                <a:cs typeface="Arial" pitchFamily="34" charset="-120"/>
              </a:rPr>
              <a:t>Mats →</a:t>
            </a:r>
            <a:endParaRPr lang="en-US" sz="667" dirty="0"/>
          </a:p>
        </p:txBody>
      </p:sp>
      <p:sp>
        <p:nvSpPr>
          <p:cNvPr id="75" name="Shape 73"/>
          <p:cNvSpPr/>
          <p:nvPr/>
        </p:nvSpPr>
        <p:spPr>
          <a:xfrm>
            <a:off x="6946424" y="5614035"/>
            <a:ext cx="3820160" cy="1579404"/>
          </a:xfrm>
          <a:prstGeom prst="roundRect">
            <a:avLst>
              <a:gd name="adj" fmla="val 7719"/>
            </a:avLst>
          </a:prstGeom>
          <a:solidFill>
            <a:srgbClr val="FFFFFF"/>
          </a:solidFill>
          <a:ln/>
          <a:effectLst>
            <a:outerShdw sx="100000" sy="100000" kx="0" ky="0" algn="bl" rotWithShape="0" blurRad="152400" dist="38100" dir="5400000">
              <a:srgbClr val="10211D">
                <a:alpha val="7000"/>
              </a:srgbClr>
            </a:outerShdw>
          </a:effectLst>
        </p:spPr>
      </p:sp>
      <p:sp>
        <p:nvSpPr>
          <p:cNvPr id="76" name="Text 74"/>
          <p:cNvSpPr/>
          <p:nvPr/>
        </p:nvSpPr>
        <p:spPr>
          <a:xfrm>
            <a:off x="7122636" y="5763101"/>
            <a:ext cx="995204" cy="167005"/>
          </a:xfrm>
          <a:prstGeom prst="rect">
            <a:avLst/>
          </a:prstGeom>
          <a:noFill/>
          <a:ln/>
        </p:spPr>
        <p:txBody>
          <a:bodyPr wrap="square" lIns="25400" tIns="25400" rIns="25400" bIns="25400" rtlCol="0" anchor="t">
            <a:normAutofit/>
          </a:bodyPr>
          <a:lstStyle/>
          <a:p>
            <a:pPr algn="l" indent="0" marL="0">
              <a:lnSpc>
                <a:spcPct val="95166"/>
              </a:lnSpc>
              <a:buNone/>
            </a:pPr>
            <a:r>
              <a:rPr lang="en-US" sz="907" b="1" spc="-18" kern="0" dirty="0">
                <a:solidFill>
                  <a:srgbClr val="16211D"/>
                </a:solidFill>
                <a:latin typeface="Arial" pitchFamily="34" charset="0"/>
                <a:ea typeface="Arial" pitchFamily="34" charset="-122"/>
                <a:cs typeface="Arial" pitchFamily="34" charset="-120"/>
              </a:rPr>
              <a:t>Athlete workflow</a:t>
            </a:r>
            <a:endParaRPr lang="en-US" sz="907" dirty="0"/>
          </a:p>
        </p:txBody>
      </p:sp>
      <p:sp>
        <p:nvSpPr>
          <p:cNvPr id="77" name="Shape 75"/>
          <p:cNvSpPr/>
          <p:nvPr/>
        </p:nvSpPr>
        <p:spPr>
          <a:xfrm>
            <a:off x="7122636" y="5986780"/>
            <a:ext cx="1110774" cy="537686"/>
          </a:xfrm>
          <a:prstGeom prst="roundRect">
            <a:avLst>
              <a:gd name="adj" fmla="val 15117"/>
            </a:avLst>
          </a:prstGeom>
          <a:solidFill>
            <a:srgbClr val="F6F8F7"/>
          </a:solidFill>
          <a:ln w="6773">
            <a:solidFill>
              <a:srgbClr val="E4EAE7"/>
            </a:solidFill>
            <a:prstDash val="solid"/>
          </a:ln>
        </p:spPr>
      </p:sp>
      <p:sp>
        <p:nvSpPr>
          <p:cNvPr id="78" name="Text 76"/>
          <p:cNvSpPr/>
          <p:nvPr/>
        </p:nvSpPr>
        <p:spPr>
          <a:xfrm>
            <a:off x="7237730" y="6088380"/>
            <a:ext cx="956786" cy="214154"/>
          </a:xfrm>
          <a:prstGeom prst="rect">
            <a:avLst/>
          </a:prstGeom>
          <a:noFill/>
          <a:ln/>
        </p:spPr>
        <p:txBody>
          <a:bodyPr wrap="square" lIns="25400" tIns="25400" rIns="25400" bIns="25400" rtlCol="0" anchor="t">
            <a:normAutofit/>
          </a:bodyPr>
          <a:lstStyle/>
          <a:p>
            <a:pPr algn="l" indent="0" marL="0">
              <a:lnSpc>
                <a:spcPct val="86667"/>
              </a:lnSpc>
              <a:buNone/>
            </a:pPr>
            <a:r>
              <a:rPr lang="en-US" sz="1387" b="1" dirty="0">
                <a:solidFill>
                  <a:srgbClr val="16211D"/>
                </a:solidFill>
                <a:latin typeface="Arial" pitchFamily="34" charset="0"/>
                <a:ea typeface="Arial" pitchFamily="34" charset="-122"/>
                <a:cs typeface="Arial" pitchFamily="34" charset="-120"/>
              </a:rPr>
              <a:t>168</a:t>
            </a:r>
            <a:endParaRPr lang="en-US" sz="1387" dirty="0"/>
          </a:p>
        </p:txBody>
      </p:sp>
      <p:sp>
        <p:nvSpPr>
          <p:cNvPr id="79" name="Text 77"/>
          <p:cNvSpPr/>
          <p:nvPr/>
        </p:nvSpPr>
        <p:spPr>
          <a:xfrm>
            <a:off x="7237730" y="6291580"/>
            <a:ext cx="956786"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Registered</a:t>
            </a:r>
            <a:endParaRPr lang="en-US" sz="667" dirty="0"/>
          </a:p>
        </p:txBody>
      </p:sp>
      <p:sp>
        <p:nvSpPr>
          <p:cNvPr id="80" name="Shape 78"/>
          <p:cNvSpPr/>
          <p:nvPr/>
        </p:nvSpPr>
        <p:spPr>
          <a:xfrm>
            <a:off x="8301196" y="5986780"/>
            <a:ext cx="1110774" cy="537686"/>
          </a:xfrm>
          <a:prstGeom prst="roundRect">
            <a:avLst>
              <a:gd name="adj" fmla="val 15117"/>
            </a:avLst>
          </a:prstGeom>
          <a:solidFill>
            <a:srgbClr val="F6F8F7"/>
          </a:solidFill>
          <a:ln/>
        </p:spPr>
      </p:sp>
      <p:sp>
        <p:nvSpPr>
          <p:cNvPr id="81" name="Shape 79"/>
          <p:cNvSpPr/>
          <p:nvPr/>
        </p:nvSpPr>
        <p:spPr>
          <a:xfrm>
            <a:off x="8301196" y="6517693"/>
            <a:ext cx="1110774" cy="9525"/>
          </a:xfrm>
          <a:prstGeom prst="rect">
            <a:avLst/>
          </a:prstGeom>
          <a:solidFill>
            <a:srgbClr val="E4EAE7"/>
          </a:solidFill>
          <a:ln/>
        </p:spPr>
      </p:sp>
      <p:sp>
        <p:nvSpPr>
          <p:cNvPr id="82" name="Shape 80"/>
          <p:cNvSpPr/>
          <p:nvPr/>
        </p:nvSpPr>
        <p:spPr>
          <a:xfrm>
            <a:off x="8301196" y="5986780"/>
            <a:ext cx="1110774" cy="9525"/>
          </a:xfrm>
          <a:prstGeom prst="rect">
            <a:avLst/>
          </a:prstGeom>
          <a:solidFill>
            <a:srgbClr val="E4EAE7"/>
          </a:solidFill>
          <a:ln/>
        </p:spPr>
      </p:sp>
      <p:sp>
        <p:nvSpPr>
          <p:cNvPr id="83" name="Shape 81"/>
          <p:cNvSpPr/>
          <p:nvPr/>
        </p:nvSpPr>
        <p:spPr>
          <a:xfrm>
            <a:off x="8301196" y="5986780"/>
            <a:ext cx="27093" cy="537686"/>
          </a:xfrm>
          <a:prstGeom prst="rect">
            <a:avLst/>
          </a:prstGeom>
          <a:solidFill>
            <a:srgbClr val="019A44"/>
          </a:solidFill>
          <a:ln/>
        </p:spPr>
      </p:sp>
      <p:sp>
        <p:nvSpPr>
          <p:cNvPr id="84" name="Shape 82"/>
          <p:cNvSpPr/>
          <p:nvPr/>
        </p:nvSpPr>
        <p:spPr>
          <a:xfrm>
            <a:off x="9405197" y="5986780"/>
            <a:ext cx="9525" cy="537686"/>
          </a:xfrm>
          <a:prstGeom prst="rect">
            <a:avLst/>
          </a:prstGeom>
          <a:solidFill>
            <a:srgbClr val="E4EAE7"/>
          </a:solidFill>
          <a:ln/>
        </p:spPr>
      </p:sp>
      <p:sp>
        <p:nvSpPr>
          <p:cNvPr id="85" name="Text 83"/>
          <p:cNvSpPr/>
          <p:nvPr/>
        </p:nvSpPr>
        <p:spPr>
          <a:xfrm>
            <a:off x="8436610" y="6088380"/>
            <a:ext cx="936466" cy="214154"/>
          </a:xfrm>
          <a:prstGeom prst="rect">
            <a:avLst/>
          </a:prstGeom>
          <a:noFill/>
          <a:ln/>
        </p:spPr>
        <p:txBody>
          <a:bodyPr wrap="square" lIns="25400" tIns="25400" rIns="25400" bIns="25400" rtlCol="0" anchor="t">
            <a:normAutofit/>
          </a:bodyPr>
          <a:lstStyle/>
          <a:p>
            <a:pPr algn="l" indent="0" marL="0">
              <a:lnSpc>
                <a:spcPct val="86667"/>
              </a:lnSpc>
              <a:buNone/>
            </a:pPr>
            <a:r>
              <a:rPr lang="en-US" sz="1387" b="1" dirty="0">
                <a:solidFill>
                  <a:srgbClr val="046830"/>
                </a:solidFill>
                <a:latin typeface="Arial" pitchFamily="34" charset="0"/>
                <a:ea typeface="Arial" pitchFamily="34" charset="-122"/>
                <a:cs typeface="Arial" pitchFamily="34" charset="-120"/>
              </a:rPr>
              <a:t>154</a:t>
            </a:r>
            <a:endParaRPr lang="en-US" sz="1387" dirty="0"/>
          </a:p>
        </p:txBody>
      </p:sp>
      <p:sp>
        <p:nvSpPr>
          <p:cNvPr id="86" name="Text 84"/>
          <p:cNvSpPr/>
          <p:nvPr/>
        </p:nvSpPr>
        <p:spPr>
          <a:xfrm>
            <a:off x="8436610" y="6291580"/>
            <a:ext cx="936466"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Passed the scale</a:t>
            </a:r>
            <a:endParaRPr lang="en-US" sz="667" dirty="0"/>
          </a:p>
        </p:txBody>
      </p:sp>
      <p:sp>
        <p:nvSpPr>
          <p:cNvPr id="87" name="Shape 85"/>
          <p:cNvSpPr/>
          <p:nvPr/>
        </p:nvSpPr>
        <p:spPr>
          <a:xfrm>
            <a:off x="9479756" y="5986780"/>
            <a:ext cx="1110774" cy="537686"/>
          </a:xfrm>
          <a:prstGeom prst="roundRect">
            <a:avLst>
              <a:gd name="adj" fmla="val 15117"/>
            </a:avLst>
          </a:prstGeom>
          <a:solidFill>
            <a:srgbClr val="F6F8F7"/>
          </a:solidFill>
          <a:ln/>
        </p:spPr>
      </p:sp>
      <p:sp>
        <p:nvSpPr>
          <p:cNvPr id="88" name="Shape 86"/>
          <p:cNvSpPr/>
          <p:nvPr/>
        </p:nvSpPr>
        <p:spPr>
          <a:xfrm>
            <a:off x="9479756" y="6517693"/>
            <a:ext cx="1110774" cy="9525"/>
          </a:xfrm>
          <a:prstGeom prst="rect">
            <a:avLst/>
          </a:prstGeom>
          <a:solidFill>
            <a:srgbClr val="E4EAE7"/>
          </a:solidFill>
          <a:ln/>
        </p:spPr>
      </p:sp>
      <p:sp>
        <p:nvSpPr>
          <p:cNvPr id="89" name="Shape 87"/>
          <p:cNvSpPr/>
          <p:nvPr/>
        </p:nvSpPr>
        <p:spPr>
          <a:xfrm>
            <a:off x="9479756" y="5986780"/>
            <a:ext cx="1110774" cy="9525"/>
          </a:xfrm>
          <a:prstGeom prst="rect">
            <a:avLst/>
          </a:prstGeom>
          <a:solidFill>
            <a:srgbClr val="E4EAE7"/>
          </a:solidFill>
          <a:ln/>
        </p:spPr>
      </p:sp>
      <p:sp>
        <p:nvSpPr>
          <p:cNvPr id="90" name="Shape 88"/>
          <p:cNvSpPr/>
          <p:nvPr/>
        </p:nvSpPr>
        <p:spPr>
          <a:xfrm>
            <a:off x="9479756" y="5986780"/>
            <a:ext cx="27093" cy="537686"/>
          </a:xfrm>
          <a:prstGeom prst="rect">
            <a:avLst/>
          </a:prstGeom>
          <a:solidFill>
            <a:srgbClr val="1A9FD8"/>
          </a:solidFill>
          <a:ln/>
        </p:spPr>
      </p:sp>
      <p:sp>
        <p:nvSpPr>
          <p:cNvPr id="91" name="Shape 89"/>
          <p:cNvSpPr/>
          <p:nvPr/>
        </p:nvSpPr>
        <p:spPr>
          <a:xfrm>
            <a:off x="10583757" y="5986780"/>
            <a:ext cx="9525" cy="537686"/>
          </a:xfrm>
          <a:prstGeom prst="rect">
            <a:avLst/>
          </a:prstGeom>
          <a:solidFill>
            <a:srgbClr val="E4EAE7"/>
          </a:solidFill>
          <a:ln/>
        </p:spPr>
      </p:sp>
      <p:sp>
        <p:nvSpPr>
          <p:cNvPr id="92" name="Text 90"/>
          <p:cNvSpPr/>
          <p:nvPr/>
        </p:nvSpPr>
        <p:spPr>
          <a:xfrm>
            <a:off x="9615170" y="6088380"/>
            <a:ext cx="936466" cy="214154"/>
          </a:xfrm>
          <a:prstGeom prst="rect">
            <a:avLst/>
          </a:prstGeom>
          <a:noFill/>
          <a:ln/>
        </p:spPr>
        <p:txBody>
          <a:bodyPr wrap="square" lIns="25400" tIns="25400" rIns="25400" bIns="25400" rtlCol="0" anchor="t">
            <a:normAutofit/>
          </a:bodyPr>
          <a:lstStyle/>
          <a:p>
            <a:pPr algn="l" indent="0" marL="0">
              <a:lnSpc>
                <a:spcPct val="86667"/>
              </a:lnSpc>
              <a:buNone/>
            </a:pPr>
            <a:r>
              <a:rPr lang="en-US" sz="1387" b="1" dirty="0">
                <a:solidFill>
                  <a:srgbClr val="086690"/>
                </a:solidFill>
                <a:latin typeface="Arial" pitchFamily="34" charset="0"/>
                <a:ea typeface="Arial" pitchFamily="34" charset="-122"/>
                <a:cs typeface="Arial" pitchFamily="34" charset="-120"/>
              </a:rPr>
              <a:t>140</a:t>
            </a:r>
            <a:endParaRPr lang="en-US" sz="1387" dirty="0"/>
          </a:p>
        </p:txBody>
      </p:sp>
      <p:sp>
        <p:nvSpPr>
          <p:cNvPr id="93" name="Text 91"/>
          <p:cNvSpPr/>
          <p:nvPr/>
        </p:nvSpPr>
        <p:spPr>
          <a:xfrm>
            <a:off x="9615170" y="6291580"/>
            <a:ext cx="936466"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In a generated draw</a:t>
            </a:r>
            <a:endParaRPr lang="en-US" sz="667" dirty="0"/>
          </a:p>
        </p:txBody>
      </p:sp>
      <p:sp>
        <p:nvSpPr>
          <p:cNvPr id="94" name="Text 92"/>
          <p:cNvSpPr/>
          <p:nvPr/>
        </p:nvSpPr>
        <p:spPr>
          <a:xfrm>
            <a:off x="7122636" y="6619399"/>
            <a:ext cx="3814683"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A draw counts the athletes it was generated with, not today's entry list.</a:t>
            </a:r>
            <a:endParaRPr lang="en-US" sz="667" dirty="0"/>
          </a:p>
        </p:txBody>
      </p:sp>
      <p:sp>
        <p:nvSpPr>
          <p:cNvPr id="95" name="Shape 93"/>
          <p:cNvSpPr/>
          <p:nvPr/>
        </p:nvSpPr>
        <p:spPr>
          <a:xfrm>
            <a:off x="3017996" y="7301865"/>
            <a:ext cx="3820160" cy="1245235"/>
          </a:xfrm>
          <a:prstGeom prst="roundRect">
            <a:avLst>
              <a:gd name="adj" fmla="val 9791"/>
            </a:avLst>
          </a:prstGeom>
          <a:solidFill>
            <a:srgbClr val="FFFFFF"/>
          </a:solidFill>
          <a:ln/>
          <a:effectLst>
            <a:outerShdw sx="100000" sy="100000" kx="0" ky="0" algn="bl" rotWithShape="0" blurRad="152400" dist="38100" dir="5400000">
              <a:srgbClr val="10211D">
                <a:alpha val="7000"/>
              </a:srgbClr>
            </a:outerShdw>
          </a:effectLst>
        </p:spPr>
      </p:sp>
      <p:sp>
        <p:nvSpPr>
          <p:cNvPr id="96" name="Text 94"/>
          <p:cNvSpPr/>
          <p:nvPr/>
        </p:nvSpPr>
        <p:spPr>
          <a:xfrm>
            <a:off x="3194050" y="7450931"/>
            <a:ext cx="945833" cy="167005"/>
          </a:xfrm>
          <a:prstGeom prst="rect">
            <a:avLst/>
          </a:prstGeom>
          <a:noFill/>
          <a:ln/>
        </p:spPr>
        <p:txBody>
          <a:bodyPr wrap="square" lIns="25400" tIns="25400" rIns="25400" bIns="25400" rtlCol="0" anchor="t">
            <a:normAutofit/>
          </a:bodyPr>
          <a:lstStyle/>
          <a:p>
            <a:pPr algn="l" indent="0" marL="0">
              <a:lnSpc>
                <a:spcPct val="95166"/>
              </a:lnSpc>
              <a:buNone/>
            </a:pPr>
            <a:r>
              <a:rPr lang="en-US" sz="907" b="1" spc="-18" kern="0" dirty="0">
                <a:solidFill>
                  <a:srgbClr val="16211D"/>
                </a:solidFill>
                <a:latin typeface="Arial" pitchFamily="34" charset="0"/>
                <a:ea typeface="Arial" pitchFamily="34" charset="-122"/>
                <a:cs typeface="Arial" pitchFamily="34" charset="-120"/>
              </a:rPr>
              <a:t>Bout completion</a:t>
            </a:r>
            <a:endParaRPr lang="en-US" sz="907" dirty="0"/>
          </a:p>
        </p:txBody>
      </p:sp>
      <p:sp>
        <p:nvSpPr>
          <p:cNvPr id="97" name="Text 95"/>
          <p:cNvSpPr/>
          <p:nvPr/>
        </p:nvSpPr>
        <p:spPr>
          <a:xfrm>
            <a:off x="3194050" y="7674610"/>
            <a:ext cx="760413"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Contests decided</a:t>
            </a:r>
            <a:endParaRPr lang="en-US" sz="693" dirty="0"/>
          </a:p>
        </p:txBody>
      </p:sp>
      <p:sp>
        <p:nvSpPr>
          <p:cNvPr id="98" name="Text 96"/>
          <p:cNvSpPr/>
          <p:nvPr/>
        </p:nvSpPr>
        <p:spPr>
          <a:xfrm>
            <a:off x="6336665" y="7674610"/>
            <a:ext cx="401479"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b="1" dirty="0">
                <a:solidFill>
                  <a:srgbClr val="16211D"/>
                </a:solidFill>
                <a:latin typeface="Arial" pitchFamily="34" charset="0"/>
                <a:ea typeface="Arial" pitchFamily="34" charset="-122"/>
                <a:cs typeface="Arial" pitchFamily="34" charset="-120"/>
              </a:rPr>
              <a:t>96 / 214</a:t>
            </a:r>
            <a:endParaRPr lang="en-US" sz="693" dirty="0"/>
          </a:p>
        </p:txBody>
      </p:sp>
      <p:sp>
        <p:nvSpPr>
          <p:cNvPr id="99" name="Shape 97"/>
          <p:cNvSpPr/>
          <p:nvPr/>
        </p:nvSpPr>
        <p:spPr>
          <a:xfrm>
            <a:off x="3194050" y="7858442"/>
            <a:ext cx="3467894" cy="54134"/>
          </a:xfrm>
          <a:prstGeom prst="roundRect">
            <a:avLst>
              <a:gd name="adj" fmla="val 50000"/>
            </a:avLst>
          </a:prstGeom>
          <a:solidFill>
            <a:srgbClr val="E4EAE7"/>
          </a:solidFill>
          <a:ln/>
        </p:spPr>
      </p:sp>
      <p:sp>
        <p:nvSpPr>
          <p:cNvPr id="100" name="Shape 98"/>
          <p:cNvSpPr/>
          <p:nvPr/>
        </p:nvSpPr>
        <p:spPr>
          <a:xfrm>
            <a:off x="3194050" y="7858442"/>
            <a:ext cx="1560513" cy="54134"/>
          </a:xfrm>
          <a:prstGeom prst="roundRect">
            <a:avLst>
              <a:gd name="adj" fmla="val 50000"/>
            </a:avLst>
          </a:prstGeom>
          <a:solidFill>
            <a:srgbClr val="019A44"/>
          </a:solidFill>
          <a:ln/>
        </p:spPr>
      </p:sp>
      <p:sp>
        <p:nvSpPr>
          <p:cNvPr id="101" name="Text 99"/>
          <p:cNvSpPr/>
          <p:nvPr/>
        </p:nvSpPr>
        <p:spPr>
          <a:xfrm>
            <a:off x="3194050" y="7980362"/>
            <a:ext cx="3814683"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45% complete, byes excluded.</a:t>
            </a:r>
            <a:endParaRPr lang="en-US" sz="667" dirty="0"/>
          </a:p>
        </p:txBody>
      </p:sp>
      <p:sp>
        <p:nvSpPr>
          <p:cNvPr id="102" name="Shape 100"/>
          <p:cNvSpPr/>
          <p:nvPr/>
        </p:nvSpPr>
        <p:spPr>
          <a:xfrm>
            <a:off x="6946424" y="7301865"/>
            <a:ext cx="3820160" cy="1245235"/>
          </a:xfrm>
          <a:prstGeom prst="roundRect">
            <a:avLst>
              <a:gd name="adj" fmla="val 9791"/>
            </a:avLst>
          </a:prstGeom>
          <a:solidFill>
            <a:srgbClr val="FFFFFF"/>
          </a:solidFill>
          <a:ln/>
          <a:effectLst>
            <a:outerShdw sx="100000" sy="100000" kx="0" ky="0" algn="bl" rotWithShape="0" blurRad="152400" dist="38100" dir="5400000">
              <a:srgbClr val="10211D">
                <a:alpha val="7000"/>
              </a:srgbClr>
            </a:outerShdw>
          </a:effectLst>
        </p:spPr>
      </p:sp>
      <p:sp>
        <p:nvSpPr>
          <p:cNvPr id="103" name="Text 101"/>
          <p:cNvSpPr/>
          <p:nvPr/>
        </p:nvSpPr>
        <p:spPr>
          <a:xfrm>
            <a:off x="7122636" y="7450931"/>
            <a:ext cx="628967" cy="167005"/>
          </a:xfrm>
          <a:prstGeom prst="rect">
            <a:avLst/>
          </a:prstGeom>
          <a:noFill/>
          <a:ln/>
        </p:spPr>
        <p:txBody>
          <a:bodyPr wrap="square" lIns="25400" tIns="25400" rIns="25400" bIns="25400" rtlCol="0" anchor="t">
            <a:normAutofit/>
          </a:bodyPr>
          <a:lstStyle/>
          <a:p>
            <a:pPr algn="l" indent="0" marL="0">
              <a:lnSpc>
                <a:spcPct val="95166"/>
              </a:lnSpc>
              <a:buNone/>
            </a:pPr>
            <a:r>
              <a:rPr lang="en-US" sz="907" b="1" spc="-18" kern="0" dirty="0">
                <a:solidFill>
                  <a:srgbClr val="16211D"/>
                </a:solidFill>
                <a:latin typeface="Arial" pitchFamily="34" charset="0"/>
                <a:ea typeface="Arial" pitchFamily="34" charset="-122"/>
                <a:cs typeface="Arial" pitchFamily="34" charset="-120"/>
              </a:rPr>
              <a:t>Coming up</a:t>
            </a:r>
            <a:endParaRPr lang="en-US" sz="907" dirty="0"/>
          </a:p>
        </p:txBody>
      </p:sp>
      <p:sp>
        <p:nvSpPr>
          <p:cNvPr id="104" name="Text 102"/>
          <p:cNvSpPr/>
          <p:nvPr/>
        </p:nvSpPr>
        <p:spPr>
          <a:xfrm>
            <a:off x="9970611" y="7450931"/>
            <a:ext cx="696119"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b="1" dirty="0">
                <a:solidFill>
                  <a:srgbClr val="046830"/>
                </a:solidFill>
                <a:latin typeface="Arial" pitchFamily="34" charset="0"/>
                <a:ea typeface="Arial" pitchFamily="34" charset="-122"/>
                <a:cs typeface="Arial" pitchFamily="34" charset="-120"/>
              </a:rPr>
              <a:t>Venue screen ↗</a:t>
            </a:r>
            <a:endParaRPr lang="en-US" sz="667" dirty="0"/>
          </a:p>
        </p:txBody>
      </p:sp>
      <p:sp>
        <p:nvSpPr>
          <p:cNvPr id="105" name="Text 103"/>
          <p:cNvSpPr/>
          <p:nvPr/>
        </p:nvSpPr>
        <p:spPr>
          <a:xfrm>
            <a:off x="7122636" y="7717631"/>
            <a:ext cx="354171" cy="167481"/>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65726C"/>
                </a:solidFill>
                <a:latin typeface="Arial" pitchFamily="34" charset="0"/>
                <a:ea typeface="Arial" pitchFamily="34" charset="-122"/>
                <a:cs typeface="Arial" pitchFamily="34" charset="-120"/>
              </a:rPr>
              <a:t>No.</a:t>
            </a:r>
            <a:endParaRPr lang="en-US" sz="640" dirty="0"/>
          </a:p>
        </p:txBody>
      </p:sp>
      <p:sp>
        <p:nvSpPr>
          <p:cNvPr id="106" name="Text 104"/>
          <p:cNvSpPr/>
          <p:nvPr/>
        </p:nvSpPr>
        <p:spPr>
          <a:xfrm>
            <a:off x="7481887" y="7717631"/>
            <a:ext cx="466408" cy="167481"/>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65726C"/>
                </a:solidFill>
                <a:latin typeface="Arial" pitchFamily="34" charset="0"/>
                <a:ea typeface="Arial" pitchFamily="34" charset="-122"/>
                <a:cs typeface="Arial" pitchFamily="34" charset="-120"/>
              </a:rPr>
              <a:t>Class</a:t>
            </a:r>
            <a:endParaRPr lang="en-US" sz="640" dirty="0"/>
          </a:p>
        </p:txBody>
      </p:sp>
      <p:sp>
        <p:nvSpPr>
          <p:cNvPr id="107" name="Text 105"/>
          <p:cNvSpPr/>
          <p:nvPr/>
        </p:nvSpPr>
        <p:spPr>
          <a:xfrm>
            <a:off x="7953375" y="7717631"/>
            <a:ext cx="1318419" cy="167481"/>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65726C"/>
                </a:solidFill>
                <a:latin typeface="Arial" pitchFamily="34" charset="0"/>
                <a:ea typeface="Arial" pitchFamily="34" charset="-122"/>
                <a:cs typeface="Arial" pitchFamily="34" charset="-120"/>
              </a:rPr>
              <a:t>Blue</a:t>
            </a:r>
            <a:endParaRPr lang="en-US" sz="640" dirty="0"/>
          </a:p>
        </p:txBody>
      </p:sp>
      <p:sp>
        <p:nvSpPr>
          <p:cNvPr id="108" name="Text 106"/>
          <p:cNvSpPr/>
          <p:nvPr/>
        </p:nvSpPr>
        <p:spPr>
          <a:xfrm>
            <a:off x="9276874" y="7717631"/>
            <a:ext cx="1308576" cy="167481"/>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65726C"/>
                </a:solidFill>
                <a:latin typeface="Arial" pitchFamily="34" charset="0"/>
                <a:ea typeface="Arial" pitchFamily="34" charset="-122"/>
                <a:cs typeface="Arial" pitchFamily="34" charset="-120"/>
              </a:rPr>
              <a:t>Green</a:t>
            </a:r>
            <a:endParaRPr lang="en-US" sz="640" dirty="0"/>
          </a:p>
        </p:txBody>
      </p:sp>
      <p:sp>
        <p:nvSpPr>
          <p:cNvPr id="109" name="Shape 107"/>
          <p:cNvSpPr/>
          <p:nvPr/>
        </p:nvSpPr>
        <p:spPr>
          <a:xfrm>
            <a:off x="7122636" y="7887652"/>
            <a:ext cx="359251" cy="9525"/>
          </a:xfrm>
          <a:prstGeom prst="rect">
            <a:avLst/>
          </a:prstGeom>
          <a:solidFill>
            <a:srgbClr val="E4EAE7"/>
          </a:solidFill>
          <a:ln/>
        </p:spPr>
      </p:sp>
      <p:sp>
        <p:nvSpPr>
          <p:cNvPr id="110" name="Text 108"/>
          <p:cNvSpPr/>
          <p:nvPr/>
        </p:nvSpPr>
        <p:spPr>
          <a:xfrm>
            <a:off x="7122636" y="7948612"/>
            <a:ext cx="354171" cy="179811"/>
          </a:xfrm>
          <a:prstGeom prst="rect">
            <a:avLst/>
          </a:prstGeom>
          <a:noFill/>
          <a:ln/>
        </p:spPr>
        <p:txBody>
          <a:bodyPr wrap="square" lIns="25400" tIns="25400" rIns="25400" bIns="25400" rtlCol="0" anchor="ctr">
            <a:normAutofit/>
          </a:bodyPr>
          <a:lstStyle/>
          <a:p>
            <a:pPr algn="l" indent="0" marL="0">
              <a:lnSpc>
                <a:spcPct val="130833"/>
              </a:lnSpc>
              <a:buNone/>
            </a:pPr>
            <a:r>
              <a:rPr lang="en-US" sz="720" b="1" dirty="0">
                <a:solidFill>
                  <a:srgbClr val="16211D"/>
                </a:solidFill>
                <a:latin typeface="Arial" pitchFamily="34" charset="0"/>
                <a:ea typeface="Arial" pitchFamily="34" charset="-122"/>
                <a:cs typeface="Arial" pitchFamily="34" charset="-120"/>
              </a:rPr>
              <a:t>41</a:t>
            </a:r>
            <a:endParaRPr lang="en-US" sz="720" dirty="0"/>
          </a:p>
        </p:txBody>
      </p:sp>
      <p:sp>
        <p:nvSpPr>
          <p:cNvPr id="111" name="Shape 109"/>
          <p:cNvSpPr/>
          <p:nvPr/>
        </p:nvSpPr>
        <p:spPr>
          <a:xfrm>
            <a:off x="7481887" y="7887652"/>
            <a:ext cx="471488" cy="9525"/>
          </a:xfrm>
          <a:prstGeom prst="rect">
            <a:avLst/>
          </a:prstGeom>
          <a:solidFill>
            <a:srgbClr val="E4EAE7"/>
          </a:solidFill>
          <a:ln/>
        </p:spPr>
      </p:sp>
      <p:sp>
        <p:nvSpPr>
          <p:cNvPr id="112" name="Text 110"/>
          <p:cNvSpPr/>
          <p:nvPr/>
        </p:nvSpPr>
        <p:spPr>
          <a:xfrm>
            <a:off x="7481887" y="7948612"/>
            <a:ext cx="466408" cy="179811"/>
          </a:xfrm>
          <a:prstGeom prst="rect">
            <a:avLst/>
          </a:prstGeom>
          <a:noFill/>
          <a:ln/>
        </p:spPr>
        <p:txBody>
          <a:bodyPr wrap="square" lIns="25400" tIns="25400" rIns="25400" bIns="25400" rtlCol="0" anchor="ctr">
            <a:normAutofit/>
          </a:bodyPr>
          <a:lstStyle/>
          <a:p>
            <a:pPr algn="l" indent="0" marL="0">
              <a:lnSpc>
                <a:spcPct val="130833"/>
              </a:lnSpc>
              <a:buNone/>
            </a:pPr>
            <a:r>
              <a:rPr lang="en-US" sz="720" dirty="0">
                <a:solidFill>
                  <a:srgbClr val="65726C"/>
                </a:solidFill>
                <a:latin typeface="Arial" pitchFamily="34" charset="0"/>
                <a:ea typeface="Arial" pitchFamily="34" charset="-122"/>
                <a:cs typeface="Arial" pitchFamily="34" charset="-120"/>
              </a:rPr>
              <a:t>−60</a:t>
            </a:r>
            <a:endParaRPr lang="en-US" sz="720" dirty="0"/>
          </a:p>
        </p:txBody>
      </p:sp>
      <p:sp>
        <p:nvSpPr>
          <p:cNvPr id="113" name="Shape 111"/>
          <p:cNvSpPr/>
          <p:nvPr/>
        </p:nvSpPr>
        <p:spPr>
          <a:xfrm>
            <a:off x="7953375" y="7887652"/>
            <a:ext cx="1323499" cy="9525"/>
          </a:xfrm>
          <a:prstGeom prst="rect">
            <a:avLst/>
          </a:prstGeom>
          <a:solidFill>
            <a:srgbClr val="E4EAE7"/>
          </a:solidFill>
          <a:ln/>
        </p:spPr>
      </p:sp>
      <p:sp>
        <p:nvSpPr>
          <p:cNvPr id="114" name="Text 112"/>
          <p:cNvSpPr/>
          <p:nvPr/>
        </p:nvSpPr>
        <p:spPr>
          <a:xfrm>
            <a:off x="7953375" y="7948612"/>
            <a:ext cx="1318419" cy="179811"/>
          </a:xfrm>
          <a:prstGeom prst="rect">
            <a:avLst/>
          </a:prstGeom>
          <a:noFill/>
          <a:ln/>
        </p:spPr>
        <p:txBody>
          <a:bodyPr wrap="square" lIns="25400" tIns="25400" rIns="25400" bIns="25400" rtlCol="0" anchor="ctr">
            <a:normAutofit/>
          </a:bodyPr>
          <a:lstStyle/>
          <a:p>
            <a:pPr algn="l" indent="0" marL="0">
              <a:lnSpc>
                <a:spcPct val="130833"/>
              </a:lnSpc>
              <a:buNone/>
            </a:pPr>
            <a:r>
              <a:rPr lang="en-US" sz="720" dirty="0">
                <a:solidFill>
                  <a:srgbClr val="16211D"/>
                </a:solidFill>
                <a:latin typeface="Arial" pitchFamily="34" charset="0"/>
                <a:ea typeface="Arial" pitchFamily="34" charset="-122"/>
                <a:cs typeface="Arial" pitchFamily="34" charset="-120"/>
              </a:rPr>
              <a:t>Abdullaev, Timur</a:t>
            </a:r>
            <a:endParaRPr lang="en-US" sz="720" dirty="0"/>
          </a:p>
        </p:txBody>
      </p:sp>
      <p:sp>
        <p:nvSpPr>
          <p:cNvPr id="115" name="Shape 113"/>
          <p:cNvSpPr/>
          <p:nvPr/>
        </p:nvSpPr>
        <p:spPr>
          <a:xfrm>
            <a:off x="9276874" y="7887652"/>
            <a:ext cx="1313656" cy="9525"/>
          </a:xfrm>
          <a:prstGeom prst="rect">
            <a:avLst/>
          </a:prstGeom>
          <a:solidFill>
            <a:srgbClr val="E4EAE7"/>
          </a:solidFill>
          <a:ln/>
        </p:spPr>
      </p:sp>
      <p:sp>
        <p:nvSpPr>
          <p:cNvPr id="116" name="Text 114"/>
          <p:cNvSpPr/>
          <p:nvPr/>
        </p:nvSpPr>
        <p:spPr>
          <a:xfrm>
            <a:off x="9276874" y="7948612"/>
            <a:ext cx="1308576" cy="179811"/>
          </a:xfrm>
          <a:prstGeom prst="rect">
            <a:avLst/>
          </a:prstGeom>
          <a:noFill/>
          <a:ln/>
        </p:spPr>
        <p:txBody>
          <a:bodyPr wrap="square" lIns="25400" tIns="25400" rIns="25400" bIns="25400" rtlCol="0" anchor="ctr">
            <a:normAutofit/>
          </a:bodyPr>
          <a:lstStyle/>
          <a:p>
            <a:pPr algn="l" indent="0" marL="0">
              <a:lnSpc>
                <a:spcPct val="130833"/>
              </a:lnSpc>
              <a:buNone/>
            </a:pPr>
            <a:r>
              <a:rPr lang="en-US" sz="720" dirty="0">
                <a:solidFill>
                  <a:srgbClr val="16211D"/>
                </a:solidFill>
                <a:latin typeface="Arial" pitchFamily="34" charset="0"/>
                <a:ea typeface="Arial" pitchFamily="34" charset="-122"/>
                <a:cs typeface="Arial" pitchFamily="34" charset="-120"/>
              </a:rPr>
              <a:t>Serikov, Daulet</a:t>
            </a:r>
            <a:endParaRPr lang="en-US" sz="720" dirty="0"/>
          </a:p>
        </p:txBody>
      </p:sp>
      <p:sp>
        <p:nvSpPr>
          <p:cNvPr id="117" name="Shape 115"/>
          <p:cNvSpPr/>
          <p:nvPr/>
        </p:nvSpPr>
        <p:spPr>
          <a:xfrm>
            <a:off x="7122636" y="8144510"/>
            <a:ext cx="359251" cy="9525"/>
          </a:xfrm>
          <a:prstGeom prst="rect">
            <a:avLst/>
          </a:prstGeom>
          <a:solidFill>
            <a:srgbClr val="E4EAE7"/>
          </a:solidFill>
          <a:ln/>
        </p:spPr>
      </p:sp>
      <p:sp>
        <p:nvSpPr>
          <p:cNvPr id="118" name="Text 116"/>
          <p:cNvSpPr/>
          <p:nvPr/>
        </p:nvSpPr>
        <p:spPr>
          <a:xfrm>
            <a:off x="7122636" y="8205470"/>
            <a:ext cx="354171" cy="176477"/>
          </a:xfrm>
          <a:prstGeom prst="rect">
            <a:avLst/>
          </a:prstGeom>
          <a:noFill/>
          <a:ln/>
        </p:spPr>
        <p:txBody>
          <a:bodyPr wrap="square" lIns="25400" tIns="25400" rIns="25400" bIns="25400" rtlCol="0" anchor="ctr">
            <a:normAutofit/>
          </a:bodyPr>
          <a:lstStyle/>
          <a:p>
            <a:pPr algn="l" indent="0" marL="0">
              <a:lnSpc>
                <a:spcPct val="130833"/>
              </a:lnSpc>
              <a:buNone/>
            </a:pPr>
            <a:r>
              <a:rPr lang="en-US" sz="720" b="1" dirty="0">
                <a:solidFill>
                  <a:srgbClr val="16211D"/>
                </a:solidFill>
                <a:latin typeface="Arial" pitchFamily="34" charset="0"/>
                <a:ea typeface="Arial" pitchFamily="34" charset="-122"/>
                <a:cs typeface="Arial" pitchFamily="34" charset="-120"/>
              </a:rPr>
              <a:t>42</a:t>
            </a:r>
            <a:endParaRPr lang="en-US" sz="720" dirty="0"/>
          </a:p>
        </p:txBody>
      </p:sp>
      <p:sp>
        <p:nvSpPr>
          <p:cNvPr id="119" name="Shape 117"/>
          <p:cNvSpPr/>
          <p:nvPr/>
        </p:nvSpPr>
        <p:spPr>
          <a:xfrm>
            <a:off x="7481887" y="8144510"/>
            <a:ext cx="471488" cy="9525"/>
          </a:xfrm>
          <a:prstGeom prst="rect">
            <a:avLst/>
          </a:prstGeom>
          <a:solidFill>
            <a:srgbClr val="E4EAE7"/>
          </a:solidFill>
          <a:ln/>
        </p:spPr>
      </p:sp>
      <p:sp>
        <p:nvSpPr>
          <p:cNvPr id="120" name="Text 118"/>
          <p:cNvSpPr/>
          <p:nvPr/>
        </p:nvSpPr>
        <p:spPr>
          <a:xfrm>
            <a:off x="7481887" y="8205470"/>
            <a:ext cx="466408" cy="176477"/>
          </a:xfrm>
          <a:prstGeom prst="rect">
            <a:avLst/>
          </a:prstGeom>
          <a:noFill/>
          <a:ln/>
        </p:spPr>
        <p:txBody>
          <a:bodyPr wrap="square" lIns="25400" tIns="25400" rIns="25400" bIns="25400" rtlCol="0" anchor="ctr">
            <a:normAutofit/>
          </a:bodyPr>
          <a:lstStyle/>
          <a:p>
            <a:pPr algn="l" indent="0" marL="0">
              <a:lnSpc>
                <a:spcPct val="130833"/>
              </a:lnSpc>
              <a:buNone/>
            </a:pPr>
            <a:r>
              <a:rPr lang="en-US" sz="720" dirty="0">
                <a:solidFill>
                  <a:srgbClr val="65726C"/>
                </a:solidFill>
                <a:latin typeface="Arial" pitchFamily="34" charset="0"/>
                <a:ea typeface="Arial" pitchFamily="34" charset="-122"/>
                <a:cs typeface="Arial" pitchFamily="34" charset="-120"/>
              </a:rPr>
              <a:t>−66</a:t>
            </a:r>
            <a:endParaRPr lang="en-US" sz="720" dirty="0"/>
          </a:p>
        </p:txBody>
      </p:sp>
      <p:sp>
        <p:nvSpPr>
          <p:cNvPr id="121" name="Shape 119"/>
          <p:cNvSpPr/>
          <p:nvPr/>
        </p:nvSpPr>
        <p:spPr>
          <a:xfrm>
            <a:off x="7953375" y="8144510"/>
            <a:ext cx="1323499" cy="9525"/>
          </a:xfrm>
          <a:prstGeom prst="rect">
            <a:avLst/>
          </a:prstGeom>
          <a:solidFill>
            <a:srgbClr val="E4EAE7"/>
          </a:solidFill>
          <a:ln/>
        </p:spPr>
      </p:sp>
      <p:sp>
        <p:nvSpPr>
          <p:cNvPr id="122" name="Text 120"/>
          <p:cNvSpPr/>
          <p:nvPr/>
        </p:nvSpPr>
        <p:spPr>
          <a:xfrm>
            <a:off x="7953375" y="8205470"/>
            <a:ext cx="1318419" cy="176477"/>
          </a:xfrm>
          <a:prstGeom prst="rect">
            <a:avLst/>
          </a:prstGeom>
          <a:noFill/>
          <a:ln/>
        </p:spPr>
        <p:txBody>
          <a:bodyPr wrap="square" lIns="25400" tIns="25400" rIns="25400" bIns="25400" rtlCol="0" anchor="ctr">
            <a:normAutofit/>
          </a:bodyPr>
          <a:lstStyle/>
          <a:p>
            <a:pPr algn="l" indent="0" marL="0">
              <a:lnSpc>
                <a:spcPct val="130833"/>
              </a:lnSpc>
              <a:buNone/>
            </a:pPr>
            <a:r>
              <a:rPr lang="en-US" sz="720" dirty="0">
                <a:solidFill>
                  <a:srgbClr val="16211D"/>
                </a:solidFill>
                <a:latin typeface="Arial" pitchFamily="34" charset="0"/>
                <a:ea typeface="Arial" pitchFamily="34" charset="-122"/>
                <a:cs typeface="Arial" pitchFamily="34" charset="-120"/>
              </a:rPr>
              <a:t>Choi, Jae-won</a:t>
            </a:r>
            <a:endParaRPr lang="en-US" sz="720" dirty="0"/>
          </a:p>
        </p:txBody>
      </p:sp>
      <p:sp>
        <p:nvSpPr>
          <p:cNvPr id="123" name="Shape 121"/>
          <p:cNvSpPr/>
          <p:nvPr/>
        </p:nvSpPr>
        <p:spPr>
          <a:xfrm>
            <a:off x="9276874" y="8144510"/>
            <a:ext cx="1313656" cy="9525"/>
          </a:xfrm>
          <a:prstGeom prst="rect">
            <a:avLst/>
          </a:prstGeom>
          <a:solidFill>
            <a:srgbClr val="E4EAE7"/>
          </a:solidFill>
          <a:ln/>
        </p:spPr>
      </p:sp>
      <p:sp>
        <p:nvSpPr>
          <p:cNvPr id="124" name="Text 122"/>
          <p:cNvSpPr/>
          <p:nvPr/>
        </p:nvSpPr>
        <p:spPr>
          <a:xfrm>
            <a:off x="9276874" y="8205470"/>
            <a:ext cx="1308576" cy="176477"/>
          </a:xfrm>
          <a:prstGeom prst="rect">
            <a:avLst/>
          </a:prstGeom>
          <a:noFill/>
          <a:ln/>
        </p:spPr>
        <p:txBody>
          <a:bodyPr wrap="square" lIns="25400" tIns="25400" rIns="25400" bIns="25400" rtlCol="0" anchor="ctr">
            <a:normAutofit/>
          </a:bodyPr>
          <a:lstStyle/>
          <a:p>
            <a:pPr algn="l" indent="0" marL="0">
              <a:lnSpc>
                <a:spcPct val="130833"/>
              </a:lnSpc>
              <a:buNone/>
            </a:pPr>
            <a:r>
              <a:rPr lang="en-US" sz="720" dirty="0">
                <a:solidFill>
                  <a:srgbClr val="16211D"/>
                </a:solidFill>
                <a:latin typeface="Arial" pitchFamily="34" charset="0"/>
                <a:ea typeface="Arial" pitchFamily="34" charset="-122"/>
                <a:cs typeface="Arial" pitchFamily="34" charset="-120"/>
              </a:rPr>
              <a:t>Kadyrov, Azamat</a:t>
            </a:r>
            <a:endParaRPr lang="en-US" sz="720" dirty="0"/>
          </a:p>
        </p:txBody>
      </p:sp>
      <p:sp>
        <p:nvSpPr>
          <p:cNvPr id="125" name="Text 123"/>
          <p:cNvSpPr/>
          <p:nvPr/>
        </p:nvSpPr>
        <p:spPr>
          <a:xfrm>
            <a:off x="11353800" y="32004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Blockers, not activity</a:t>
            </a:r>
            <a:endParaRPr lang="en-US" sz="2550" dirty="0"/>
          </a:p>
        </p:txBody>
      </p:sp>
      <p:sp>
        <p:nvSpPr>
          <p:cNvPr id="126" name="Text 124"/>
          <p:cNvSpPr/>
          <p:nvPr/>
        </p:nvSpPr>
        <p:spPr>
          <a:xfrm>
            <a:off x="11353800" y="3696811"/>
            <a:ext cx="596493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A contest being fought is not a problem, so it is not listed here. The panel carries only what stops the event — an undrawn class, an athlete outside their weight, a mat with no referee — each with the screen that fixes it.</a:t>
            </a:r>
            <a:endParaRPr lang="en-US" sz="2100" dirty="0"/>
          </a:p>
        </p:txBody>
      </p:sp>
      <p:sp>
        <p:nvSpPr>
          <p:cNvPr id="127" name="Text 125"/>
          <p:cNvSpPr/>
          <p:nvPr/>
        </p:nvSpPr>
        <p:spPr>
          <a:xfrm>
            <a:off x="11353800" y="61722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Every figure is a door</a:t>
            </a:r>
            <a:endParaRPr lang="en-US" sz="2550" dirty="0"/>
          </a:p>
        </p:txBody>
      </p:sp>
      <p:sp>
        <p:nvSpPr>
          <p:cNvPr id="128" name="Text 126"/>
          <p:cNvSpPr/>
          <p:nvPr/>
        </p:nvSpPr>
        <p:spPr>
          <a:xfrm>
            <a:off x="11353800" y="6668612"/>
            <a:ext cx="5964936" cy="11353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The counts link to the screens they are counted on, and the venue screens open in their own windows so the desk never loses its place.</a:t>
            </a:r>
            <a:endParaRPr lang="en-US" sz="2100" dirty="0"/>
          </a:p>
        </p:txBody>
      </p:sp>
      <p:pic>
        <p:nvPicPr>
          <p:cNvPr id="129" name="Image 0" descr="preencoded.png">    </p:cNvPr>
          <p:cNvPicPr>
            <a:picLocks noChangeAspect="1"/>
          </p:cNvPicPr>
          <p:nvPr/>
        </p:nvPicPr>
        <p:blipFill>
          <a:blip r:embed="rId1"/>
          <a:stretch>
            <a:fillRect/>
          </a:stretch>
        </p:blipFill>
        <p:spPr>
          <a:xfrm>
            <a:off x="1143000" y="8987155"/>
            <a:ext cx="3261360" cy="15684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01 · THE COMPETITION DAY</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The day, stage by stage</a:t>
            </a:r>
            <a:endParaRPr lang="en-US" sz="4800" dirty="0"/>
          </a:p>
        </p:txBody>
      </p:sp>
      <p:pic>
        <p:nvPicPr>
          <p:cNvPr id="4"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143000" y="2743200"/>
            <a:ext cx="16002000" cy="2286000"/>
          </a:xfrm>
          <a:prstGeom prst="rect">
            <a:avLst/>
          </a:prstGeom>
        </p:spPr>
      </p:pic>
      <p:sp>
        <p:nvSpPr>
          <p:cNvPr id="5" name="Text 2"/>
          <p:cNvSpPr/>
          <p:nvPr/>
        </p:nvSpPr>
        <p:spPr>
          <a:xfrm>
            <a:off x="1143000" y="5780246"/>
            <a:ext cx="13215620" cy="201454"/>
          </a:xfrm>
          <a:prstGeom prst="rect">
            <a:avLst/>
          </a:prstGeom>
          <a:noFill/>
          <a:ln/>
        </p:spPr>
        <p:txBody>
          <a:bodyPr wrap="square" lIns="25400" tIns="25400" rIns="25400" bIns="25400" rtlCol="0" anchor="t">
            <a:normAutofit/>
          </a:bodyPr>
          <a:lstStyle/>
          <a:p>
            <a:pPr algn="l" indent="0" marL="0">
              <a:lnSpc>
                <a:spcPct val="165517"/>
              </a:lnSpc>
              <a:buNone/>
            </a:pPr>
            <a:r>
              <a:rPr lang="en-US" sz="1875" dirty="0">
                <a:solidFill>
                  <a:srgbClr val="201E1D">
                    <a:alpha val="55000"/>
                  </a:srgbClr>
                </a:solidFill>
                <a:latin typeface="Arial" pitchFamily="34" charset="0"/>
                <a:ea typeface="Arial" pitchFamily="34" charset="-122"/>
                <a:cs typeface="Arial" pitchFamily="34" charset="-120"/>
              </a:rPr>
              <a:t>The application is arranged in the order an event runs, and each stage is gated by the one before it.</a:t>
            </a:r>
            <a:endParaRPr lang="en-US" sz="1875" dirty="0"/>
          </a:p>
        </p:txBody>
      </p:sp>
      <p:pic>
        <p:nvPicPr>
          <p:cNvPr id="6" name="Image 1" descr="preencoded.png">    </p:cNvPr>
          <p:cNvPicPr>
            <a:picLocks noChangeAspect="1"/>
          </p:cNvPicPr>
          <p:nvPr/>
        </p:nvPicPr>
        <p:blipFill>
          <a:blip r:embed="rId3"/>
          <a:stretch>
            <a:fillRect/>
          </a:stretch>
        </p:blipFill>
        <p:spPr>
          <a:xfrm>
            <a:off x="1143000" y="8987155"/>
            <a:ext cx="3261360" cy="15684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01 · THE COMPETITION DAY</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Registration and the entry spreadsheet</a:t>
            </a:r>
            <a:endParaRPr lang="en-US" sz="4800" dirty="0"/>
          </a:p>
        </p:txBody>
      </p:sp>
      <p:sp>
        <p:nvSpPr>
          <p:cNvPr id="4" name="Shape 2"/>
          <p:cNvSpPr/>
          <p:nvPr/>
        </p:nvSpPr>
        <p:spPr>
          <a:xfrm>
            <a:off x="1143000" y="3190875"/>
            <a:ext cx="7772400" cy="19050"/>
          </a:xfrm>
          <a:prstGeom prst="rect">
            <a:avLst/>
          </a:prstGeom>
          <a:solidFill>
            <a:srgbClr val="201E1D">
              <a:alpha val="40000"/>
            </a:srgbClr>
          </a:solidFill>
          <a:ln/>
        </p:spPr>
      </p:sp>
      <p:sp>
        <p:nvSpPr>
          <p:cNvPr id="5" name="Text 3"/>
          <p:cNvSpPr/>
          <p:nvPr/>
        </p:nvSpPr>
        <p:spPr>
          <a:xfrm>
            <a:off x="1143000" y="3435509"/>
            <a:ext cx="854964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The importer reads twice</a:t>
            </a:r>
            <a:endParaRPr lang="en-US" sz="2550" dirty="0"/>
          </a:p>
        </p:txBody>
      </p:sp>
      <p:sp>
        <p:nvSpPr>
          <p:cNvPr id="6" name="Text 4"/>
          <p:cNvSpPr/>
          <p:nvPr/>
        </p:nvSpPr>
        <p:spPr>
          <a:xfrm>
            <a:off x="1143000" y="3931920"/>
            <a:ext cx="8005572" cy="15925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solidFill>
                <a:latin typeface="Arial" pitchFamily="34" charset="0"/>
                <a:ea typeface="Arial" pitchFamily="34" charset="-122"/>
                <a:cs typeface="Arial" pitchFamily="34" charset="-120"/>
              </a:rPr>
              <a:t>The first pass touches nothing and reports what every row would do. The second writes the rows that were ready, in one transaction. An official sees what is wrong before anything is saved, and a file that is half wrong still registers the half that is right.</a:t>
            </a:r>
            <a:endParaRPr lang="en-US" sz="2100" dirty="0"/>
          </a:p>
        </p:txBody>
      </p:sp>
      <p:sp>
        <p:nvSpPr>
          <p:cNvPr id="7" name="Shape 5"/>
          <p:cNvSpPr/>
          <p:nvPr/>
        </p:nvSpPr>
        <p:spPr>
          <a:xfrm>
            <a:off x="9372600" y="3190875"/>
            <a:ext cx="7772400" cy="19050"/>
          </a:xfrm>
          <a:prstGeom prst="rect">
            <a:avLst/>
          </a:prstGeom>
          <a:solidFill>
            <a:srgbClr val="201E1D">
              <a:alpha val="40000"/>
            </a:srgbClr>
          </a:solidFill>
          <a:ln/>
        </p:spPr>
      </p:sp>
      <p:sp>
        <p:nvSpPr>
          <p:cNvPr id="8" name="Text 6"/>
          <p:cNvSpPr/>
          <p:nvPr/>
        </p:nvSpPr>
        <p:spPr>
          <a:xfrm>
            <a:off x="9372600" y="3435509"/>
            <a:ext cx="854964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Row numbers and country codes</a:t>
            </a:r>
            <a:endParaRPr lang="en-US" sz="2550" dirty="0"/>
          </a:p>
        </p:txBody>
      </p:sp>
      <p:sp>
        <p:nvSpPr>
          <p:cNvPr id="9" name="Text 7"/>
          <p:cNvSpPr/>
          <p:nvPr/>
        </p:nvSpPr>
        <p:spPr>
          <a:xfrm>
            <a:off x="9372600" y="3931920"/>
            <a:ext cx="8005572" cy="15925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solidFill>
                <a:latin typeface="Arial" pitchFamily="34" charset="0"/>
                <a:ea typeface="Arial" pitchFamily="34" charset="-122"/>
                <a:cs typeface="Arial" pitchFamily="34" charset="-120"/>
              </a:rPr>
              <a:t>Row numbers are the workbook’s own, heading row included, so a bad row can be found in the file the official is looking at. IOC codes map to flags through a hand-kept table — BRN is Bahrain, IRI is Iran, KSA and RSA are not interchangeable.</a:t>
            </a:r>
            <a:endParaRPr lang="en-US" sz="2100" dirty="0"/>
          </a:p>
        </p:txBody>
      </p:sp>
      <p:pic>
        <p:nvPicPr>
          <p:cNvPr id="10" name="Image 0" descr="preencoded.png">    </p:cNvPr>
          <p:cNvPicPr>
            <a:picLocks noChangeAspect="1"/>
          </p:cNvPicPr>
          <p:nvPr/>
        </p:nvPicPr>
        <p:blipFill>
          <a:blip r:embed="rId1"/>
          <a:stretch>
            <a:fillRect/>
          </a:stretch>
        </p:blipFill>
        <p:spPr>
          <a:xfrm>
            <a:off x="1143000" y="8987155"/>
            <a:ext cx="3261360" cy="15684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01 · THE COMPETITION DAY</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The weigh-in window</a:t>
            </a:r>
            <a:endParaRPr lang="en-US" sz="4800" dirty="0"/>
          </a:p>
        </p:txBody>
      </p:sp>
      <p:sp>
        <p:nvSpPr>
          <p:cNvPr id="4" name="Shape 2"/>
          <p:cNvSpPr/>
          <p:nvPr/>
        </p:nvSpPr>
        <p:spPr>
          <a:xfrm>
            <a:off x="1143000" y="3848100"/>
            <a:ext cx="2276634" cy="19050"/>
          </a:xfrm>
          <a:prstGeom prst="rect">
            <a:avLst/>
          </a:prstGeom>
          <a:solidFill>
            <a:srgbClr val="201E1D">
              <a:alpha val="40000"/>
            </a:srgbClr>
          </a:solidFill>
          <a:ln/>
        </p:spPr>
      </p:sp>
      <p:sp>
        <p:nvSpPr>
          <p:cNvPr id="5" name="Text 3"/>
          <p:cNvSpPr/>
          <p:nvPr/>
        </p:nvSpPr>
        <p:spPr>
          <a:xfrm>
            <a:off x="1143000" y="3200400"/>
            <a:ext cx="2124234" cy="685800"/>
          </a:xfrm>
          <a:prstGeom prst="rect">
            <a:avLst/>
          </a:prstGeom>
          <a:noFill/>
          <a:ln/>
        </p:spPr>
        <p:txBody>
          <a:bodyPr wrap="square" lIns="25400" tIns="25400" rIns="25400" bIns="25400" rtlCol="0" anchor="ctr">
            <a:normAutofit/>
          </a:bodyPr>
          <a:lstStyle/>
          <a:p>
            <a:pPr algn="l" indent="0" marL="0">
              <a:lnSpc>
                <a:spcPct val="107143"/>
              </a:lnSpc>
              <a:buNone/>
            </a:pPr>
            <a:r>
              <a:rPr lang="en-US" sz="1800" b="1" spc="144" kern="0" dirty="0">
                <a:solidFill>
                  <a:srgbClr val="201E1D">
                    <a:alpha val="60000"/>
                  </a:srgbClr>
                </a:solidFill>
                <a:latin typeface="Arial" pitchFamily="34" charset="0"/>
                <a:ea typeface="Arial" pitchFamily="34" charset="-122"/>
                <a:cs typeface="Arial" pitchFamily="34" charset="-120"/>
              </a:rPr>
              <a:t>CLASS</a:t>
            </a:r>
            <a:endParaRPr lang="en-US" sz="1800" dirty="0"/>
          </a:p>
        </p:txBody>
      </p:sp>
      <p:sp>
        <p:nvSpPr>
          <p:cNvPr id="6" name="Shape 4"/>
          <p:cNvSpPr/>
          <p:nvPr/>
        </p:nvSpPr>
        <p:spPr>
          <a:xfrm>
            <a:off x="3419634" y="3848100"/>
            <a:ext cx="2654300" cy="19050"/>
          </a:xfrm>
          <a:prstGeom prst="rect">
            <a:avLst/>
          </a:prstGeom>
          <a:solidFill>
            <a:srgbClr val="201E1D">
              <a:alpha val="40000"/>
            </a:srgbClr>
          </a:solidFill>
          <a:ln/>
        </p:spPr>
      </p:sp>
      <p:sp>
        <p:nvSpPr>
          <p:cNvPr id="7" name="Text 5"/>
          <p:cNvSpPr/>
          <p:nvPr/>
        </p:nvSpPr>
        <p:spPr>
          <a:xfrm>
            <a:off x="3648234" y="3200400"/>
            <a:ext cx="2276729" cy="685800"/>
          </a:xfrm>
          <a:prstGeom prst="rect">
            <a:avLst/>
          </a:prstGeom>
          <a:noFill/>
          <a:ln/>
        </p:spPr>
        <p:txBody>
          <a:bodyPr wrap="square" lIns="25400" tIns="25400" rIns="25400" bIns="25400" rtlCol="0" anchor="ctr">
            <a:normAutofit/>
          </a:bodyPr>
          <a:lstStyle/>
          <a:p>
            <a:pPr algn="l" indent="0" marL="0">
              <a:lnSpc>
                <a:spcPct val="107143"/>
              </a:lnSpc>
              <a:buNone/>
            </a:pPr>
            <a:r>
              <a:rPr lang="en-US" sz="1800" b="1" spc="144" kern="0" dirty="0">
                <a:solidFill>
                  <a:srgbClr val="201E1D">
                    <a:alpha val="60000"/>
                  </a:srgbClr>
                </a:solidFill>
                <a:latin typeface="Arial" pitchFamily="34" charset="0"/>
                <a:ea typeface="Arial" pitchFamily="34" charset="-122"/>
                <a:cs typeface="Arial" pitchFamily="34" charset="-120"/>
              </a:rPr>
              <a:t>FROM</a:t>
            </a:r>
            <a:endParaRPr lang="en-US" sz="1800" dirty="0"/>
          </a:p>
        </p:txBody>
      </p:sp>
      <p:sp>
        <p:nvSpPr>
          <p:cNvPr id="8" name="Shape 6"/>
          <p:cNvSpPr/>
          <p:nvPr/>
        </p:nvSpPr>
        <p:spPr>
          <a:xfrm>
            <a:off x="6073934" y="3848100"/>
            <a:ext cx="2236946" cy="19050"/>
          </a:xfrm>
          <a:prstGeom prst="rect">
            <a:avLst/>
          </a:prstGeom>
          <a:solidFill>
            <a:srgbClr val="201E1D">
              <a:alpha val="40000"/>
            </a:srgbClr>
          </a:solidFill>
          <a:ln/>
        </p:spPr>
      </p:sp>
      <p:sp>
        <p:nvSpPr>
          <p:cNvPr id="9" name="Text 7"/>
          <p:cNvSpPr/>
          <p:nvPr/>
        </p:nvSpPr>
        <p:spPr>
          <a:xfrm>
            <a:off x="6302534" y="3200400"/>
            <a:ext cx="1855946" cy="685800"/>
          </a:xfrm>
          <a:prstGeom prst="rect">
            <a:avLst/>
          </a:prstGeom>
          <a:noFill/>
          <a:ln/>
        </p:spPr>
        <p:txBody>
          <a:bodyPr wrap="square" lIns="25400" tIns="25400" rIns="25400" bIns="25400" rtlCol="0" anchor="ctr">
            <a:normAutofit/>
          </a:bodyPr>
          <a:lstStyle/>
          <a:p>
            <a:pPr algn="l" indent="0" marL="0">
              <a:lnSpc>
                <a:spcPct val="107143"/>
              </a:lnSpc>
              <a:buNone/>
            </a:pPr>
            <a:r>
              <a:rPr lang="en-US" sz="1800" b="1" spc="144" kern="0" dirty="0">
                <a:solidFill>
                  <a:srgbClr val="201E1D">
                    <a:alpha val="60000"/>
                  </a:srgbClr>
                </a:solidFill>
                <a:latin typeface="Arial" pitchFamily="34" charset="0"/>
                <a:ea typeface="Arial" pitchFamily="34" charset="-122"/>
                <a:cs typeface="Arial" pitchFamily="34" charset="-120"/>
              </a:rPr>
              <a:t>TO</a:t>
            </a:r>
            <a:endParaRPr lang="en-US" sz="1800" dirty="0"/>
          </a:p>
        </p:txBody>
      </p:sp>
      <p:sp>
        <p:nvSpPr>
          <p:cNvPr id="10" name="Shape 8"/>
          <p:cNvSpPr/>
          <p:nvPr/>
        </p:nvSpPr>
        <p:spPr>
          <a:xfrm>
            <a:off x="8310880" y="3848100"/>
            <a:ext cx="5113655" cy="19050"/>
          </a:xfrm>
          <a:prstGeom prst="rect">
            <a:avLst/>
          </a:prstGeom>
          <a:solidFill>
            <a:srgbClr val="201E1D">
              <a:alpha val="40000"/>
            </a:srgbClr>
          </a:solidFill>
          <a:ln/>
        </p:spPr>
      </p:sp>
      <p:sp>
        <p:nvSpPr>
          <p:cNvPr id="11" name="Text 9"/>
          <p:cNvSpPr/>
          <p:nvPr/>
        </p:nvSpPr>
        <p:spPr>
          <a:xfrm>
            <a:off x="8539480" y="3200400"/>
            <a:ext cx="4809864" cy="685800"/>
          </a:xfrm>
          <a:prstGeom prst="rect">
            <a:avLst/>
          </a:prstGeom>
          <a:noFill/>
          <a:ln/>
        </p:spPr>
        <p:txBody>
          <a:bodyPr wrap="square" lIns="25400" tIns="25400" rIns="25400" bIns="25400" rtlCol="0" anchor="ctr">
            <a:normAutofit/>
          </a:bodyPr>
          <a:lstStyle/>
          <a:p>
            <a:pPr algn="l" indent="0" marL="0">
              <a:lnSpc>
                <a:spcPct val="107143"/>
              </a:lnSpc>
              <a:buNone/>
            </a:pPr>
            <a:r>
              <a:rPr lang="en-US" sz="1800" b="1" spc="144" kern="0" dirty="0">
                <a:solidFill>
                  <a:srgbClr val="201E1D">
                    <a:alpha val="60000"/>
                  </a:srgbClr>
                </a:solidFill>
                <a:latin typeface="Arial" pitchFamily="34" charset="0"/>
                <a:ea typeface="Arial" pitchFamily="34" charset="-122"/>
                <a:cs typeface="Arial" pitchFamily="34" charset="-120"/>
              </a:rPr>
              <a:t>60.4 KG</a:t>
            </a:r>
            <a:endParaRPr lang="en-US" sz="1800" dirty="0"/>
          </a:p>
        </p:txBody>
      </p:sp>
      <p:sp>
        <p:nvSpPr>
          <p:cNvPr id="12" name="Shape 10"/>
          <p:cNvSpPr/>
          <p:nvPr/>
        </p:nvSpPr>
        <p:spPr>
          <a:xfrm>
            <a:off x="13424535" y="3848100"/>
            <a:ext cx="2577465" cy="19050"/>
          </a:xfrm>
          <a:prstGeom prst="rect">
            <a:avLst/>
          </a:prstGeom>
          <a:solidFill>
            <a:srgbClr val="201E1D">
              <a:alpha val="40000"/>
            </a:srgbClr>
          </a:solidFill>
          <a:ln/>
        </p:spPr>
      </p:sp>
      <p:sp>
        <p:nvSpPr>
          <p:cNvPr id="13" name="Text 11"/>
          <p:cNvSpPr/>
          <p:nvPr/>
        </p:nvSpPr>
        <p:spPr>
          <a:xfrm>
            <a:off x="13653135" y="3200400"/>
            <a:ext cx="2426189" cy="685800"/>
          </a:xfrm>
          <a:prstGeom prst="rect">
            <a:avLst/>
          </a:prstGeom>
          <a:noFill/>
          <a:ln/>
        </p:spPr>
        <p:txBody>
          <a:bodyPr wrap="square" lIns="25400" tIns="25400" rIns="25400" bIns="25400" rtlCol="0" anchor="ctr">
            <a:normAutofit/>
          </a:bodyPr>
          <a:lstStyle/>
          <a:p>
            <a:pPr algn="l" indent="0" marL="0">
              <a:lnSpc>
                <a:spcPct val="107143"/>
              </a:lnSpc>
              <a:buNone/>
            </a:pPr>
            <a:r>
              <a:rPr lang="en-US" sz="1800" b="1" spc="144" kern="0" dirty="0">
                <a:solidFill>
                  <a:srgbClr val="201E1D">
                    <a:alpha val="60000"/>
                  </a:srgbClr>
                </a:solidFill>
                <a:latin typeface="Arial" pitchFamily="34" charset="0"/>
                <a:ea typeface="Arial" pitchFamily="34" charset="-122"/>
                <a:cs typeface="Arial" pitchFamily="34" charset="-120"/>
              </a:rPr>
              <a:t>60.6 KG</a:t>
            </a:r>
            <a:endParaRPr lang="en-US" sz="1800" dirty="0"/>
          </a:p>
        </p:txBody>
      </p:sp>
      <p:sp>
        <p:nvSpPr>
          <p:cNvPr id="14" name="Shape 12"/>
          <p:cNvSpPr/>
          <p:nvPr/>
        </p:nvSpPr>
        <p:spPr>
          <a:xfrm>
            <a:off x="1143000" y="4524375"/>
            <a:ext cx="2276634" cy="9525"/>
          </a:xfrm>
          <a:prstGeom prst="rect">
            <a:avLst/>
          </a:prstGeom>
          <a:solidFill>
            <a:srgbClr val="201E1D">
              <a:alpha val="40000"/>
            </a:srgbClr>
          </a:solidFill>
          <a:ln/>
        </p:spPr>
      </p:sp>
      <p:sp>
        <p:nvSpPr>
          <p:cNvPr id="15" name="Text 13"/>
          <p:cNvSpPr/>
          <p:nvPr/>
        </p:nvSpPr>
        <p:spPr>
          <a:xfrm>
            <a:off x="1143000" y="3867150"/>
            <a:ext cx="2124234"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−56</a:t>
            </a:r>
            <a:endParaRPr lang="en-US" sz="2175" dirty="0"/>
          </a:p>
        </p:txBody>
      </p:sp>
      <p:sp>
        <p:nvSpPr>
          <p:cNvPr id="16" name="Shape 14"/>
          <p:cNvSpPr/>
          <p:nvPr/>
        </p:nvSpPr>
        <p:spPr>
          <a:xfrm>
            <a:off x="3419634" y="4524375"/>
            <a:ext cx="2654300" cy="9525"/>
          </a:xfrm>
          <a:prstGeom prst="rect">
            <a:avLst/>
          </a:prstGeom>
          <a:solidFill>
            <a:srgbClr val="201E1D">
              <a:alpha val="40000"/>
            </a:srgbClr>
          </a:solidFill>
          <a:ln/>
        </p:spPr>
      </p:sp>
      <p:sp>
        <p:nvSpPr>
          <p:cNvPr id="17" name="Text 15"/>
          <p:cNvSpPr/>
          <p:nvPr/>
        </p:nvSpPr>
        <p:spPr>
          <a:xfrm>
            <a:off x="3648234" y="3867150"/>
            <a:ext cx="2276729"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a:t>
            </a:r>
            <a:endParaRPr lang="en-US" sz="2175" dirty="0"/>
          </a:p>
        </p:txBody>
      </p:sp>
      <p:sp>
        <p:nvSpPr>
          <p:cNvPr id="18" name="Shape 16"/>
          <p:cNvSpPr/>
          <p:nvPr/>
        </p:nvSpPr>
        <p:spPr>
          <a:xfrm>
            <a:off x="6073934" y="4524375"/>
            <a:ext cx="2236946" cy="9525"/>
          </a:xfrm>
          <a:prstGeom prst="rect">
            <a:avLst/>
          </a:prstGeom>
          <a:solidFill>
            <a:srgbClr val="201E1D">
              <a:alpha val="40000"/>
            </a:srgbClr>
          </a:solidFill>
          <a:ln/>
        </p:spPr>
      </p:sp>
      <p:sp>
        <p:nvSpPr>
          <p:cNvPr id="19" name="Text 17"/>
          <p:cNvSpPr/>
          <p:nvPr/>
        </p:nvSpPr>
        <p:spPr>
          <a:xfrm>
            <a:off x="6302534" y="3867150"/>
            <a:ext cx="1855946"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56.5</a:t>
            </a:r>
            <a:endParaRPr lang="en-US" sz="2175" dirty="0"/>
          </a:p>
        </p:txBody>
      </p:sp>
      <p:sp>
        <p:nvSpPr>
          <p:cNvPr id="20" name="Shape 18"/>
          <p:cNvSpPr/>
          <p:nvPr/>
        </p:nvSpPr>
        <p:spPr>
          <a:xfrm>
            <a:off x="8310880" y="4524375"/>
            <a:ext cx="5113655" cy="9525"/>
          </a:xfrm>
          <a:prstGeom prst="rect">
            <a:avLst/>
          </a:prstGeom>
          <a:solidFill>
            <a:srgbClr val="201E1D">
              <a:alpha val="40000"/>
            </a:srgbClr>
          </a:solidFill>
          <a:ln/>
        </p:spPr>
      </p:sp>
      <p:sp>
        <p:nvSpPr>
          <p:cNvPr id="21" name="Text 19"/>
          <p:cNvSpPr/>
          <p:nvPr/>
        </p:nvSpPr>
        <p:spPr>
          <a:xfrm>
            <a:off x="8539480" y="3867150"/>
            <a:ext cx="4809864"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over</a:t>
            </a:r>
            <a:endParaRPr lang="en-US" sz="2175" dirty="0"/>
          </a:p>
        </p:txBody>
      </p:sp>
      <p:sp>
        <p:nvSpPr>
          <p:cNvPr id="22" name="Shape 20"/>
          <p:cNvSpPr/>
          <p:nvPr/>
        </p:nvSpPr>
        <p:spPr>
          <a:xfrm>
            <a:off x="13424535" y="4524375"/>
            <a:ext cx="2577465" cy="9525"/>
          </a:xfrm>
          <a:prstGeom prst="rect">
            <a:avLst/>
          </a:prstGeom>
          <a:solidFill>
            <a:srgbClr val="201E1D">
              <a:alpha val="40000"/>
            </a:srgbClr>
          </a:solidFill>
          <a:ln/>
        </p:spPr>
      </p:sp>
      <p:sp>
        <p:nvSpPr>
          <p:cNvPr id="23" name="Text 21"/>
          <p:cNvSpPr/>
          <p:nvPr/>
        </p:nvSpPr>
        <p:spPr>
          <a:xfrm>
            <a:off x="13653135" y="3867150"/>
            <a:ext cx="2426189"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over</a:t>
            </a:r>
            <a:endParaRPr lang="en-US" sz="2175" dirty="0"/>
          </a:p>
        </p:txBody>
      </p:sp>
      <p:sp>
        <p:nvSpPr>
          <p:cNvPr id="24" name="Shape 22"/>
          <p:cNvSpPr/>
          <p:nvPr/>
        </p:nvSpPr>
        <p:spPr>
          <a:xfrm>
            <a:off x="1143000" y="5191125"/>
            <a:ext cx="2276634" cy="9525"/>
          </a:xfrm>
          <a:prstGeom prst="rect">
            <a:avLst/>
          </a:prstGeom>
          <a:solidFill>
            <a:srgbClr val="201E1D">
              <a:alpha val="40000"/>
            </a:srgbClr>
          </a:solidFill>
          <a:ln/>
        </p:spPr>
      </p:sp>
      <p:sp>
        <p:nvSpPr>
          <p:cNvPr id="25" name="Text 23"/>
          <p:cNvSpPr/>
          <p:nvPr/>
        </p:nvSpPr>
        <p:spPr>
          <a:xfrm>
            <a:off x="1143000" y="4533900"/>
            <a:ext cx="2124234"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−60</a:t>
            </a:r>
            <a:endParaRPr lang="en-US" sz="2175" dirty="0"/>
          </a:p>
        </p:txBody>
      </p:sp>
      <p:sp>
        <p:nvSpPr>
          <p:cNvPr id="26" name="Shape 24"/>
          <p:cNvSpPr/>
          <p:nvPr/>
        </p:nvSpPr>
        <p:spPr>
          <a:xfrm>
            <a:off x="3419634" y="5191125"/>
            <a:ext cx="2654300" cy="9525"/>
          </a:xfrm>
          <a:prstGeom prst="rect">
            <a:avLst/>
          </a:prstGeom>
          <a:solidFill>
            <a:srgbClr val="201E1D">
              <a:alpha val="40000"/>
            </a:srgbClr>
          </a:solidFill>
          <a:ln/>
        </p:spPr>
      </p:sp>
      <p:sp>
        <p:nvSpPr>
          <p:cNvPr id="27" name="Text 25"/>
          <p:cNvSpPr/>
          <p:nvPr/>
        </p:nvSpPr>
        <p:spPr>
          <a:xfrm>
            <a:off x="3648234" y="4533900"/>
            <a:ext cx="2276729"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55.5</a:t>
            </a:r>
            <a:endParaRPr lang="en-US" sz="2175" dirty="0"/>
          </a:p>
        </p:txBody>
      </p:sp>
      <p:sp>
        <p:nvSpPr>
          <p:cNvPr id="28" name="Shape 26"/>
          <p:cNvSpPr/>
          <p:nvPr/>
        </p:nvSpPr>
        <p:spPr>
          <a:xfrm>
            <a:off x="6073934" y="5191125"/>
            <a:ext cx="2236946" cy="9525"/>
          </a:xfrm>
          <a:prstGeom prst="rect">
            <a:avLst/>
          </a:prstGeom>
          <a:solidFill>
            <a:srgbClr val="201E1D">
              <a:alpha val="40000"/>
            </a:srgbClr>
          </a:solidFill>
          <a:ln/>
        </p:spPr>
      </p:sp>
      <p:sp>
        <p:nvSpPr>
          <p:cNvPr id="29" name="Text 27"/>
          <p:cNvSpPr/>
          <p:nvPr/>
        </p:nvSpPr>
        <p:spPr>
          <a:xfrm>
            <a:off x="6302534" y="4533900"/>
            <a:ext cx="1855946"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60.5</a:t>
            </a:r>
            <a:endParaRPr lang="en-US" sz="2175" dirty="0"/>
          </a:p>
        </p:txBody>
      </p:sp>
      <p:sp>
        <p:nvSpPr>
          <p:cNvPr id="30" name="Shape 28"/>
          <p:cNvSpPr/>
          <p:nvPr/>
        </p:nvSpPr>
        <p:spPr>
          <a:xfrm>
            <a:off x="8310880" y="5191125"/>
            <a:ext cx="5113655" cy="9525"/>
          </a:xfrm>
          <a:prstGeom prst="rect">
            <a:avLst/>
          </a:prstGeom>
          <a:solidFill>
            <a:srgbClr val="201E1D">
              <a:alpha val="40000"/>
            </a:srgbClr>
          </a:solidFill>
          <a:ln/>
        </p:spPr>
      </p:sp>
      <p:sp>
        <p:nvSpPr>
          <p:cNvPr id="31" name="Text 29"/>
          <p:cNvSpPr/>
          <p:nvPr/>
        </p:nvSpPr>
        <p:spPr>
          <a:xfrm>
            <a:off x="8539480" y="4533900"/>
            <a:ext cx="4809864"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made the class</a:t>
            </a:r>
            <a:endParaRPr lang="en-US" sz="2175" dirty="0"/>
          </a:p>
        </p:txBody>
      </p:sp>
      <p:sp>
        <p:nvSpPr>
          <p:cNvPr id="32" name="Shape 30"/>
          <p:cNvSpPr/>
          <p:nvPr/>
        </p:nvSpPr>
        <p:spPr>
          <a:xfrm>
            <a:off x="13424535" y="5191125"/>
            <a:ext cx="2577465" cy="9525"/>
          </a:xfrm>
          <a:prstGeom prst="rect">
            <a:avLst/>
          </a:prstGeom>
          <a:solidFill>
            <a:srgbClr val="201E1D">
              <a:alpha val="40000"/>
            </a:srgbClr>
          </a:solidFill>
          <a:ln/>
        </p:spPr>
      </p:sp>
      <p:sp>
        <p:nvSpPr>
          <p:cNvPr id="33" name="Text 31"/>
          <p:cNvSpPr/>
          <p:nvPr/>
        </p:nvSpPr>
        <p:spPr>
          <a:xfrm>
            <a:off x="13653135" y="4533900"/>
            <a:ext cx="2426189"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has not</a:t>
            </a:r>
            <a:endParaRPr lang="en-US" sz="2175" dirty="0"/>
          </a:p>
        </p:txBody>
      </p:sp>
      <p:sp>
        <p:nvSpPr>
          <p:cNvPr id="34" name="Shape 32"/>
          <p:cNvSpPr/>
          <p:nvPr/>
        </p:nvSpPr>
        <p:spPr>
          <a:xfrm>
            <a:off x="1143000" y="5857875"/>
            <a:ext cx="2276634" cy="9525"/>
          </a:xfrm>
          <a:prstGeom prst="rect">
            <a:avLst/>
          </a:prstGeom>
          <a:solidFill>
            <a:srgbClr val="201E1D">
              <a:alpha val="40000"/>
            </a:srgbClr>
          </a:solidFill>
          <a:ln/>
        </p:spPr>
      </p:sp>
      <p:sp>
        <p:nvSpPr>
          <p:cNvPr id="35" name="Text 33"/>
          <p:cNvSpPr/>
          <p:nvPr/>
        </p:nvSpPr>
        <p:spPr>
          <a:xfrm>
            <a:off x="1143000" y="5200650"/>
            <a:ext cx="2124234"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−66</a:t>
            </a:r>
            <a:endParaRPr lang="en-US" sz="2175" dirty="0"/>
          </a:p>
        </p:txBody>
      </p:sp>
      <p:sp>
        <p:nvSpPr>
          <p:cNvPr id="36" name="Shape 34"/>
          <p:cNvSpPr/>
          <p:nvPr/>
        </p:nvSpPr>
        <p:spPr>
          <a:xfrm>
            <a:off x="3419634" y="5857875"/>
            <a:ext cx="2654300" cy="9525"/>
          </a:xfrm>
          <a:prstGeom prst="rect">
            <a:avLst/>
          </a:prstGeom>
          <a:solidFill>
            <a:srgbClr val="201E1D">
              <a:alpha val="40000"/>
            </a:srgbClr>
          </a:solidFill>
          <a:ln/>
        </p:spPr>
      </p:sp>
      <p:sp>
        <p:nvSpPr>
          <p:cNvPr id="37" name="Text 35"/>
          <p:cNvSpPr/>
          <p:nvPr/>
        </p:nvSpPr>
        <p:spPr>
          <a:xfrm>
            <a:off x="3648234" y="5200650"/>
            <a:ext cx="2276729"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59.5</a:t>
            </a:r>
            <a:endParaRPr lang="en-US" sz="2175" dirty="0"/>
          </a:p>
        </p:txBody>
      </p:sp>
      <p:sp>
        <p:nvSpPr>
          <p:cNvPr id="38" name="Shape 36"/>
          <p:cNvSpPr/>
          <p:nvPr/>
        </p:nvSpPr>
        <p:spPr>
          <a:xfrm>
            <a:off x="6073934" y="5857875"/>
            <a:ext cx="2236946" cy="9525"/>
          </a:xfrm>
          <a:prstGeom prst="rect">
            <a:avLst/>
          </a:prstGeom>
          <a:solidFill>
            <a:srgbClr val="201E1D">
              <a:alpha val="40000"/>
            </a:srgbClr>
          </a:solidFill>
          <a:ln/>
        </p:spPr>
      </p:sp>
      <p:sp>
        <p:nvSpPr>
          <p:cNvPr id="39" name="Text 37"/>
          <p:cNvSpPr/>
          <p:nvPr/>
        </p:nvSpPr>
        <p:spPr>
          <a:xfrm>
            <a:off x="6302534" y="5200650"/>
            <a:ext cx="1855946"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66.5</a:t>
            </a:r>
            <a:endParaRPr lang="en-US" sz="2175" dirty="0"/>
          </a:p>
        </p:txBody>
      </p:sp>
      <p:sp>
        <p:nvSpPr>
          <p:cNvPr id="40" name="Shape 38"/>
          <p:cNvSpPr/>
          <p:nvPr/>
        </p:nvSpPr>
        <p:spPr>
          <a:xfrm>
            <a:off x="8310880" y="5857875"/>
            <a:ext cx="5113655" cy="9525"/>
          </a:xfrm>
          <a:prstGeom prst="rect">
            <a:avLst/>
          </a:prstGeom>
          <a:solidFill>
            <a:srgbClr val="201E1D">
              <a:alpha val="40000"/>
            </a:srgbClr>
          </a:solidFill>
          <a:ln/>
        </p:spPr>
      </p:sp>
      <p:sp>
        <p:nvSpPr>
          <p:cNvPr id="41" name="Text 39"/>
          <p:cNvSpPr/>
          <p:nvPr/>
        </p:nvSpPr>
        <p:spPr>
          <a:xfrm>
            <a:off x="8539480" y="5200650"/>
            <a:ext cx="4809864"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under</a:t>
            </a:r>
            <a:endParaRPr lang="en-US" sz="2175" dirty="0"/>
          </a:p>
        </p:txBody>
      </p:sp>
      <p:sp>
        <p:nvSpPr>
          <p:cNvPr id="42" name="Shape 40"/>
          <p:cNvSpPr/>
          <p:nvPr/>
        </p:nvSpPr>
        <p:spPr>
          <a:xfrm>
            <a:off x="13424535" y="5857875"/>
            <a:ext cx="2577465" cy="9525"/>
          </a:xfrm>
          <a:prstGeom prst="rect">
            <a:avLst/>
          </a:prstGeom>
          <a:solidFill>
            <a:srgbClr val="201E1D">
              <a:alpha val="40000"/>
            </a:srgbClr>
          </a:solidFill>
          <a:ln/>
        </p:spPr>
      </p:sp>
      <p:sp>
        <p:nvSpPr>
          <p:cNvPr id="43" name="Text 41"/>
          <p:cNvSpPr/>
          <p:nvPr/>
        </p:nvSpPr>
        <p:spPr>
          <a:xfrm>
            <a:off x="13653135" y="5200650"/>
            <a:ext cx="2426189"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under</a:t>
            </a:r>
            <a:endParaRPr lang="en-US" sz="2175" dirty="0"/>
          </a:p>
        </p:txBody>
      </p:sp>
      <p:sp>
        <p:nvSpPr>
          <p:cNvPr id="44" name="Text 42"/>
          <p:cNvSpPr/>
          <p:nvPr/>
        </p:nvSpPr>
        <p:spPr>
          <a:xfrm>
            <a:off x="1143000" y="6329363"/>
            <a:ext cx="12374626" cy="658654"/>
          </a:xfrm>
          <a:prstGeom prst="rect">
            <a:avLst/>
          </a:prstGeom>
          <a:noFill/>
          <a:ln/>
        </p:spPr>
        <p:txBody>
          <a:bodyPr wrap="square" lIns="25400" tIns="25400" rIns="25400" bIns="25400" rtlCol="0" anchor="t">
            <a:normAutofit/>
          </a:bodyPr>
          <a:lstStyle/>
          <a:p>
            <a:pPr algn="l" indent="0" marL="0">
              <a:lnSpc>
                <a:spcPct val="165517"/>
              </a:lnSpc>
              <a:buNone/>
            </a:pPr>
            <a:r>
              <a:rPr lang="en-US" sz="1875" dirty="0">
                <a:solidFill>
                  <a:srgbClr val="201E1D">
                    <a:alpha val="55000"/>
                  </a:srgbClr>
                </a:solidFill>
                <a:latin typeface="Arial" pitchFamily="34" charset="0"/>
                <a:ea typeface="Arial" pitchFamily="34" charset="-122"/>
                <a:cs typeface="Arial" pitchFamily="34" charset="-120"/>
              </a:rPr>
              <a:t>The limit plus a 500 g tolerance above, the class below less the same tolerance underneath — derived from the division, so adding a class moves the one above it.</a:t>
            </a:r>
            <a:endParaRPr lang="en-US" sz="1875" dirty="0"/>
          </a:p>
        </p:txBody>
      </p:sp>
      <p:pic>
        <p:nvPicPr>
          <p:cNvPr id="45" name="Image 0" descr="preencoded.png">    </p:cNvPr>
          <p:cNvPicPr>
            <a:picLocks noChangeAspect="1"/>
          </p:cNvPicPr>
          <p:nvPr/>
        </p:nvPicPr>
        <p:blipFill>
          <a:blip r:embed="rId1"/>
          <a:stretch>
            <a:fillRect/>
          </a:stretch>
        </p:blipFill>
        <p:spPr>
          <a:xfrm>
            <a:off x="1143000" y="8987155"/>
            <a:ext cx="3261360" cy="15684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01 · THE COMPETITION DAY</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The scale</a:t>
            </a:r>
            <a:endParaRPr lang="en-US" sz="4800" dirty="0"/>
          </a:p>
        </p:txBody>
      </p:sp>
      <p:sp>
        <p:nvSpPr>
          <p:cNvPr id="4" name="Shape 2"/>
          <p:cNvSpPr/>
          <p:nvPr/>
        </p:nvSpPr>
        <p:spPr>
          <a:xfrm>
            <a:off x="1143000" y="3200400"/>
            <a:ext cx="9753600" cy="5486400"/>
          </a:xfrm>
          <a:prstGeom prst="rect">
            <a:avLst/>
          </a:prstGeom>
          <a:solidFill>
            <a:srgbClr val="F6F8F7"/>
          </a:solidFill>
          <a:ln w="19050">
            <a:solidFill>
              <a:srgbClr val="201E1D">
                <a:alpha val="40000"/>
              </a:srgbClr>
            </a:solidFill>
            <a:prstDash val="solid"/>
          </a:ln>
        </p:spPr>
      </p:sp>
      <p:sp>
        <p:nvSpPr>
          <p:cNvPr id="5" name="Shape 3"/>
          <p:cNvSpPr/>
          <p:nvPr/>
        </p:nvSpPr>
        <p:spPr>
          <a:xfrm>
            <a:off x="1162050" y="3219450"/>
            <a:ext cx="9753600" cy="5486400"/>
          </a:xfrm>
          <a:prstGeom prst="rect">
            <a:avLst/>
          </a:prstGeom>
          <a:solidFill>
            <a:srgbClr val="F6F8F7"/>
          </a:solidFill>
          <a:ln/>
        </p:spPr>
      </p:sp>
      <p:sp>
        <p:nvSpPr>
          <p:cNvPr id="6" name="Shape 4"/>
          <p:cNvSpPr/>
          <p:nvPr/>
        </p:nvSpPr>
        <p:spPr>
          <a:xfrm>
            <a:off x="1162050" y="3219450"/>
            <a:ext cx="1788160" cy="5486400"/>
          </a:xfrm>
          <a:custGeom>
            <a:avLst/>
            <a:gdLst/>
            <a:ahLst/>
            <a:cxnLst/>
            <a:rect l="l" t="t" r="r" b="b"/>
            <a:pathLst>
              <a:path w="1788160" h="5486400">
                <a:moveTo>
                  <a:pt x="0" y="0"/>
                </a:moveTo>
                <a:lnTo>
                  <a:pt x="1666240" y="0"/>
                </a:lnTo>
                <a:arcTo hR="121920" wR="121920" stAng="16200000" swAng="5400000"/>
                <a:lnTo>
                  <a:pt x="1788160" y="5364480"/>
                </a:lnTo>
                <a:arcTo hR="121920" wR="121920" stAng="0" swAng="5400000"/>
                <a:lnTo>
                  <a:pt x="0" y="5486400"/>
                </a:lnTo>
                <a:lnTo>
                  <a:pt x="0" y="0"/>
                </a:lnTo>
                <a:close/>
              </a:path>
            </a:pathLst>
          </a:custGeom>
          <a:solidFill>
            <a:srgbClr val="DCEBE2"/>
          </a:solidFill>
          <a:ln/>
        </p:spPr>
      </p:sp>
      <p:sp>
        <p:nvSpPr>
          <p:cNvPr id="7" name="Shape 5"/>
          <p:cNvSpPr/>
          <p:nvPr/>
        </p:nvSpPr>
        <p:spPr>
          <a:xfrm>
            <a:off x="2943437" y="3219450"/>
            <a:ext cx="9525" cy="5486400"/>
          </a:xfrm>
          <a:prstGeom prst="rect">
            <a:avLst/>
          </a:prstGeom>
          <a:solidFill>
            <a:srgbClr val="C4D9CB"/>
          </a:solidFill>
          <a:ln/>
        </p:spPr>
      </p:sp>
      <p:sp>
        <p:nvSpPr>
          <p:cNvPr id="8" name="Shape 6"/>
          <p:cNvSpPr/>
          <p:nvPr/>
        </p:nvSpPr>
        <p:spPr>
          <a:xfrm>
            <a:off x="1311116" y="3382010"/>
            <a:ext cx="284480" cy="284480"/>
          </a:xfrm>
          <a:prstGeom prst="roundRect">
            <a:avLst>
              <a:gd name="adj" fmla="val 28571"/>
            </a:avLst>
          </a:prstGeom>
          <a:solidFill>
            <a:srgbClr val="FFFFFF"/>
          </a:solidFill>
          <a:ln/>
          <a:effectLst>
            <a:outerShdw sx="100000" sy="100000" kx="0" ky="0" algn="bl" rotWithShape="0" blurRad="19050" dist="9525" dir="5400000">
              <a:srgbClr val="10211D">
                <a:alpha val="6000"/>
              </a:srgbClr>
            </a:outerShdw>
          </a:effectLst>
        </p:spPr>
      </p:sp>
      <p:sp>
        <p:nvSpPr>
          <p:cNvPr id="9" name="Text 7"/>
          <p:cNvSpPr/>
          <p:nvPr/>
        </p:nvSpPr>
        <p:spPr>
          <a:xfrm>
            <a:off x="1306830" y="3415824"/>
            <a:ext cx="292894" cy="254794"/>
          </a:xfrm>
          <a:prstGeom prst="rect">
            <a:avLst/>
          </a:prstGeom>
          <a:noFill/>
          <a:ln/>
        </p:spPr>
        <p:txBody>
          <a:bodyPr wrap="square" lIns="25400" tIns="25400" rIns="25400" bIns="25400" rtlCol="0" anchor="ctr">
            <a:normAutofit/>
          </a:bodyPr>
          <a:lstStyle/>
          <a:p>
            <a:pPr algn="ctr" indent="0" marL="0">
              <a:lnSpc>
                <a:spcPct val="131154"/>
              </a:lnSpc>
              <a:buNone/>
            </a:pPr>
            <a:r>
              <a:rPr lang="en-US" sz="587" b="1" dirty="0">
                <a:solidFill>
                  <a:srgbClr val="046830"/>
                </a:solidFill>
                <a:latin typeface="Arial" pitchFamily="34" charset="0"/>
                <a:ea typeface="Arial" pitchFamily="34" charset="-122"/>
                <a:cs typeface="Arial" pitchFamily="34" charset="-120"/>
              </a:rPr>
              <a:t>IKA</a:t>
            </a:r>
            <a:endParaRPr lang="en-US" sz="587" dirty="0"/>
          </a:p>
        </p:txBody>
      </p:sp>
      <p:sp>
        <p:nvSpPr>
          <p:cNvPr id="10" name="Text 8"/>
          <p:cNvSpPr/>
          <p:nvPr/>
        </p:nvSpPr>
        <p:spPr>
          <a:xfrm>
            <a:off x="1663224" y="3404553"/>
            <a:ext cx="1203008" cy="156686"/>
          </a:xfrm>
          <a:prstGeom prst="rect">
            <a:avLst/>
          </a:prstGeom>
          <a:noFill/>
          <a:ln/>
        </p:spPr>
        <p:txBody>
          <a:bodyPr wrap="square" lIns="25400" tIns="25400" rIns="25400" bIns="25400" rtlCol="0" anchor="t">
            <a:normAutofit/>
          </a:bodyPr>
          <a:lstStyle/>
          <a:p>
            <a:pPr algn="l" indent="0" marL="0">
              <a:lnSpc>
                <a:spcPct val="109375"/>
              </a:lnSpc>
              <a:buNone/>
            </a:pPr>
            <a:r>
              <a:rPr lang="en-US" sz="747" b="1" dirty="0">
                <a:solidFill>
                  <a:srgbClr val="12211A"/>
                </a:solidFill>
                <a:latin typeface="Arial" pitchFamily="34" charset="0"/>
                <a:ea typeface="Arial" pitchFamily="34" charset="-122"/>
                <a:cs typeface="Arial" pitchFamily="34" charset="-120"/>
              </a:rPr>
              <a:t>IKA Manager</a:t>
            </a:r>
            <a:endParaRPr lang="en-US" sz="747" dirty="0"/>
          </a:p>
        </p:txBody>
      </p:sp>
      <p:sp>
        <p:nvSpPr>
          <p:cNvPr id="11" name="Text 9"/>
          <p:cNvSpPr/>
          <p:nvPr/>
        </p:nvSpPr>
        <p:spPr>
          <a:xfrm>
            <a:off x="1663224" y="3523139"/>
            <a:ext cx="1203008" cy="158750"/>
          </a:xfrm>
          <a:prstGeom prst="rect">
            <a:avLst/>
          </a:prstGeom>
          <a:noFill/>
          <a:ln/>
        </p:spPr>
        <p:txBody>
          <a:bodyPr wrap="square" lIns="25400" tIns="25400" rIns="25400" bIns="25400" rtlCol="0" anchor="t">
            <a:normAutofit/>
          </a:bodyPr>
          <a:lstStyle/>
          <a:p>
            <a:pPr algn="l" indent="0" marL="0">
              <a:lnSpc>
                <a:spcPct val="127262"/>
              </a:lnSpc>
              <a:buNone/>
            </a:pPr>
            <a:r>
              <a:rPr lang="en-US" sz="613" dirty="0">
                <a:solidFill>
                  <a:srgbClr val="4F6559"/>
                </a:solidFill>
                <a:latin typeface="Arial" pitchFamily="34" charset="0"/>
                <a:ea typeface="Arial" pitchFamily="34" charset="-122"/>
                <a:cs typeface="Arial" pitchFamily="34" charset="-120"/>
              </a:rPr>
              <a:t>International Kurash Association</a:t>
            </a:r>
            <a:endParaRPr lang="en-US" sz="613" dirty="0"/>
          </a:p>
        </p:txBody>
      </p:sp>
      <p:sp>
        <p:nvSpPr>
          <p:cNvPr id="12" name="Text 10"/>
          <p:cNvSpPr/>
          <p:nvPr/>
        </p:nvSpPr>
        <p:spPr>
          <a:xfrm>
            <a:off x="1351703" y="3856143"/>
            <a:ext cx="1478227" cy="153564"/>
          </a:xfrm>
          <a:prstGeom prst="rect">
            <a:avLst/>
          </a:prstGeom>
          <a:noFill/>
          <a:ln/>
        </p:spPr>
        <p:txBody>
          <a:bodyPr wrap="square" lIns="25400" tIns="25400" rIns="25400" bIns="25400" rtlCol="0" anchor="t">
            <a:normAutofit/>
          </a:bodyPr>
          <a:lstStyle/>
          <a:p>
            <a:pPr algn="l" indent="0" marL="0">
              <a:lnSpc>
                <a:spcPct val="131154"/>
              </a:lnSpc>
              <a:buNone/>
            </a:pPr>
            <a:r>
              <a:rPr lang="en-US" sz="587" b="1" spc="29" kern="0" dirty="0">
                <a:solidFill>
                  <a:srgbClr val="4F6559"/>
                </a:solidFill>
                <a:latin typeface="Arial" pitchFamily="34" charset="0"/>
                <a:ea typeface="Arial" pitchFamily="34" charset="-122"/>
                <a:cs typeface="Arial" pitchFamily="34" charset="-120"/>
              </a:rPr>
              <a:t>PLATFORM</a:t>
            </a:r>
            <a:endParaRPr lang="en-US" sz="587" dirty="0"/>
          </a:p>
        </p:txBody>
      </p:sp>
      <p:sp>
        <p:nvSpPr>
          <p:cNvPr id="13" name="Text 11"/>
          <p:cNvSpPr/>
          <p:nvPr/>
        </p:nvSpPr>
        <p:spPr>
          <a:xfrm>
            <a:off x="1351756" y="4107021"/>
            <a:ext cx="530225"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Dashboard</a:t>
            </a:r>
            <a:endParaRPr lang="en-US" sz="720" dirty="0"/>
          </a:p>
        </p:txBody>
      </p:sp>
      <p:sp>
        <p:nvSpPr>
          <p:cNvPr id="14" name="Text 12"/>
          <p:cNvSpPr/>
          <p:nvPr/>
        </p:nvSpPr>
        <p:spPr>
          <a:xfrm>
            <a:off x="1351756" y="4411504"/>
            <a:ext cx="710406"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Championships</a:t>
            </a:r>
            <a:endParaRPr lang="en-US" sz="720" dirty="0"/>
          </a:p>
        </p:txBody>
      </p:sp>
      <p:sp>
        <p:nvSpPr>
          <p:cNvPr id="15" name="Text 13"/>
          <p:cNvSpPr/>
          <p:nvPr/>
        </p:nvSpPr>
        <p:spPr>
          <a:xfrm>
            <a:off x="1351756" y="4715828"/>
            <a:ext cx="391001"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Archive</a:t>
            </a:r>
            <a:endParaRPr lang="en-US" sz="720" dirty="0"/>
          </a:p>
        </p:txBody>
      </p:sp>
      <p:sp>
        <p:nvSpPr>
          <p:cNvPr id="16" name="Text 14"/>
          <p:cNvSpPr/>
          <p:nvPr/>
        </p:nvSpPr>
        <p:spPr>
          <a:xfrm>
            <a:off x="1351756" y="5020469"/>
            <a:ext cx="796290"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Draws to present</a:t>
            </a:r>
            <a:endParaRPr lang="en-US" sz="720" dirty="0"/>
          </a:p>
        </p:txBody>
      </p:sp>
      <p:sp>
        <p:nvSpPr>
          <p:cNvPr id="17" name="Shape 15"/>
          <p:cNvSpPr/>
          <p:nvPr/>
        </p:nvSpPr>
        <p:spPr>
          <a:xfrm>
            <a:off x="2603341" y="5020151"/>
            <a:ext cx="150336" cy="142557"/>
          </a:xfrm>
          <a:prstGeom prst="ellipse">
            <a:avLst/>
          </a:prstGeom>
          <a:solidFill>
            <a:srgbClr val="019A44">
              <a:alpha val="16000"/>
            </a:srgbClr>
          </a:solidFill>
          <a:ln/>
        </p:spPr>
      </p:sp>
      <p:sp>
        <p:nvSpPr>
          <p:cNvPr id="18" name="Text 16"/>
          <p:cNvSpPr/>
          <p:nvPr/>
        </p:nvSpPr>
        <p:spPr>
          <a:xfrm>
            <a:off x="2657528" y="5033698"/>
            <a:ext cx="118163" cy="153564"/>
          </a:xfrm>
          <a:prstGeom prst="rect">
            <a:avLst/>
          </a:prstGeom>
          <a:noFill/>
          <a:ln/>
        </p:spPr>
        <p:txBody>
          <a:bodyPr wrap="square" lIns="25400" tIns="25400" rIns="25400" bIns="25400" rtlCol="0" anchor="t">
            <a:normAutofit/>
          </a:bodyPr>
          <a:lstStyle/>
          <a:p>
            <a:pPr algn="l" indent="0" marL="0">
              <a:lnSpc>
                <a:spcPct val="131154"/>
              </a:lnSpc>
              <a:buNone/>
            </a:pPr>
            <a:r>
              <a:rPr lang="en-US" sz="587" b="1" dirty="0">
                <a:solidFill>
                  <a:srgbClr val="04331A"/>
                </a:solidFill>
                <a:latin typeface="Arial" pitchFamily="34" charset="0"/>
                <a:ea typeface="Arial" pitchFamily="34" charset="-122"/>
                <a:cs typeface="Arial" pitchFamily="34" charset="-120"/>
              </a:rPr>
              <a:t>4</a:t>
            </a:r>
            <a:endParaRPr lang="en-US" sz="587" dirty="0"/>
          </a:p>
        </p:txBody>
      </p:sp>
      <p:sp>
        <p:nvSpPr>
          <p:cNvPr id="19" name="Text 17"/>
          <p:cNvSpPr/>
          <p:nvPr/>
        </p:nvSpPr>
        <p:spPr>
          <a:xfrm>
            <a:off x="1351703" y="5325216"/>
            <a:ext cx="1478227" cy="153564"/>
          </a:xfrm>
          <a:prstGeom prst="rect">
            <a:avLst/>
          </a:prstGeom>
          <a:noFill/>
          <a:ln/>
        </p:spPr>
        <p:txBody>
          <a:bodyPr wrap="square" lIns="25400" tIns="25400" rIns="25400" bIns="25400" rtlCol="0" anchor="t">
            <a:normAutofit/>
          </a:bodyPr>
          <a:lstStyle/>
          <a:p>
            <a:pPr algn="l" indent="0" marL="0">
              <a:lnSpc>
                <a:spcPct val="131154"/>
              </a:lnSpc>
              <a:buNone/>
            </a:pPr>
            <a:r>
              <a:rPr lang="en-US" sz="587" b="1" spc="29" kern="0" dirty="0">
                <a:solidFill>
                  <a:srgbClr val="4F6559"/>
                </a:solidFill>
                <a:latin typeface="Arial" pitchFamily="34" charset="0"/>
                <a:ea typeface="Arial" pitchFamily="34" charset="-122"/>
                <a:cs typeface="Arial" pitchFamily="34" charset="-120"/>
              </a:rPr>
              <a:t>ASIAN KURASH CHAMPIONSHIP 20…</a:t>
            </a:r>
            <a:endParaRPr lang="en-US" sz="587" dirty="0"/>
          </a:p>
        </p:txBody>
      </p:sp>
      <p:sp>
        <p:nvSpPr>
          <p:cNvPr id="20" name="Text 18"/>
          <p:cNvSpPr/>
          <p:nvPr/>
        </p:nvSpPr>
        <p:spPr>
          <a:xfrm>
            <a:off x="1351756" y="5576253"/>
            <a:ext cx="529590"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Categories</a:t>
            </a:r>
            <a:endParaRPr lang="en-US" sz="720" dirty="0"/>
          </a:p>
        </p:txBody>
      </p:sp>
      <p:sp>
        <p:nvSpPr>
          <p:cNvPr id="21" name="Text 19"/>
          <p:cNvSpPr/>
          <p:nvPr/>
        </p:nvSpPr>
        <p:spPr>
          <a:xfrm>
            <a:off x="1351756" y="5880576"/>
            <a:ext cx="931862"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Athlete Registration</a:t>
            </a:r>
            <a:endParaRPr lang="en-US" sz="720" dirty="0"/>
          </a:p>
        </p:txBody>
      </p:sp>
      <p:sp>
        <p:nvSpPr>
          <p:cNvPr id="22" name="Shape 20"/>
          <p:cNvSpPr/>
          <p:nvPr/>
        </p:nvSpPr>
        <p:spPr>
          <a:xfrm>
            <a:off x="1243330" y="6117273"/>
            <a:ext cx="1618774" cy="277177"/>
          </a:xfrm>
          <a:prstGeom prst="roundRect">
            <a:avLst>
              <a:gd name="adj" fmla="val 50000"/>
            </a:avLst>
          </a:prstGeom>
          <a:solidFill>
            <a:srgbClr val="019A44">
              <a:alpha val="16000"/>
            </a:srgbClr>
          </a:solidFill>
          <a:ln/>
        </p:spPr>
      </p:sp>
      <p:sp>
        <p:nvSpPr>
          <p:cNvPr id="23" name="Text 21"/>
          <p:cNvSpPr/>
          <p:nvPr/>
        </p:nvSpPr>
        <p:spPr>
          <a:xfrm>
            <a:off x="1351756" y="6184900"/>
            <a:ext cx="692467"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b="1" dirty="0">
                <a:solidFill>
                  <a:srgbClr val="04331A"/>
                </a:solidFill>
                <a:latin typeface="Arial" pitchFamily="34" charset="0"/>
                <a:ea typeface="Arial" pitchFamily="34" charset="-122"/>
                <a:cs typeface="Arial" pitchFamily="34" charset="-120"/>
              </a:rPr>
              <a:t>Weigh-in Form</a:t>
            </a:r>
            <a:endParaRPr lang="en-US" sz="720" dirty="0"/>
          </a:p>
        </p:txBody>
      </p:sp>
      <p:sp>
        <p:nvSpPr>
          <p:cNvPr id="24" name="Text 22"/>
          <p:cNvSpPr/>
          <p:nvPr/>
        </p:nvSpPr>
        <p:spPr>
          <a:xfrm>
            <a:off x="1351756" y="6489224"/>
            <a:ext cx="789622"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Entries and Draw</a:t>
            </a:r>
            <a:endParaRPr lang="en-US" sz="720" dirty="0"/>
          </a:p>
        </p:txBody>
      </p:sp>
      <p:sp>
        <p:nvSpPr>
          <p:cNvPr id="25" name="Text 23"/>
          <p:cNvSpPr/>
          <p:nvPr/>
        </p:nvSpPr>
        <p:spPr>
          <a:xfrm>
            <a:off x="1351756" y="6793548"/>
            <a:ext cx="398780"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Bracket</a:t>
            </a:r>
            <a:endParaRPr lang="en-US" sz="720" dirty="0"/>
          </a:p>
        </p:txBody>
      </p:sp>
      <p:sp>
        <p:nvSpPr>
          <p:cNvPr id="26" name="Text 24"/>
          <p:cNvSpPr/>
          <p:nvPr/>
        </p:nvSpPr>
        <p:spPr>
          <a:xfrm>
            <a:off x="1351756" y="7098030"/>
            <a:ext cx="562769"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Fight Order</a:t>
            </a:r>
            <a:endParaRPr lang="en-US" sz="720" dirty="0"/>
          </a:p>
        </p:txBody>
      </p:sp>
      <p:sp>
        <p:nvSpPr>
          <p:cNvPr id="27" name="Text 25"/>
          <p:cNvSpPr/>
          <p:nvPr/>
        </p:nvSpPr>
        <p:spPr>
          <a:xfrm>
            <a:off x="1351756" y="7402354"/>
            <a:ext cx="283369"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Mats</a:t>
            </a:r>
            <a:endParaRPr lang="en-US" sz="720" dirty="0"/>
          </a:p>
        </p:txBody>
      </p:sp>
      <p:sp>
        <p:nvSpPr>
          <p:cNvPr id="28" name="Text 26"/>
          <p:cNvSpPr/>
          <p:nvPr/>
        </p:nvSpPr>
        <p:spPr>
          <a:xfrm>
            <a:off x="1351756" y="7706677"/>
            <a:ext cx="882174"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Results and Medals</a:t>
            </a:r>
            <a:endParaRPr lang="en-US" sz="720" dirty="0"/>
          </a:p>
        </p:txBody>
      </p:sp>
      <p:sp>
        <p:nvSpPr>
          <p:cNvPr id="29" name="Shape 27"/>
          <p:cNvSpPr/>
          <p:nvPr/>
        </p:nvSpPr>
        <p:spPr>
          <a:xfrm>
            <a:off x="1351756" y="8008937"/>
            <a:ext cx="108426" cy="108426"/>
          </a:xfrm>
          <a:prstGeom prst="ellipse">
            <a:avLst/>
          </a:prstGeom>
          <a:ln w="6773">
            <a:solidFill>
              <a:srgbClr val="4F6559"/>
            </a:solidFill>
            <a:prstDash val="solid"/>
          </a:ln>
        </p:spPr>
      </p:sp>
      <p:sp>
        <p:nvSpPr>
          <p:cNvPr id="30" name="Text 28"/>
          <p:cNvSpPr/>
          <p:nvPr/>
        </p:nvSpPr>
        <p:spPr>
          <a:xfrm>
            <a:off x="1320430" y="8015711"/>
            <a:ext cx="171080" cy="132980"/>
          </a:xfrm>
          <a:prstGeom prst="rect">
            <a:avLst/>
          </a:prstGeom>
          <a:noFill/>
          <a:ln/>
        </p:spPr>
        <p:txBody>
          <a:bodyPr wrap="square" lIns="25400" tIns="25400" rIns="25400" bIns="25400" rtlCol="0" anchor="ctr">
            <a:normAutofit/>
          </a:bodyPr>
          <a:lstStyle/>
          <a:p>
            <a:pPr algn="ctr" indent="0" marL="0">
              <a:lnSpc>
                <a:spcPct val="119231"/>
              </a:lnSpc>
              <a:buNone/>
            </a:pPr>
            <a:r>
              <a:rPr lang="en-US" sz="533" b="1" dirty="0">
                <a:solidFill>
                  <a:srgbClr val="4F6559"/>
                </a:solidFill>
                <a:latin typeface="Arial" pitchFamily="34" charset="0"/>
                <a:ea typeface="Arial" pitchFamily="34" charset="-122"/>
                <a:cs typeface="Arial" pitchFamily="34" charset="-120"/>
              </a:rPr>
              <a:t>?</a:t>
            </a:r>
            <a:endParaRPr lang="en-US" sz="533" dirty="0"/>
          </a:p>
        </p:txBody>
      </p:sp>
      <p:sp>
        <p:nvSpPr>
          <p:cNvPr id="31" name="Text 29"/>
          <p:cNvSpPr/>
          <p:nvPr/>
        </p:nvSpPr>
        <p:spPr>
          <a:xfrm>
            <a:off x="1514316" y="7997507"/>
            <a:ext cx="257651"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4F6559"/>
                </a:solidFill>
                <a:latin typeface="Arial" pitchFamily="34" charset="0"/>
                <a:ea typeface="Arial" pitchFamily="34" charset="-122"/>
                <a:cs typeface="Arial" pitchFamily="34" charset="-120"/>
              </a:rPr>
              <a:t>Help</a:t>
            </a:r>
            <a:endParaRPr lang="en-US" sz="667" dirty="0"/>
          </a:p>
        </p:txBody>
      </p:sp>
      <p:sp>
        <p:nvSpPr>
          <p:cNvPr id="32" name="Shape 30"/>
          <p:cNvSpPr/>
          <p:nvPr/>
        </p:nvSpPr>
        <p:spPr>
          <a:xfrm>
            <a:off x="1243330" y="8264207"/>
            <a:ext cx="1618774" cy="397669"/>
          </a:xfrm>
          <a:prstGeom prst="roundRect">
            <a:avLst>
              <a:gd name="adj" fmla="val 20439"/>
            </a:avLst>
          </a:prstGeom>
          <a:solidFill>
            <a:srgbClr val="FFFFFF"/>
          </a:solidFill>
          <a:ln/>
          <a:effectLst>
            <a:outerShdw sx="100000" sy="100000" kx="0" ky="0" algn="bl" rotWithShape="0" blurRad="19050" dist="9525" dir="5400000">
              <a:srgbClr val="10211D">
                <a:alpha val="6000"/>
              </a:srgbClr>
            </a:outerShdw>
          </a:effectLst>
        </p:spPr>
      </p:sp>
      <p:sp>
        <p:nvSpPr>
          <p:cNvPr id="33" name="Shape 31"/>
          <p:cNvSpPr/>
          <p:nvPr/>
        </p:nvSpPr>
        <p:spPr>
          <a:xfrm>
            <a:off x="1324610" y="8354695"/>
            <a:ext cx="216694" cy="216694"/>
          </a:xfrm>
          <a:prstGeom prst="ellipse">
            <a:avLst/>
          </a:prstGeom>
          <a:solidFill>
            <a:srgbClr val="019A44"/>
          </a:solidFill>
          <a:ln/>
        </p:spPr>
      </p:sp>
      <p:sp>
        <p:nvSpPr>
          <p:cNvPr id="34" name="Text 32"/>
          <p:cNvSpPr/>
          <p:nvPr/>
        </p:nvSpPr>
        <p:spPr>
          <a:xfrm>
            <a:off x="1286510" y="8354695"/>
            <a:ext cx="292894" cy="254794"/>
          </a:xfrm>
          <a:prstGeom prst="rect">
            <a:avLst/>
          </a:prstGeom>
          <a:noFill/>
          <a:ln/>
        </p:spPr>
        <p:txBody>
          <a:bodyPr wrap="square" lIns="25400" tIns="25400" rIns="25400" bIns="25400" rtlCol="0" anchor="ctr">
            <a:normAutofit/>
          </a:bodyPr>
          <a:lstStyle/>
          <a:p>
            <a:pPr algn="ctr" indent="0" marL="0">
              <a:lnSpc>
                <a:spcPct val="134333"/>
              </a:lnSpc>
              <a:buNone/>
            </a:pPr>
            <a:r>
              <a:rPr lang="en-US" sz="693" b="1" dirty="0">
                <a:solidFill>
                  <a:srgbClr val="FFFFFF"/>
                </a:solidFill>
                <a:latin typeface="Arial" pitchFamily="34" charset="0"/>
                <a:ea typeface="Arial" pitchFamily="34" charset="-122"/>
                <a:cs typeface="Arial" pitchFamily="34" charset="-120"/>
              </a:rPr>
              <a:t>A</a:t>
            </a:r>
            <a:endParaRPr lang="en-US" sz="693" dirty="0"/>
          </a:p>
        </p:txBody>
      </p:sp>
      <p:sp>
        <p:nvSpPr>
          <p:cNvPr id="35" name="Text 33"/>
          <p:cNvSpPr/>
          <p:nvPr/>
        </p:nvSpPr>
        <p:spPr>
          <a:xfrm>
            <a:off x="1609090" y="8345488"/>
            <a:ext cx="624681" cy="152400"/>
          </a:xfrm>
          <a:prstGeom prst="rect">
            <a:avLst/>
          </a:prstGeom>
          <a:noFill/>
          <a:ln/>
        </p:spPr>
        <p:txBody>
          <a:bodyPr wrap="square" lIns="25400" tIns="25400" rIns="25400" bIns="25400" rtlCol="0" anchor="t">
            <a:normAutofit/>
          </a:bodyPr>
          <a:lstStyle/>
          <a:p>
            <a:pPr algn="l" indent="0" marL="0">
              <a:lnSpc>
                <a:spcPct val="105521"/>
              </a:lnSpc>
              <a:buNone/>
            </a:pPr>
            <a:r>
              <a:rPr lang="en-US" sz="720" b="1" dirty="0">
                <a:solidFill>
                  <a:srgbClr val="12211A"/>
                </a:solidFill>
                <a:latin typeface="Arial" pitchFamily="34" charset="0"/>
                <a:ea typeface="Arial" pitchFamily="34" charset="-122"/>
                <a:cs typeface="Arial" pitchFamily="34" charset="-120"/>
              </a:rPr>
              <a:t>Aziz Karimov</a:t>
            </a:r>
            <a:endParaRPr lang="en-US" sz="720" dirty="0"/>
          </a:p>
        </p:txBody>
      </p:sp>
      <p:sp>
        <p:nvSpPr>
          <p:cNvPr id="36" name="Text 34"/>
          <p:cNvSpPr/>
          <p:nvPr/>
        </p:nvSpPr>
        <p:spPr>
          <a:xfrm>
            <a:off x="1609090" y="8459788"/>
            <a:ext cx="624681" cy="158750"/>
          </a:xfrm>
          <a:prstGeom prst="rect">
            <a:avLst/>
          </a:prstGeom>
          <a:noFill/>
          <a:ln/>
        </p:spPr>
        <p:txBody>
          <a:bodyPr wrap="square" lIns="25400" tIns="25400" rIns="25400" bIns="25400" rtlCol="0" anchor="t">
            <a:normAutofit/>
          </a:bodyPr>
          <a:lstStyle/>
          <a:p>
            <a:pPr algn="l" indent="0" marL="0">
              <a:lnSpc>
                <a:spcPct val="127262"/>
              </a:lnSpc>
              <a:buNone/>
            </a:pPr>
            <a:r>
              <a:rPr lang="en-US" sz="613" dirty="0">
                <a:solidFill>
                  <a:srgbClr val="4F6559"/>
                </a:solidFill>
                <a:latin typeface="Arial" pitchFamily="34" charset="0"/>
                <a:ea typeface="Arial" pitchFamily="34" charset="-122"/>
                <a:cs typeface="Arial" pitchFamily="34" charset="-120"/>
              </a:rPr>
              <a:t>Admin</a:t>
            </a:r>
            <a:endParaRPr lang="en-US" sz="613" dirty="0"/>
          </a:p>
        </p:txBody>
      </p:sp>
      <p:sp>
        <p:nvSpPr>
          <p:cNvPr id="37" name="Text 35"/>
          <p:cNvSpPr/>
          <p:nvPr/>
        </p:nvSpPr>
        <p:spPr>
          <a:xfrm>
            <a:off x="3072130" y="3327876"/>
            <a:ext cx="675957"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Championships</a:t>
            </a:r>
            <a:endParaRPr lang="en-US" sz="693" dirty="0"/>
          </a:p>
        </p:txBody>
      </p:sp>
      <p:sp>
        <p:nvSpPr>
          <p:cNvPr id="38" name="Text 36"/>
          <p:cNvSpPr/>
          <p:nvPr/>
        </p:nvSpPr>
        <p:spPr>
          <a:xfrm>
            <a:off x="3726021" y="3327876"/>
            <a:ext cx="114300"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a:t>
            </a:r>
            <a:endParaRPr lang="en-US" sz="693" dirty="0"/>
          </a:p>
        </p:txBody>
      </p:sp>
      <p:sp>
        <p:nvSpPr>
          <p:cNvPr id="39" name="Text 37"/>
          <p:cNvSpPr/>
          <p:nvPr/>
        </p:nvSpPr>
        <p:spPr>
          <a:xfrm>
            <a:off x="3805079" y="3327876"/>
            <a:ext cx="1435418"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Asian Kurash Championship 2026</a:t>
            </a:r>
            <a:endParaRPr lang="en-US" sz="693" dirty="0"/>
          </a:p>
        </p:txBody>
      </p:sp>
      <p:sp>
        <p:nvSpPr>
          <p:cNvPr id="40" name="Text 38"/>
          <p:cNvSpPr/>
          <p:nvPr/>
        </p:nvSpPr>
        <p:spPr>
          <a:xfrm>
            <a:off x="5164138" y="3327876"/>
            <a:ext cx="114300"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a:t>
            </a:r>
            <a:endParaRPr lang="en-US" sz="693" dirty="0"/>
          </a:p>
        </p:txBody>
      </p:sp>
      <p:sp>
        <p:nvSpPr>
          <p:cNvPr id="41" name="Text 39"/>
          <p:cNvSpPr/>
          <p:nvPr/>
        </p:nvSpPr>
        <p:spPr>
          <a:xfrm>
            <a:off x="5243036" y="3327876"/>
            <a:ext cx="436245"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b="1" dirty="0">
                <a:solidFill>
                  <a:srgbClr val="16211D"/>
                </a:solidFill>
                <a:latin typeface="Arial" pitchFamily="34" charset="0"/>
                <a:ea typeface="Arial" pitchFamily="34" charset="-122"/>
                <a:cs typeface="Arial" pitchFamily="34" charset="-120"/>
              </a:rPr>
              <a:t>Weigh-in</a:t>
            </a:r>
            <a:endParaRPr lang="en-US" sz="693" dirty="0"/>
          </a:p>
        </p:txBody>
      </p:sp>
      <p:sp>
        <p:nvSpPr>
          <p:cNvPr id="42" name="Shape 40"/>
          <p:cNvSpPr/>
          <p:nvPr/>
        </p:nvSpPr>
        <p:spPr>
          <a:xfrm>
            <a:off x="3017996" y="3559175"/>
            <a:ext cx="327819" cy="180181"/>
          </a:xfrm>
          <a:prstGeom prst="roundRect">
            <a:avLst>
              <a:gd name="adj" fmla="val 50000"/>
            </a:avLst>
          </a:prstGeom>
          <a:solidFill>
            <a:srgbClr val="E8F6FD"/>
          </a:solidFill>
          <a:ln/>
        </p:spPr>
      </p:sp>
      <p:sp>
        <p:nvSpPr>
          <p:cNvPr id="43" name="Text 41"/>
          <p:cNvSpPr/>
          <p:nvPr/>
        </p:nvSpPr>
        <p:spPr>
          <a:xfrm>
            <a:off x="3099276" y="3586269"/>
            <a:ext cx="241459" cy="164094"/>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086690"/>
                </a:solidFill>
                <a:latin typeface="Arial" pitchFamily="34" charset="0"/>
                <a:ea typeface="Arial" pitchFamily="34" charset="-122"/>
                <a:cs typeface="Arial" pitchFamily="34" charset="-120"/>
              </a:rPr>
              <a:t>Men</a:t>
            </a:r>
            <a:endParaRPr lang="en-US" sz="640" dirty="0"/>
          </a:p>
        </p:txBody>
      </p:sp>
      <p:sp>
        <p:nvSpPr>
          <p:cNvPr id="44" name="Text 42"/>
          <p:cNvSpPr/>
          <p:nvPr/>
        </p:nvSpPr>
        <p:spPr>
          <a:xfrm>
            <a:off x="3017996" y="3806984"/>
            <a:ext cx="8523621" cy="281940"/>
          </a:xfrm>
          <a:prstGeom prst="rect">
            <a:avLst/>
          </a:prstGeom>
          <a:noFill/>
          <a:ln/>
        </p:spPr>
        <p:txBody>
          <a:bodyPr wrap="square" lIns="25400" tIns="25400" rIns="25400" bIns="25400" rtlCol="0" anchor="t">
            <a:normAutofit/>
          </a:bodyPr>
          <a:lstStyle/>
          <a:p>
            <a:pPr algn="l" indent="0" marL="0">
              <a:lnSpc>
                <a:spcPct val="102857"/>
              </a:lnSpc>
              <a:buNone/>
            </a:pPr>
            <a:r>
              <a:rPr lang="en-US" sz="1600" b="1" spc="-32" kern="0" dirty="0">
                <a:solidFill>
                  <a:srgbClr val="16211D"/>
                </a:solidFill>
                <a:latin typeface="Arial" pitchFamily="34" charset="0"/>
                <a:ea typeface="Arial" pitchFamily="34" charset="-122"/>
                <a:cs typeface="Arial" pitchFamily="34" charset="-120"/>
              </a:rPr>
              <a:t>Weigh-in</a:t>
            </a:r>
            <a:endParaRPr lang="en-US" sz="1600" dirty="0"/>
          </a:p>
        </p:txBody>
      </p:sp>
      <p:sp>
        <p:nvSpPr>
          <p:cNvPr id="45" name="Text 43"/>
          <p:cNvSpPr/>
          <p:nvPr/>
        </p:nvSpPr>
        <p:spPr>
          <a:xfrm>
            <a:off x="3017996" y="4091464"/>
            <a:ext cx="8523621" cy="190341"/>
          </a:xfrm>
          <a:prstGeom prst="rect">
            <a:avLst/>
          </a:prstGeom>
          <a:noFill/>
          <a:ln/>
        </p:spPr>
        <p:txBody>
          <a:bodyPr wrap="square" lIns="25400" tIns="25400" rIns="25400" bIns="25400" rtlCol="0" anchor="t">
            <a:normAutofit/>
          </a:bodyPr>
          <a:lstStyle/>
          <a:p>
            <a:pPr algn="l" indent="0" marL="0">
              <a:lnSpc>
                <a:spcPct val="124815"/>
              </a:lnSpc>
              <a:buNone/>
            </a:pPr>
            <a:r>
              <a:rPr lang="en-US" sz="773" dirty="0">
                <a:solidFill>
                  <a:srgbClr val="65726C"/>
                </a:solidFill>
                <a:latin typeface="Arial" pitchFamily="34" charset="0"/>
                <a:ea typeface="Arial" pitchFamily="34" charset="-122"/>
                <a:cs typeface="Arial" pitchFamily="34" charset="-120"/>
              </a:rPr>
              <a:t>A 0.5 kg tolerance applies below an upper limit. Open classes have no upper bound.</a:t>
            </a:r>
            <a:endParaRPr lang="en-US" sz="773" dirty="0"/>
          </a:p>
        </p:txBody>
      </p:sp>
      <p:sp>
        <p:nvSpPr>
          <p:cNvPr id="46" name="Shape 44"/>
          <p:cNvSpPr/>
          <p:nvPr/>
        </p:nvSpPr>
        <p:spPr>
          <a:xfrm>
            <a:off x="3017996" y="4365625"/>
            <a:ext cx="1327626" cy="591820"/>
          </a:xfrm>
          <a:prstGeom prst="roundRect">
            <a:avLst>
              <a:gd name="adj" fmla="val 20601"/>
            </a:avLst>
          </a:prstGeom>
          <a:solidFill>
            <a:srgbClr val="FFFFFF"/>
          </a:solidFill>
          <a:ln/>
          <a:effectLst>
            <a:outerShdw sx="100000" sy="100000" kx="0" ky="0" algn="bl" rotWithShape="0" blurRad="152400" dist="38100" dir="5400000">
              <a:srgbClr val="10211D">
                <a:alpha val="7000"/>
              </a:srgbClr>
            </a:outerShdw>
          </a:effectLst>
        </p:spPr>
      </p:sp>
      <p:sp>
        <p:nvSpPr>
          <p:cNvPr id="47" name="Text 45"/>
          <p:cNvSpPr/>
          <p:nvPr/>
        </p:nvSpPr>
        <p:spPr>
          <a:xfrm>
            <a:off x="3166904" y="4487545"/>
            <a:ext cx="1105694" cy="227806"/>
          </a:xfrm>
          <a:prstGeom prst="rect">
            <a:avLst/>
          </a:prstGeom>
          <a:noFill/>
          <a:ln/>
        </p:spPr>
        <p:txBody>
          <a:bodyPr wrap="square" lIns="25400" tIns="25400" rIns="25400" bIns="25400" rtlCol="0" anchor="t">
            <a:normAutofit/>
          </a:bodyPr>
          <a:lstStyle/>
          <a:p>
            <a:pPr algn="l" indent="0" marL="0">
              <a:lnSpc>
                <a:spcPct val="87500"/>
              </a:lnSpc>
              <a:buNone/>
            </a:pPr>
            <a:r>
              <a:rPr lang="en-US" sz="1493" b="1" dirty="0">
                <a:solidFill>
                  <a:srgbClr val="16211D"/>
                </a:solidFill>
                <a:latin typeface="Arial" pitchFamily="34" charset="0"/>
                <a:ea typeface="Arial" pitchFamily="34" charset="-122"/>
                <a:cs typeface="Arial" pitchFamily="34" charset="-120"/>
              </a:rPr>
              <a:t>4</a:t>
            </a:r>
            <a:endParaRPr lang="en-US" sz="1493" dirty="0"/>
          </a:p>
        </p:txBody>
      </p:sp>
      <p:sp>
        <p:nvSpPr>
          <p:cNvPr id="48" name="Text 46"/>
          <p:cNvSpPr/>
          <p:nvPr/>
        </p:nvSpPr>
        <p:spPr>
          <a:xfrm>
            <a:off x="3166904" y="4704239"/>
            <a:ext cx="1105694"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Weighed</a:t>
            </a:r>
            <a:endParaRPr lang="en-US" sz="667" dirty="0"/>
          </a:p>
        </p:txBody>
      </p:sp>
      <p:sp>
        <p:nvSpPr>
          <p:cNvPr id="49" name="Shape 47"/>
          <p:cNvSpPr/>
          <p:nvPr/>
        </p:nvSpPr>
        <p:spPr>
          <a:xfrm>
            <a:off x="4453890" y="4365625"/>
            <a:ext cx="1327626" cy="591820"/>
          </a:xfrm>
          <a:prstGeom prst="roundRect">
            <a:avLst>
              <a:gd name="adj" fmla="val 20601"/>
            </a:avLst>
          </a:prstGeom>
          <a:solidFill>
            <a:srgbClr val="FFFFFF"/>
          </a:solidFill>
          <a:ln/>
          <a:effectLst>
            <a:outerShdw sx="100000" sy="100000" kx="0" ky="0" algn="bl" rotWithShape="0" blurRad="152400" dist="38100" dir="5400000">
              <a:srgbClr val="10211D">
                <a:alpha val="7000"/>
              </a:srgbClr>
            </a:outerShdw>
          </a:effectLst>
        </p:spPr>
      </p:sp>
      <p:sp>
        <p:nvSpPr>
          <p:cNvPr id="50" name="Shape 48"/>
          <p:cNvSpPr/>
          <p:nvPr/>
        </p:nvSpPr>
        <p:spPr>
          <a:xfrm>
            <a:off x="4453890" y="4365625"/>
            <a:ext cx="27093" cy="591820"/>
          </a:xfrm>
          <a:prstGeom prst="rect">
            <a:avLst/>
          </a:prstGeom>
          <a:solidFill>
            <a:srgbClr val="019A44"/>
          </a:solidFill>
          <a:ln/>
        </p:spPr>
      </p:sp>
      <p:sp>
        <p:nvSpPr>
          <p:cNvPr id="51" name="Text 49"/>
          <p:cNvSpPr/>
          <p:nvPr/>
        </p:nvSpPr>
        <p:spPr>
          <a:xfrm>
            <a:off x="4629944" y="4487545"/>
            <a:ext cx="1078706" cy="227806"/>
          </a:xfrm>
          <a:prstGeom prst="rect">
            <a:avLst/>
          </a:prstGeom>
          <a:noFill/>
          <a:ln/>
        </p:spPr>
        <p:txBody>
          <a:bodyPr wrap="square" lIns="25400" tIns="25400" rIns="25400" bIns="25400" rtlCol="0" anchor="t">
            <a:normAutofit/>
          </a:bodyPr>
          <a:lstStyle/>
          <a:p>
            <a:pPr algn="l" indent="0" marL="0">
              <a:lnSpc>
                <a:spcPct val="87500"/>
              </a:lnSpc>
              <a:buNone/>
            </a:pPr>
            <a:r>
              <a:rPr lang="en-US" sz="1493" b="1" dirty="0">
                <a:solidFill>
                  <a:srgbClr val="046830"/>
                </a:solidFill>
                <a:latin typeface="Arial" pitchFamily="34" charset="0"/>
                <a:ea typeface="Arial" pitchFamily="34" charset="-122"/>
                <a:cs typeface="Arial" pitchFamily="34" charset="-120"/>
              </a:rPr>
              <a:t>3</a:t>
            </a:r>
            <a:endParaRPr lang="en-US" sz="1493" dirty="0"/>
          </a:p>
        </p:txBody>
      </p:sp>
      <p:sp>
        <p:nvSpPr>
          <p:cNvPr id="52" name="Text 50"/>
          <p:cNvSpPr/>
          <p:nvPr/>
        </p:nvSpPr>
        <p:spPr>
          <a:xfrm>
            <a:off x="4629944" y="4704239"/>
            <a:ext cx="1078706"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Passed</a:t>
            </a:r>
            <a:endParaRPr lang="en-US" sz="667" dirty="0"/>
          </a:p>
        </p:txBody>
      </p:sp>
      <p:sp>
        <p:nvSpPr>
          <p:cNvPr id="53" name="Shape 51"/>
          <p:cNvSpPr/>
          <p:nvPr/>
        </p:nvSpPr>
        <p:spPr>
          <a:xfrm>
            <a:off x="5889784" y="4365625"/>
            <a:ext cx="1327626" cy="591820"/>
          </a:xfrm>
          <a:prstGeom prst="roundRect">
            <a:avLst>
              <a:gd name="adj" fmla="val 20601"/>
            </a:avLst>
          </a:prstGeom>
          <a:solidFill>
            <a:srgbClr val="FFFFFF"/>
          </a:solidFill>
          <a:ln/>
          <a:effectLst>
            <a:outerShdw sx="100000" sy="100000" kx="0" ky="0" algn="bl" rotWithShape="0" blurRad="152400" dist="38100" dir="5400000">
              <a:srgbClr val="10211D">
                <a:alpha val="7000"/>
              </a:srgbClr>
            </a:outerShdw>
          </a:effectLst>
        </p:spPr>
      </p:sp>
      <p:sp>
        <p:nvSpPr>
          <p:cNvPr id="54" name="Shape 52"/>
          <p:cNvSpPr/>
          <p:nvPr/>
        </p:nvSpPr>
        <p:spPr>
          <a:xfrm>
            <a:off x="5889784" y="4365625"/>
            <a:ext cx="27093" cy="591820"/>
          </a:xfrm>
          <a:prstGeom prst="rect">
            <a:avLst/>
          </a:prstGeom>
          <a:solidFill>
            <a:srgbClr val="D7263D"/>
          </a:solidFill>
          <a:ln/>
        </p:spPr>
      </p:sp>
      <p:sp>
        <p:nvSpPr>
          <p:cNvPr id="55" name="Text 53"/>
          <p:cNvSpPr/>
          <p:nvPr/>
        </p:nvSpPr>
        <p:spPr>
          <a:xfrm>
            <a:off x="6065996" y="4487545"/>
            <a:ext cx="1078706" cy="227806"/>
          </a:xfrm>
          <a:prstGeom prst="rect">
            <a:avLst/>
          </a:prstGeom>
          <a:noFill/>
          <a:ln/>
        </p:spPr>
        <p:txBody>
          <a:bodyPr wrap="square" lIns="25400" tIns="25400" rIns="25400" bIns="25400" rtlCol="0" anchor="t">
            <a:normAutofit/>
          </a:bodyPr>
          <a:lstStyle/>
          <a:p>
            <a:pPr algn="l" indent="0" marL="0">
              <a:lnSpc>
                <a:spcPct val="87500"/>
              </a:lnSpc>
              <a:buNone/>
            </a:pPr>
            <a:r>
              <a:rPr lang="en-US" sz="1493" b="1" dirty="0">
                <a:solidFill>
                  <a:srgbClr val="8F1626"/>
                </a:solidFill>
                <a:latin typeface="Arial" pitchFamily="34" charset="0"/>
                <a:ea typeface="Arial" pitchFamily="34" charset="-122"/>
                <a:cs typeface="Arial" pitchFamily="34" charset="-120"/>
              </a:rPr>
              <a:t>1</a:t>
            </a:r>
            <a:endParaRPr lang="en-US" sz="1493" dirty="0"/>
          </a:p>
        </p:txBody>
      </p:sp>
      <p:sp>
        <p:nvSpPr>
          <p:cNvPr id="56" name="Text 54"/>
          <p:cNvSpPr/>
          <p:nvPr/>
        </p:nvSpPr>
        <p:spPr>
          <a:xfrm>
            <a:off x="6065996" y="4704239"/>
            <a:ext cx="1078706"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Outside class</a:t>
            </a:r>
            <a:endParaRPr lang="en-US" sz="667" dirty="0"/>
          </a:p>
        </p:txBody>
      </p:sp>
      <p:sp>
        <p:nvSpPr>
          <p:cNvPr id="57" name="Shape 55"/>
          <p:cNvSpPr/>
          <p:nvPr/>
        </p:nvSpPr>
        <p:spPr>
          <a:xfrm>
            <a:off x="3017996" y="5065871"/>
            <a:ext cx="7748746" cy="2335054"/>
          </a:xfrm>
          <a:prstGeom prst="roundRect">
            <a:avLst>
              <a:gd name="adj" fmla="val 5221"/>
            </a:avLst>
          </a:prstGeom>
          <a:solidFill>
            <a:srgbClr val="FFFFFF"/>
          </a:solidFill>
          <a:ln/>
          <a:effectLst>
            <a:outerShdw sx="100000" sy="100000" kx="0" ky="0" algn="bl" rotWithShape="0" blurRad="152400" dist="38100" dir="5400000">
              <a:srgbClr val="10211D">
                <a:alpha val="7000"/>
              </a:srgbClr>
            </a:outerShdw>
          </a:effectLst>
        </p:spPr>
      </p:sp>
      <p:sp>
        <p:nvSpPr>
          <p:cNvPr id="58" name="Text 56"/>
          <p:cNvSpPr/>
          <p:nvPr/>
        </p:nvSpPr>
        <p:spPr>
          <a:xfrm>
            <a:off x="3207544" y="5248751"/>
            <a:ext cx="568642"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b="1" dirty="0">
                <a:solidFill>
                  <a:srgbClr val="65726C"/>
                </a:solidFill>
                <a:latin typeface="Arial" pitchFamily="34" charset="0"/>
                <a:ea typeface="Arial" pitchFamily="34" charset="-122"/>
                <a:cs typeface="Arial" pitchFamily="34" charset="-120"/>
              </a:rPr>
              <a:t>Weight class</a:t>
            </a:r>
            <a:endParaRPr lang="en-US" sz="667" dirty="0"/>
          </a:p>
        </p:txBody>
      </p:sp>
      <p:sp>
        <p:nvSpPr>
          <p:cNvPr id="59" name="Shape 57"/>
          <p:cNvSpPr/>
          <p:nvPr/>
        </p:nvSpPr>
        <p:spPr>
          <a:xfrm>
            <a:off x="3781266" y="5201285"/>
            <a:ext cx="1354614" cy="226060"/>
          </a:xfrm>
          <a:prstGeom prst="roundRect">
            <a:avLst>
              <a:gd name="adj" fmla="val 23970"/>
            </a:avLst>
          </a:prstGeom>
          <a:solidFill>
            <a:srgbClr val="F6F8F7"/>
          </a:solidFill>
          <a:ln w="6773">
            <a:solidFill>
              <a:srgbClr val="E4EAE7"/>
            </a:solidFill>
            <a:prstDash val="solid"/>
          </a:ln>
        </p:spPr>
      </p:sp>
      <p:sp>
        <p:nvSpPr>
          <p:cNvPr id="60" name="Text 58"/>
          <p:cNvSpPr/>
          <p:nvPr/>
        </p:nvSpPr>
        <p:spPr>
          <a:xfrm>
            <a:off x="3869373" y="5248751"/>
            <a:ext cx="333375"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b="1" dirty="0">
                <a:solidFill>
                  <a:srgbClr val="65726C"/>
                </a:solidFill>
                <a:latin typeface="Arial" pitchFamily="34" charset="0"/>
                <a:ea typeface="Arial" pitchFamily="34" charset="-122"/>
                <a:cs typeface="Arial" pitchFamily="34" charset="-120"/>
              </a:rPr>
              <a:t>−60 kg</a:t>
            </a:r>
            <a:endParaRPr lang="en-US" sz="667" dirty="0"/>
          </a:p>
        </p:txBody>
      </p:sp>
      <p:sp>
        <p:nvSpPr>
          <p:cNvPr id="61" name="Text 59"/>
          <p:cNvSpPr/>
          <p:nvPr/>
        </p:nvSpPr>
        <p:spPr>
          <a:xfrm>
            <a:off x="4976971" y="5248751"/>
            <a:ext cx="147161"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b="1" dirty="0">
                <a:solidFill>
                  <a:srgbClr val="65726C"/>
                </a:solidFill>
                <a:latin typeface="Arial" pitchFamily="34" charset="0"/>
                <a:ea typeface="Arial" pitchFamily="34" charset="-122"/>
                <a:cs typeface="Arial" pitchFamily="34" charset="-120"/>
              </a:rPr>
              <a:t>⌄</a:t>
            </a:r>
            <a:endParaRPr lang="en-US" sz="667" dirty="0"/>
          </a:p>
        </p:txBody>
      </p:sp>
      <p:sp>
        <p:nvSpPr>
          <p:cNvPr id="62" name="Text 60"/>
          <p:cNvSpPr/>
          <p:nvPr/>
        </p:nvSpPr>
        <p:spPr>
          <a:xfrm>
            <a:off x="9157494" y="5248751"/>
            <a:ext cx="612457"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65726C"/>
                </a:solidFill>
                <a:latin typeface="Arial" pitchFamily="34" charset="0"/>
                <a:ea typeface="Arial" pitchFamily="34" charset="-122"/>
                <a:cs typeface="Arial" pitchFamily="34" charset="-120"/>
              </a:rPr>
              <a:t>Confirmed list</a:t>
            </a:r>
            <a:endParaRPr lang="en-US" sz="667" dirty="0"/>
          </a:p>
        </p:txBody>
      </p:sp>
      <p:sp>
        <p:nvSpPr>
          <p:cNvPr id="63" name="Shape 61"/>
          <p:cNvSpPr/>
          <p:nvPr/>
        </p:nvSpPr>
        <p:spPr>
          <a:xfrm>
            <a:off x="9747885" y="5208111"/>
            <a:ext cx="363855" cy="212566"/>
          </a:xfrm>
          <a:prstGeom prst="roundRect">
            <a:avLst>
              <a:gd name="adj" fmla="val 50000"/>
            </a:avLst>
          </a:prstGeom>
          <a:solidFill>
            <a:srgbClr val="FFFFFF"/>
          </a:solidFill>
          <a:ln w="6773">
            <a:solidFill>
              <a:srgbClr val="E4EAE7"/>
            </a:solidFill>
            <a:prstDash val="solid"/>
          </a:ln>
        </p:spPr>
      </p:sp>
      <p:sp>
        <p:nvSpPr>
          <p:cNvPr id="64" name="Text 62"/>
          <p:cNvSpPr/>
          <p:nvPr/>
        </p:nvSpPr>
        <p:spPr>
          <a:xfrm>
            <a:off x="9849485" y="5248751"/>
            <a:ext cx="236855" cy="169386"/>
          </a:xfrm>
          <a:prstGeom prst="rect">
            <a:avLst/>
          </a:prstGeom>
          <a:noFill/>
          <a:ln/>
        </p:spPr>
        <p:txBody>
          <a:bodyPr wrap="square" lIns="25400" tIns="25400" rIns="25400" bIns="25400" rtlCol="0" anchor="ctr">
            <a:normAutofit/>
          </a:bodyPr>
          <a:lstStyle/>
          <a:p>
            <a:pPr algn="l" indent="0" marL="0">
              <a:lnSpc>
                <a:spcPct val="129222"/>
              </a:lnSpc>
              <a:buNone/>
            </a:pPr>
            <a:r>
              <a:rPr lang="en-US" sz="667" b="1" dirty="0">
                <a:solidFill>
                  <a:srgbClr val="65726C"/>
                </a:solidFill>
                <a:latin typeface="Arial" pitchFamily="34" charset="0"/>
                <a:ea typeface="Arial" pitchFamily="34" charset="-122"/>
                <a:cs typeface="Arial" pitchFamily="34" charset="-120"/>
              </a:rPr>
              <a:t>PDF</a:t>
            </a:r>
            <a:endParaRPr lang="en-US" sz="667" dirty="0"/>
          </a:p>
        </p:txBody>
      </p:sp>
      <p:sp>
        <p:nvSpPr>
          <p:cNvPr id="65" name="Shape 63"/>
          <p:cNvSpPr/>
          <p:nvPr/>
        </p:nvSpPr>
        <p:spPr>
          <a:xfrm>
            <a:off x="10166033" y="5208111"/>
            <a:ext cx="411004" cy="212566"/>
          </a:xfrm>
          <a:prstGeom prst="roundRect">
            <a:avLst>
              <a:gd name="adj" fmla="val 50000"/>
            </a:avLst>
          </a:prstGeom>
          <a:solidFill>
            <a:srgbClr val="FFFFFF"/>
          </a:solidFill>
          <a:ln w="6773">
            <a:solidFill>
              <a:srgbClr val="E4EAE7"/>
            </a:solidFill>
            <a:prstDash val="solid"/>
          </a:ln>
        </p:spPr>
      </p:sp>
      <p:sp>
        <p:nvSpPr>
          <p:cNvPr id="66" name="Text 64"/>
          <p:cNvSpPr/>
          <p:nvPr/>
        </p:nvSpPr>
        <p:spPr>
          <a:xfrm>
            <a:off x="10267633" y="5248751"/>
            <a:ext cx="284004" cy="169386"/>
          </a:xfrm>
          <a:prstGeom prst="rect">
            <a:avLst/>
          </a:prstGeom>
          <a:noFill/>
          <a:ln/>
        </p:spPr>
        <p:txBody>
          <a:bodyPr wrap="square" lIns="25400" tIns="25400" rIns="25400" bIns="25400" rtlCol="0" anchor="ctr">
            <a:normAutofit/>
          </a:bodyPr>
          <a:lstStyle/>
          <a:p>
            <a:pPr algn="l" indent="0" marL="0">
              <a:lnSpc>
                <a:spcPct val="129222"/>
              </a:lnSpc>
              <a:buNone/>
            </a:pPr>
            <a:r>
              <a:rPr lang="en-US" sz="667" b="1" dirty="0">
                <a:solidFill>
                  <a:srgbClr val="65726C"/>
                </a:solidFill>
                <a:latin typeface="Arial" pitchFamily="34" charset="0"/>
                <a:ea typeface="Arial" pitchFamily="34" charset="-122"/>
                <a:cs typeface="Arial" pitchFamily="34" charset="-120"/>
              </a:rPr>
              <a:t>Excel</a:t>
            </a:r>
            <a:endParaRPr lang="en-US" sz="667" dirty="0"/>
          </a:p>
        </p:txBody>
      </p:sp>
      <p:sp>
        <p:nvSpPr>
          <p:cNvPr id="67" name="Shape 65"/>
          <p:cNvSpPr/>
          <p:nvPr/>
        </p:nvSpPr>
        <p:spPr>
          <a:xfrm>
            <a:off x="3017996" y="5815701"/>
            <a:ext cx="1027906" cy="9525"/>
          </a:xfrm>
          <a:prstGeom prst="rect">
            <a:avLst/>
          </a:prstGeom>
          <a:solidFill>
            <a:srgbClr val="E4EAE7"/>
          </a:solidFill>
          <a:ln/>
        </p:spPr>
      </p:sp>
      <p:sp>
        <p:nvSpPr>
          <p:cNvPr id="68" name="Text 66"/>
          <p:cNvSpPr/>
          <p:nvPr/>
        </p:nvSpPr>
        <p:spPr>
          <a:xfrm>
            <a:off x="3153463" y="5617051"/>
            <a:ext cx="833173"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IKA ID</a:t>
            </a:r>
            <a:endParaRPr lang="en-US" sz="613" dirty="0"/>
          </a:p>
        </p:txBody>
      </p:sp>
      <p:sp>
        <p:nvSpPr>
          <p:cNvPr id="69" name="Shape 67"/>
          <p:cNvSpPr/>
          <p:nvPr/>
        </p:nvSpPr>
        <p:spPr>
          <a:xfrm>
            <a:off x="4045744" y="5815701"/>
            <a:ext cx="1575435" cy="9525"/>
          </a:xfrm>
          <a:prstGeom prst="rect">
            <a:avLst/>
          </a:prstGeom>
          <a:solidFill>
            <a:srgbClr val="E4EAE7"/>
          </a:solidFill>
          <a:ln/>
        </p:spPr>
      </p:sp>
      <p:sp>
        <p:nvSpPr>
          <p:cNvPr id="70" name="Text 68"/>
          <p:cNvSpPr/>
          <p:nvPr/>
        </p:nvSpPr>
        <p:spPr>
          <a:xfrm>
            <a:off x="4181210" y="5617051"/>
            <a:ext cx="1380702"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NAME</a:t>
            </a:r>
            <a:endParaRPr lang="en-US" sz="613" dirty="0"/>
          </a:p>
        </p:txBody>
      </p:sp>
      <p:sp>
        <p:nvSpPr>
          <p:cNvPr id="71" name="Shape 69"/>
          <p:cNvSpPr/>
          <p:nvPr/>
        </p:nvSpPr>
        <p:spPr>
          <a:xfrm>
            <a:off x="5621179" y="5815701"/>
            <a:ext cx="828199" cy="9525"/>
          </a:xfrm>
          <a:prstGeom prst="rect">
            <a:avLst/>
          </a:prstGeom>
          <a:solidFill>
            <a:srgbClr val="E4EAE7"/>
          </a:solidFill>
          <a:ln/>
        </p:spPr>
      </p:sp>
      <p:sp>
        <p:nvSpPr>
          <p:cNvPr id="72" name="Text 70"/>
          <p:cNvSpPr/>
          <p:nvPr/>
        </p:nvSpPr>
        <p:spPr>
          <a:xfrm>
            <a:off x="5756646" y="5617051"/>
            <a:ext cx="633466"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NOC</a:t>
            </a:r>
            <a:endParaRPr lang="en-US" sz="613" dirty="0"/>
          </a:p>
        </p:txBody>
      </p:sp>
      <p:sp>
        <p:nvSpPr>
          <p:cNvPr id="73" name="Shape 71"/>
          <p:cNvSpPr/>
          <p:nvPr/>
        </p:nvSpPr>
        <p:spPr>
          <a:xfrm>
            <a:off x="6449377" y="5815701"/>
            <a:ext cx="815657" cy="9525"/>
          </a:xfrm>
          <a:prstGeom prst="rect">
            <a:avLst/>
          </a:prstGeom>
          <a:solidFill>
            <a:srgbClr val="E4EAE7"/>
          </a:solidFill>
          <a:ln/>
        </p:spPr>
      </p:sp>
      <p:sp>
        <p:nvSpPr>
          <p:cNvPr id="74" name="Text 72"/>
          <p:cNvSpPr/>
          <p:nvPr/>
        </p:nvSpPr>
        <p:spPr>
          <a:xfrm>
            <a:off x="6584844" y="5617051"/>
            <a:ext cx="620924"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CLASS</a:t>
            </a:r>
            <a:endParaRPr lang="en-US" sz="613" dirty="0"/>
          </a:p>
        </p:txBody>
      </p:sp>
      <p:sp>
        <p:nvSpPr>
          <p:cNvPr id="75" name="Shape 73"/>
          <p:cNvSpPr/>
          <p:nvPr/>
        </p:nvSpPr>
        <p:spPr>
          <a:xfrm>
            <a:off x="7265035" y="5815701"/>
            <a:ext cx="2053114" cy="9525"/>
          </a:xfrm>
          <a:prstGeom prst="rect">
            <a:avLst/>
          </a:prstGeom>
          <a:solidFill>
            <a:srgbClr val="E4EAE7"/>
          </a:solidFill>
          <a:ln/>
        </p:spPr>
      </p:sp>
      <p:sp>
        <p:nvSpPr>
          <p:cNvPr id="76" name="Text 74"/>
          <p:cNvSpPr/>
          <p:nvPr/>
        </p:nvSpPr>
        <p:spPr>
          <a:xfrm>
            <a:off x="7400502" y="5617051"/>
            <a:ext cx="1858380"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MEASURED</a:t>
            </a:r>
            <a:endParaRPr lang="en-US" sz="613" dirty="0"/>
          </a:p>
        </p:txBody>
      </p:sp>
      <p:sp>
        <p:nvSpPr>
          <p:cNvPr id="77" name="Shape 75"/>
          <p:cNvSpPr/>
          <p:nvPr/>
        </p:nvSpPr>
        <p:spPr>
          <a:xfrm>
            <a:off x="9318149" y="5815701"/>
            <a:ext cx="1448435" cy="9525"/>
          </a:xfrm>
          <a:prstGeom prst="rect">
            <a:avLst/>
          </a:prstGeom>
          <a:solidFill>
            <a:srgbClr val="E4EAE7"/>
          </a:solidFill>
          <a:ln/>
        </p:spPr>
      </p:sp>
      <p:sp>
        <p:nvSpPr>
          <p:cNvPr id="78" name="Text 76"/>
          <p:cNvSpPr/>
          <p:nvPr/>
        </p:nvSpPr>
        <p:spPr>
          <a:xfrm>
            <a:off x="9453615" y="5617051"/>
            <a:ext cx="1253702"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RESULT</a:t>
            </a:r>
            <a:endParaRPr lang="en-US" sz="613" dirty="0"/>
          </a:p>
        </p:txBody>
      </p:sp>
      <p:sp>
        <p:nvSpPr>
          <p:cNvPr id="79" name="Shape 77"/>
          <p:cNvSpPr/>
          <p:nvPr/>
        </p:nvSpPr>
        <p:spPr>
          <a:xfrm>
            <a:off x="3017996" y="6211147"/>
            <a:ext cx="1027906" cy="9525"/>
          </a:xfrm>
          <a:prstGeom prst="rect">
            <a:avLst/>
          </a:prstGeom>
          <a:solidFill>
            <a:srgbClr val="EEF2F0"/>
          </a:solidFill>
          <a:ln/>
        </p:spPr>
      </p:sp>
      <p:sp>
        <p:nvSpPr>
          <p:cNvPr id="80" name="Text 78"/>
          <p:cNvSpPr/>
          <p:nvPr/>
        </p:nvSpPr>
        <p:spPr>
          <a:xfrm>
            <a:off x="3153463" y="5910527"/>
            <a:ext cx="833173" cy="250666"/>
          </a:xfrm>
          <a:prstGeom prst="rect">
            <a:avLst/>
          </a:prstGeom>
          <a:noFill/>
          <a:ln/>
        </p:spPr>
        <p:txBody>
          <a:bodyPr wrap="square" lIns="25400" tIns="25400" rIns="25400" bIns="25400" rtlCol="0" anchor="ctr">
            <a:normAutofit/>
          </a:bodyPr>
          <a:lstStyle/>
          <a:p>
            <a:pPr algn="l" indent="0" marL="0">
              <a:lnSpc>
                <a:spcPct val="132857"/>
              </a:lnSpc>
              <a:buNone/>
            </a:pPr>
            <a:r>
              <a:rPr lang="en-US" sz="640" dirty="0">
                <a:solidFill>
                  <a:srgbClr val="65726C"/>
                </a:solidFill>
                <a:latin typeface="Courier New" pitchFamily="34" charset="0"/>
                <a:ea typeface="Courier New" pitchFamily="34" charset="-122"/>
                <a:cs typeface="Courier New" pitchFamily="34" charset="-120"/>
              </a:rPr>
              <a:t>UZB-0142</a:t>
            </a:r>
            <a:endParaRPr lang="en-US" sz="640" dirty="0"/>
          </a:p>
        </p:txBody>
      </p:sp>
      <p:sp>
        <p:nvSpPr>
          <p:cNvPr id="81" name="Shape 79"/>
          <p:cNvSpPr/>
          <p:nvPr/>
        </p:nvSpPr>
        <p:spPr>
          <a:xfrm>
            <a:off x="4045744" y="6211147"/>
            <a:ext cx="1575435" cy="9525"/>
          </a:xfrm>
          <a:prstGeom prst="rect">
            <a:avLst/>
          </a:prstGeom>
          <a:solidFill>
            <a:srgbClr val="EEF2F0"/>
          </a:solidFill>
          <a:ln/>
        </p:spPr>
      </p:sp>
      <p:sp>
        <p:nvSpPr>
          <p:cNvPr id="82" name="Text 80"/>
          <p:cNvSpPr/>
          <p:nvPr/>
        </p:nvSpPr>
        <p:spPr>
          <a:xfrm>
            <a:off x="4181210" y="5910527"/>
            <a:ext cx="1380702" cy="250666"/>
          </a:xfrm>
          <a:prstGeom prst="rect">
            <a:avLst/>
          </a:prstGeom>
          <a:noFill/>
          <a:ln/>
        </p:spPr>
        <p:txBody>
          <a:bodyPr wrap="square" lIns="25400" tIns="25400" rIns="25400" bIns="25400" rtlCol="0" anchor="ctr">
            <a:normAutofit/>
          </a:bodyPr>
          <a:lstStyle/>
          <a:p>
            <a:pPr algn="l" indent="0" marL="0">
              <a:lnSpc>
                <a:spcPct val="135625"/>
              </a:lnSpc>
              <a:buNone/>
            </a:pPr>
            <a:r>
              <a:rPr lang="en-US" sz="747" b="1" dirty="0">
                <a:solidFill>
                  <a:srgbClr val="16211D"/>
                </a:solidFill>
                <a:latin typeface="Arial" pitchFamily="34" charset="0"/>
                <a:ea typeface="Arial" pitchFamily="34" charset="-122"/>
                <a:cs typeface="Arial" pitchFamily="34" charset="-120"/>
              </a:rPr>
              <a:t>Abdullaev, Timur</a:t>
            </a:r>
            <a:endParaRPr lang="en-US" sz="747" dirty="0"/>
          </a:p>
        </p:txBody>
      </p:sp>
      <p:sp>
        <p:nvSpPr>
          <p:cNvPr id="83" name="Shape 81"/>
          <p:cNvSpPr/>
          <p:nvPr/>
        </p:nvSpPr>
        <p:spPr>
          <a:xfrm>
            <a:off x="5621179" y="6211147"/>
            <a:ext cx="828199" cy="9525"/>
          </a:xfrm>
          <a:prstGeom prst="rect">
            <a:avLst/>
          </a:prstGeom>
          <a:solidFill>
            <a:srgbClr val="EEF2F0"/>
          </a:solidFill>
          <a:ln/>
        </p:spPr>
      </p:sp>
      <p:sp>
        <p:nvSpPr>
          <p:cNvPr id="84" name="Shape 82"/>
          <p:cNvSpPr/>
          <p:nvPr/>
        </p:nvSpPr>
        <p:spPr>
          <a:xfrm>
            <a:off x="5756593" y="5947728"/>
            <a:ext cx="262414" cy="147796"/>
          </a:xfrm>
          <a:prstGeom prst="roundRect">
            <a:avLst>
              <a:gd name="adj" fmla="val 18332"/>
            </a:avLst>
          </a:prstGeom>
          <a:solidFill>
            <a:srgbClr val="F6F8F7"/>
          </a:solidFill>
          <a:ln w="6773">
            <a:solidFill>
              <a:srgbClr val="E4EAE7"/>
            </a:solidFill>
            <a:prstDash val="solid"/>
          </a:ln>
        </p:spPr>
      </p:sp>
      <p:sp>
        <p:nvSpPr>
          <p:cNvPr id="85" name="Text 83"/>
          <p:cNvSpPr/>
          <p:nvPr/>
        </p:nvSpPr>
        <p:spPr>
          <a:xfrm>
            <a:off x="5817553" y="5961274"/>
            <a:ext cx="216694" cy="158803"/>
          </a:xfrm>
          <a:prstGeom prst="rect">
            <a:avLst/>
          </a:prstGeom>
          <a:noFill/>
          <a:ln/>
        </p:spPr>
        <p:txBody>
          <a:bodyPr wrap="square" lIns="25400" tIns="25400" rIns="25400" bIns="25400" rtlCol="0" anchor="t">
            <a:normAutofit/>
          </a:bodyPr>
          <a:lstStyle/>
          <a:p>
            <a:pPr algn="l" indent="0" marL="0">
              <a:lnSpc>
                <a:spcPct val="127262"/>
              </a:lnSpc>
              <a:buNone/>
            </a:pPr>
            <a:r>
              <a:rPr lang="en-US" sz="613" dirty="0">
                <a:solidFill>
                  <a:srgbClr val="16211D"/>
                </a:solidFill>
                <a:latin typeface="Courier New" pitchFamily="34" charset="0"/>
                <a:ea typeface="Courier New" pitchFamily="34" charset="-122"/>
                <a:cs typeface="Courier New" pitchFamily="34" charset="-120"/>
              </a:rPr>
              <a:t>UZB</a:t>
            </a:r>
            <a:endParaRPr lang="en-US" sz="613" dirty="0"/>
          </a:p>
        </p:txBody>
      </p:sp>
      <p:sp>
        <p:nvSpPr>
          <p:cNvPr id="86" name="Shape 84"/>
          <p:cNvSpPr/>
          <p:nvPr/>
        </p:nvSpPr>
        <p:spPr>
          <a:xfrm>
            <a:off x="6449377" y="6211147"/>
            <a:ext cx="815657" cy="9525"/>
          </a:xfrm>
          <a:prstGeom prst="rect">
            <a:avLst/>
          </a:prstGeom>
          <a:solidFill>
            <a:srgbClr val="EEF2F0"/>
          </a:solidFill>
          <a:ln/>
        </p:spPr>
      </p:sp>
      <p:sp>
        <p:nvSpPr>
          <p:cNvPr id="87" name="Text 85"/>
          <p:cNvSpPr/>
          <p:nvPr/>
        </p:nvSpPr>
        <p:spPr>
          <a:xfrm>
            <a:off x="6584844" y="5910527"/>
            <a:ext cx="620924" cy="250666"/>
          </a:xfrm>
          <a:prstGeom prst="rect">
            <a:avLst/>
          </a:prstGeom>
          <a:noFill/>
          <a:ln/>
        </p:spPr>
        <p:txBody>
          <a:bodyPr wrap="square" lIns="25400" tIns="25400" rIns="25400" bIns="25400" rtlCol="0" anchor="ctr">
            <a:normAutofit/>
          </a:bodyPr>
          <a:lstStyle/>
          <a:p>
            <a:pPr algn="l" indent="0" marL="0">
              <a:lnSpc>
                <a:spcPct val="135625"/>
              </a:lnSpc>
              <a:buNone/>
            </a:pPr>
            <a:r>
              <a:rPr lang="en-US" sz="747" dirty="0">
                <a:solidFill>
                  <a:srgbClr val="16211D"/>
                </a:solidFill>
                <a:latin typeface="Arial" pitchFamily="34" charset="0"/>
                <a:ea typeface="Arial" pitchFamily="34" charset="-122"/>
                <a:cs typeface="Arial" pitchFamily="34" charset="-120"/>
              </a:rPr>
              <a:t>−60</a:t>
            </a:r>
            <a:endParaRPr lang="en-US" sz="747" dirty="0"/>
          </a:p>
        </p:txBody>
      </p:sp>
      <p:sp>
        <p:nvSpPr>
          <p:cNvPr id="88" name="Shape 86"/>
          <p:cNvSpPr/>
          <p:nvPr/>
        </p:nvSpPr>
        <p:spPr>
          <a:xfrm>
            <a:off x="7265035" y="6211147"/>
            <a:ext cx="2053114" cy="9525"/>
          </a:xfrm>
          <a:prstGeom prst="rect">
            <a:avLst/>
          </a:prstGeom>
          <a:solidFill>
            <a:srgbClr val="EEF2F0"/>
          </a:solidFill>
          <a:ln/>
        </p:spPr>
      </p:sp>
      <p:sp>
        <p:nvSpPr>
          <p:cNvPr id="89" name="Shape 87"/>
          <p:cNvSpPr/>
          <p:nvPr/>
        </p:nvSpPr>
        <p:spPr>
          <a:xfrm>
            <a:off x="7400449" y="5918041"/>
            <a:ext cx="609600" cy="204153"/>
          </a:xfrm>
          <a:prstGeom prst="roundRect">
            <a:avLst>
              <a:gd name="adj" fmla="val 26542"/>
            </a:avLst>
          </a:prstGeom>
          <a:solidFill>
            <a:srgbClr val="F6F8F7"/>
          </a:solidFill>
          <a:ln w="6773">
            <a:solidFill>
              <a:srgbClr val="E4EAE7"/>
            </a:solidFill>
            <a:prstDash val="solid"/>
          </a:ln>
        </p:spPr>
      </p:sp>
      <p:sp>
        <p:nvSpPr>
          <p:cNvPr id="90" name="Text 88"/>
          <p:cNvSpPr/>
          <p:nvPr/>
        </p:nvSpPr>
        <p:spPr>
          <a:xfrm>
            <a:off x="7474956" y="5951908"/>
            <a:ext cx="536787" cy="174519"/>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16211D"/>
                </a:solidFill>
                <a:latin typeface="Arial" pitchFamily="34" charset="0"/>
                <a:ea typeface="Arial" pitchFamily="34" charset="-122"/>
                <a:cs typeface="Arial" pitchFamily="34" charset="-120"/>
              </a:rPr>
              <a:t>60.20</a:t>
            </a:r>
            <a:endParaRPr lang="en-US" sz="693" dirty="0"/>
          </a:p>
        </p:txBody>
      </p:sp>
      <p:sp>
        <p:nvSpPr>
          <p:cNvPr id="91" name="Shape 89"/>
          <p:cNvSpPr/>
          <p:nvPr/>
        </p:nvSpPr>
        <p:spPr>
          <a:xfrm>
            <a:off x="8064341" y="5913913"/>
            <a:ext cx="387668" cy="212566"/>
          </a:xfrm>
          <a:prstGeom prst="roundRect">
            <a:avLst>
              <a:gd name="adj" fmla="val 50000"/>
            </a:avLst>
          </a:prstGeom>
          <a:solidFill>
            <a:srgbClr val="FFFFFF"/>
          </a:solidFill>
          <a:ln w="6773">
            <a:solidFill>
              <a:srgbClr val="E4EAE7"/>
            </a:solidFill>
            <a:prstDash val="solid"/>
          </a:ln>
        </p:spPr>
      </p:sp>
      <p:sp>
        <p:nvSpPr>
          <p:cNvPr id="92" name="Text 90"/>
          <p:cNvSpPr/>
          <p:nvPr/>
        </p:nvSpPr>
        <p:spPr>
          <a:xfrm>
            <a:off x="8165941" y="5954553"/>
            <a:ext cx="260668" cy="169386"/>
          </a:xfrm>
          <a:prstGeom prst="rect">
            <a:avLst/>
          </a:prstGeom>
          <a:noFill/>
          <a:ln/>
        </p:spPr>
        <p:txBody>
          <a:bodyPr wrap="square" lIns="25400" tIns="25400" rIns="25400" bIns="25400" rtlCol="0" anchor="ctr">
            <a:normAutofit/>
          </a:bodyPr>
          <a:lstStyle/>
          <a:p>
            <a:pPr algn="l" indent="0" marL="0">
              <a:lnSpc>
                <a:spcPct val="129222"/>
              </a:lnSpc>
              <a:buNone/>
            </a:pPr>
            <a:r>
              <a:rPr lang="en-US" sz="667" b="1" dirty="0">
                <a:solidFill>
                  <a:srgbClr val="16211D"/>
                </a:solidFill>
                <a:latin typeface="Arial" pitchFamily="34" charset="0"/>
                <a:ea typeface="Arial" pitchFamily="34" charset="-122"/>
                <a:cs typeface="Arial" pitchFamily="34" charset="-120"/>
              </a:rPr>
              <a:t>Save</a:t>
            </a:r>
            <a:endParaRPr lang="en-US" sz="667" dirty="0"/>
          </a:p>
        </p:txBody>
      </p:sp>
      <p:sp>
        <p:nvSpPr>
          <p:cNvPr id="93" name="Shape 91"/>
          <p:cNvSpPr/>
          <p:nvPr/>
        </p:nvSpPr>
        <p:spPr>
          <a:xfrm>
            <a:off x="9318149" y="6211147"/>
            <a:ext cx="1448435" cy="9525"/>
          </a:xfrm>
          <a:prstGeom prst="rect">
            <a:avLst/>
          </a:prstGeom>
          <a:solidFill>
            <a:srgbClr val="EEF2F0"/>
          </a:solidFill>
          <a:ln/>
        </p:spPr>
      </p:sp>
      <p:sp>
        <p:nvSpPr>
          <p:cNvPr id="94" name="Shape 92"/>
          <p:cNvSpPr/>
          <p:nvPr/>
        </p:nvSpPr>
        <p:spPr>
          <a:xfrm>
            <a:off x="9453563" y="5929947"/>
            <a:ext cx="429260" cy="180181"/>
          </a:xfrm>
          <a:prstGeom prst="roundRect">
            <a:avLst>
              <a:gd name="adj" fmla="val 50000"/>
            </a:avLst>
          </a:prstGeom>
          <a:solidFill>
            <a:srgbClr val="E9F7EE"/>
          </a:solidFill>
          <a:ln/>
        </p:spPr>
      </p:sp>
      <p:sp>
        <p:nvSpPr>
          <p:cNvPr id="95" name="Text 93"/>
          <p:cNvSpPr/>
          <p:nvPr/>
        </p:nvSpPr>
        <p:spPr>
          <a:xfrm>
            <a:off x="9534842" y="5957041"/>
            <a:ext cx="342900" cy="164095"/>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046830"/>
                </a:solidFill>
                <a:latin typeface="Arial" pitchFamily="34" charset="0"/>
                <a:ea typeface="Arial" pitchFamily="34" charset="-122"/>
                <a:cs typeface="Arial" pitchFamily="34" charset="-120"/>
              </a:rPr>
              <a:t>60.2 kg</a:t>
            </a:r>
            <a:endParaRPr lang="en-US" sz="640" dirty="0"/>
          </a:p>
        </p:txBody>
      </p:sp>
      <p:sp>
        <p:nvSpPr>
          <p:cNvPr id="96" name="Shape 94"/>
          <p:cNvSpPr/>
          <p:nvPr/>
        </p:nvSpPr>
        <p:spPr>
          <a:xfrm>
            <a:off x="3017996" y="6606593"/>
            <a:ext cx="1027906" cy="9525"/>
          </a:xfrm>
          <a:prstGeom prst="rect">
            <a:avLst/>
          </a:prstGeom>
          <a:solidFill>
            <a:srgbClr val="EEF2F0"/>
          </a:solidFill>
          <a:ln/>
        </p:spPr>
      </p:sp>
      <p:sp>
        <p:nvSpPr>
          <p:cNvPr id="97" name="Text 95"/>
          <p:cNvSpPr/>
          <p:nvPr/>
        </p:nvSpPr>
        <p:spPr>
          <a:xfrm>
            <a:off x="3153463" y="6305973"/>
            <a:ext cx="833173" cy="250666"/>
          </a:xfrm>
          <a:prstGeom prst="rect">
            <a:avLst/>
          </a:prstGeom>
          <a:noFill/>
          <a:ln/>
        </p:spPr>
        <p:txBody>
          <a:bodyPr wrap="square" lIns="25400" tIns="25400" rIns="25400" bIns="25400" rtlCol="0" anchor="ctr">
            <a:normAutofit/>
          </a:bodyPr>
          <a:lstStyle/>
          <a:p>
            <a:pPr algn="l" indent="0" marL="0">
              <a:lnSpc>
                <a:spcPct val="132857"/>
              </a:lnSpc>
              <a:buNone/>
            </a:pPr>
            <a:r>
              <a:rPr lang="en-US" sz="640" dirty="0">
                <a:solidFill>
                  <a:srgbClr val="65726C"/>
                </a:solidFill>
                <a:latin typeface="Courier New" pitchFamily="34" charset="0"/>
                <a:ea typeface="Courier New" pitchFamily="34" charset="-122"/>
                <a:cs typeface="Courier New" pitchFamily="34" charset="-120"/>
              </a:rPr>
              <a:t>KAZ-0087</a:t>
            </a:r>
            <a:endParaRPr lang="en-US" sz="640" dirty="0"/>
          </a:p>
        </p:txBody>
      </p:sp>
      <p:sp>
        <p:nvSpPr>
          <p:cNvPr id="98" name="Shape 96"/>
          <p:cNvSpPr/>
          <p:nvPr/>
        </p:nvSpPr>
        <p:spPr>
          <a:xfrm>
            <a:off x="4045744" y="6606593"/>
            <a:ext cx="1575435" cy="9525"/>
          </a:xfrm>
          <a:prstGeom prst="rect">
            <a:avLst/>
          </a:prstGeom>
          <a:solidFill>
            <a:srgbClr val="EEF2F0"/>
          </a:solidFill>
          <a:ln/>
        </p:spPr>
      </p:sp>
      <p:sp>
        <p:nvSpPr>
          <p:cNvPr id="99" name="Text 97"/>
          <p:cNvSpPr/>
          <p:nvPr/>
        </p:nvSpPr>
        <p:spPr>
          <a:xfrm>
            <a:off x="4181210" y="6305973"/>
            <a:ext cx="1380702" cy="250666"/>
          </a:xfrm>
          <a:prstGeom prst="rect">
            <a:avLst/>
          </a:prstGeom>
          <a:noFill/>
          <a:ln/>
        </p:spPr>
        <p:txBody>
          <a:bodyPr wrap="square" lIns="25400" tIns="25400" rIns="25400" bIns="25400" rtlCol="0" anchor="ctr">
            <a:normAutofit/>
          </a:bodyPr>
          <a:lstStyle/>
          <a:p>
            <a:pPr algn="l" indent="0" marL="0">
              <a:lnSpc>
                <a:spcPct val="135625"/>
              </a:lnSpc>
              <a:buNone/>
            </a:pPr>
            <a:r>
              <a:rPr lang="en-US" sz="747" b="1" dirty="0">
                <a:solidFill>
                  <a:srgbClr val="16211D"/>
                </a:solidFill>
                <a:latin typeface="Arial" pitchFamily="34" charset="0"/>
                <a:ea typeface="Arial" pitchFamily="34" charset="-122"/>
                <a:cs typeface="Arial" pitchFamily="34" charset="-120"/>
              </a:rPr>
              <a:t>Serikov, Daulet</a:t>
            </a:r>
            <a:endParaRPr lang="en-US" sz="747" dirty="0"/>
          </a:p>
        </p:txBody>
      </p:sp>
      <p:sp>
        <p:nvSpPr>
          <p:cNvPr id="100" name="Shape 98"/>
          <p:cNvSpPr/>
          <p:nvPr/>
        </p:nvSpPr>
        <p:spPr>
          <a:xfrm>
            <a:off x="5621179" y="6606593"/>
            <a:ext cx="828199" cy="9525"/>
          </a:xfrm>
          <a:prstGeom prst="rect">
            <a:avLst/>
          </a:prstGeom>
          <a:solidFill>
            <a:srgbClr val="EEF2F0"/>
          </a:solidFill>
          <a:ln/>
        </p:spPr>
      </p:sp>
      <p:sp>
        <p:nvSpPr>
          <p:cNvPr id="101" name="Shape 99"/>
          <p:cNvSpPr/>
          <p:nvPr/>
        </p:nvSpPr>
        <p:spPr>
          <a:xfrm>
            <a:off x="5756593" y="6343174"/>
            <a:ext cx="262414" cy="147796"/>
          </a:xfrm>
          <a:prstGeom prst="roundRect">
            <a:avLst>
              <a:gd name="adj" fmla="val 18332"/>
            </a:avLst>
          </a:prstGeom>
          <a:solidFill>
            <a:srgbClr val="F6F8F7"/>
          </a:solidFill>
          <a:ln w="6773">
            <a:solidFill>
              <a:srgbClr val="E4EAE7"/>
            </a:solidFill>
            <a:prstDash val="solid"/>
          </a:ln>
        </p:spPr>
      </p:sp>
      <p:sp>
        <p:nvSpPr>
          <p:cNvPr id="102" name="Text 100"/>
          <p:cNvSpPr/>
          <p:nvPr/>
        </p:nvSpPr>
        <p:spPr>
          <a:xfrm>
            <a:off x="5817553" y="6356721"/>
            <a:ext cx="216694" cy="158803"/>
          </a:xfrm>
          <a:prstGeom prst="rect">
            <a:avLst/>
          </a:prstGeom>
          <a:noFill/>
          <a:ln/>
        </p:spPr>
        <p:txBody>
          <a:bodyPr wrap="square" lIns="25400" tIns="25400" rIns="25400" bIns="25400" rtlCol="0" anchor="t">
            <a:normAutofit/>
          </a:bodyPr>
          <a:lstStyle/>
          <a:p>
            <a:pPr algn="l" indent="0" marL="0">
              <a:lnSpc>
                <a:spcPct val="127262"/>
              </a:lnSpc>
              <a:buNone/>
            </a:pPr>
            <a:r>
              <a:rPr lang="en-US" sz="613" dirty="0">
                <a:solidFill>
                  <a:srgbClr val="16211D"/>
                </a:solidFill>
                <a:latin typeface="Courier New" pitchFamily="34" charset="0"/>
                <a:ea typeface="Courier New" pitchFamily="34" charset="-122"/>
                <a:cs typeface="Courier New" pitchFamily="34" charset="-120"/>
              </a:rPr>
              <a:t>KAZ</a:t>
            </a:r>
            <a:endParaRPr lang="en-US" sz="613" dirty="0"/>
          </a:p>
        </p:txBody>
      </p:sp>
      <p:sp>
        <p:nvSpPr>
          <p:cNvPr id="103" name="Shape 101"/>
          <p:cNvSpPr/>
          <p:nvPr/>
        </p:nvSpPr>
        <p:spPr>
          <a:xfrm>
            <a:off x="6449377" y="6606593"/>
            <a:ext cx="815657" cy="9525"/>
          </a:xfrm>
          <a:prstGeom prst="rect">
            <a:avLst/>
          </a:prstGeom>
          <a:solidFill>
            <a:srgbClr val="EEF2F0"/>
          </a:solidFill>
          <a:ln/>
        </p:spPr>
      </p:sp>
      <p:sp>
        <p:nvSpPr>
          <p:cNvPr id="104" name="Text 102"/>
          <p:cNvSpPr/>
          <p:nvPr/>
        </p:nvSpPr>
        <p:spPr>
          <a:xfrm>
            <a:off x="6584844" y="6305973"/>
            <a:ext cx="620924" cy="250666"/>
          </a:xfrm>
          <a:prstGeom prst="rect">
            <a:avLst/>
          </a:prstGeom>
          <a:noFill/>
          <a:ln/>
        </p:spPr>
        <p:txBody>
          <a:bodyPr wrap="square" lIns="25400" tIns="25400" rIns="25400" bIns="25400" rtlCol="0" anchor="ctr">
            <a:normAutofit/>
          </a:bodyPr>
          <a:lstStyle/>
          <a:p>
            <a:pPr algn="l" indent="0" marL="0">
              <a:lnSpc>
                <a:spcPct val="135625"/>
              </a:lnSpc>
              <a:buNone/>
            </a:pPr>
            <a:r>
              <a:rPr lang="en-US" sz="747" dirty="0">
                <a:solidFill>
                  <a:srgbClr val="16211D"/>
                </a:solidFill>
                <a:latin typeface="Arial" pitchFamily="34" charset="0"/>
                <a:ea typeface="Arial" pitchFamily="34" charset="-122"/>
                <a:cs typeface="Arial" pitchFamily="34" charset="-120"/>
              </a:rPr>
              <a:t>−60</a:t>
            </a:r>
            <a:endParaRPr lang="en-US" sz="747" dirty="0"/>
          </a:p>
        </p:txBody>
      </p:sp>
      <p:sp>
        <p:nvSpPr>
          <p:cNvPr id="105" name="Shape 103"/>
          <p:cNvSpPr/>
          <p:nvPr/>
        </p:nvSpPr>
        <p:spPr>
          <a:xfrm>
            <a:off x="7265035" y="6606593"/>
            <a:ext cx="2053114" cy="9525"/>
          </a:xfrm>
          <a:prstGeom prst="rect">
            <a:avLst/>
          </a:prstGeom>
          <a:solidFill>
            <a:srgbClr val="EEF2F0"/>
          </a:solidFill>
          <a:ln/>
        </p:spPr>
      </p:sp>
      <p:sp>
        <p:nvSpPr>
          <p:cNvPr id="106" name="Shape 104"/>
          <p:cNvSpPr/>
          <p:nvPr/>
        </p:nvSpPr>
        <p:spPr>
          <a:xfrm>
            <a:off x="7400449" y="6313487"/>
            <a:ext cx="609600" cy="204153"/>
          </a:xfrm>
          <a:prstGeom prst="roundRect">
            <a:avLst>
              <a:gd name="adj" fmla="val 26542"/>
            </a:avLst>
          </a:prstGeom>
          <a:solidFill>
            <a:srgbClr val="F6F8F7"/>
          </a:solidFill>
          <a:ln w="6773">
            <a:solidFill>
              <a:srgbClr val="E4EAE7"/>
            </a:solidFill>
            <a:prstDash val="solid"/>
          </a:ln>
        </p:spPr>
      </p:sp>
      <p:sp>
        <p:nvSpPr>
          <p:cNvPr id="107" name="Text 105"/>
          <p:cNvSpPr/>
          <p:nvPr/>
        </p:nvSpPr>
        <p:spPr>
          <a:xfrm>
            <a:off x="7474956" y="6347354"/>
            <a:ext cx="536787" cy="174519"/>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16211D"/>
                </a:solidFill>
                <a:latin typeface="Arial" pitchFamily="34" charset="0"/>
                <a:ea typeface="Arial" pitchFamily="34" charset="-122"/>
                <a:cs typeface="Arial" pitchFamily="34" charset="-120"/>
              </a:rPr>
              <a:t>59.80</a:t>
            </a:r>
            <a:endParaRPr lang="en-US" sz="693" dirty="0"/>
          </a:p>
        </p:txBody>
      </p:sp>
      <p:sp>
        <p:nvSpPr>
          <p:cNvPr id="108" name="Shape 106"/>
          <p:cNvSpPr/>
          <p:nvPr/>
        </p:nvSpPr>
        <p:spPr>
          <a:xfrm>
            <a:off x="8064341" y="6309360"/>
            <a:ext cx="387668" cy="212566"/>
          </a:xfrm>
          <a:prstGeom prst="roundRect">
            <a:avLst>
              <a:gd name="adj" fmla="val 50000"/>
            </a:avLst>
          </a:prstGeom>
          <a:solidFill>
            <a:srgbClr val="FFFFFF"/>
          </a:solidFill>
          <a:ln w="6773">
            <a:solidFill>
              <a:srgbClr val="E4EAE7"/>
            </a:solidFill>
            <a:prstDash val="solid"/>
          </a:ln>
        </p:spPr>
      </p:sp>
      <p:sp>
        <p:nvSpPr>
          <p:cNvPr id="109" name="Text 107"/>
          <p:cNvSpPr/>
          <p:nvPr/>
        </p:nvSpPr>
        <p:spPr>
          <a:xfrm>
            <a:off x="8165941" y="6350000"/>
            <a:ext cx="260668" cy="169386"/>
          </a:xfrm>
          <a:prstGeom prst="rect">
            <a:avLst/>
          </a:prstGeom>
          <a:noFill/>
          <a:ln/>
        </p:spPr>
        <p:txBody>
          <a:bodyPr wrap="square" lIns="25400" tIns="25400" rIns="25400" bIns="25400" rtlCol="0" anchor="ctr">
            <a:normAutofit/>
          </a:bodyPr>
          <a:lstStyle/>
          <a:p>
            <a:pPr algn="l" indent="0" marL="0">
              <a:lnSpc>
                <a:spcPct val="129222"/>
              </a:lnSpc>
              <a:buNone/>
            </a:pPr>
            <a:r>
              <a:rPr lang="en-US" sz="667" b="1" dirty="0">
                <a:solidFill>
                  <a:srgbClr val="16211D"/>
                </a:solidFill>
                <a:latin typeface="Arial" pitchFamily="34" charset="0"/>
                <a:ea typeface="Arial" pitchFamily="34" charset="-122"/>
                <a:cs typeface="Arial" pitchFamily="34" charset="-120"/>
              </a:rPr>
              <a:t>Save</a:t>
            </a:r>
            <a:endParaRPr lang="en-US" sz="667" dirty="0"/>
          </a:p>
        </p:txBody>
      </p:sp>
      <p:sp>
        <p:nvSpPr>
          <p:cNvPr id="110" name="Shape 108"/>
          <p:cNvSpPr/>
          <p:nvPr/>
        </p:nvSpPr>
        <p:spPr>
          <a:xfrm>
            <a:off x="9318149" y="6606593"/>
            <a:ext cx="1448435" cy="9525"/>
          </a:xfrm>
          <a:prstGeom prst="rect">
            <a:avLst/>
          </a:prstGeom>
          <a:solidFill>
            <a:srgbClr val="EEF2F0"/>
          </a:solidFill>
          <a:ln/>
        </p:spPr>
      </p:sp>
      <p:sp>
        <p:nvSpPr>
          <p:cNvPr id="111" name="Shape 109"/>
          <p:cNvSpPr/>
          <p:nvPr/>
        </p:nvSpPr>
        <p:spPr>
          <a:xfrm>
            <a:off x="9453563" y="6325552"/>
            <a:ext cx="429260" cy="180181"/>
          </a:xfrm>
          <a:prstGeom prst="roundRect">
            <a:avLst>
              <a:gd name="adj" fmla="val 50000"/>
            </a:avLst>
          </a:prstGeom>
          <a:solidFill>
            <a:srgbClr val="E9F7EE"/>
          </a:solidFill>
          <a:ln/>
        </p:spPr>
      </p:sp>
      <p:sp>
        <p:nvSpPr>
          <p:cNvPr id="112" name="Text 110"/>
          <p:cNvSpPr/>
          <p:nvPr/>
        </p:nvSpPr>
        <p:spPr>
          <a:xfrm>
            <a:off x="9534842" y="6352646"/>
            <a:ext cx="342900" cy="164094"/>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046830"/>
                </a:solidFill>
                <a:latin typeface="Arial" pitchFamily="34" charset="0"/>
                <a:ea typeface="Arial" pitchFamily="34" charset="-122"/>
                <a:cs typeface="Arial" pitchFamily="34" charset="-120"/>
              </a:rPr>
              <a:t>59.8 kg</a:t>
            </a:r>
            <a:endParaRPr lang="en-US" sz="640" dirty="0"/>
          </a:p>
        </p:txBody>
      </p:sp>
      <p:sp>
        <p:nvSpPr>
          <p:cNvPr id="113" name="Shape 111"/>
          <p:cNvSpPr/>
          <p:nvPr/>
        </p:nvSpPr>
        <p:spPr>
          <a:xfrm>
            <a:off x="3017996" y="7002039"/>
            <a:ext cx="1027906" cy="9525"/>
          </a:xfrm>
          <a:prstGeom prst="rect">
            <a:avLst/>
          </a:prstGeom>
          <a:solidFill>
            <a:srgbClr val="EEF2F0"/>
          </a:solidFill>
          <a:ln/>
        </p:spPr>
      </p:sp>
      <p:sp>
        <p:nvSpPr>
          <p:cNvPr id="114" name="Text 112"/>
          <p:cNvSpPr/>
          <p:nvPr/>
        </p:nvSpPr>
        <p:spPr>
          <a:xfrm>
            <a:off x="3153463" y="6701419"/>
            <a:ext cx="833173" cy="250666"/>
          </a:xfrm>
          <a:prstGeom prst="rect">
            <a:avLst/>
          </a:prstGeom>
          <a:noFill/>
          <a:ln/>
        </p:spPr>
        <p:txBody>
          <a:bodyPr wrap="square" lIns="25400" tIns="25400" rIns="25400" bIns="25400" rtlCol="0" anchor="ctr">
            <a:normAutofit/>
          </a:bodyPr>
          <a:lstStyle/>
          <a:p>
            <a:pPr algn="l" indent="0" marL="0">
              <a:lnSpc>
                <a:spcPct val="132857"/>
              </a:lnSpc>
              <a:buNone/>
            </a:pPr>
            <a:r>
              <a:rPr lang="en-US" sz="640" dirty="0">
                <a:solidFill>
                  <a:srgbClr val="65726C"/>
                </a:solidFill>
                <a:latin typeface="Courier New" pitchFamily="34" charset="0"/>
                <a:ea typeface="Courier New" pitchFamily="34" charset="-122"/>
                <a:cs typeface="Courier New" pitchFamily="34" charset="-120"/>
              </a:rPr>
              <a:t>KGZ-0031</a:t>
            </a:r>
            <a:endParaRPr lang="en-US" sz="640" dirty="0"/>
          </a:p>
        </p:txBody>
      </p:sp>
      <p:sp>
        <p:nvSpPr>
          <p:cNvPr id="115" name="Shape 113"/>
          <p:cNvSpPr/>
          <p:nvPr/>
        </p:nvSpPr>
        <p:spPr>
          <a:xfrm>
            <a:off x="4045744" y="7002039"/>
            <a:ext cx="1575435" cy="9525"/>
          </a:xfrm>
          <a:prstGeom prst="rect">
            <a:avLst/>
          </a:prstGeom>
          <a:solidFill>
            <a:srgbClr val="EEF2F0"/>
          </a:solidFill>
          <a:ln/>
        </p:spPr>
      </p:sp>
      <p:sp>
        <p:nvSpPr>
          <p:cNvPr id="116" name="Text 114"/>
          <p:cNvSpPr/>
          <p:nvPr/>
        </p:nvSpPr>
        <p:spPr>
          <a:xfrm>
            <a:off x="4181210" y="6701419"/>
            <a:ext cx="1380702" cy="250666"/>
          </a:xfrm>
          <a:prstGeom prst="rect">
            <a:avLst/>
          </a:prstGeom>
          <a:noFill/>
          <a:ln/>
        </p:spPr>
        <p:txBody>
          <a:bodyPr wrap="square" lIns="25400" tIns="25400" rIns="25400" bIns="25400" rtlCol="0" anchor="ctr">
            <a:normAutofit/>
          </a:bodyPr>
          <a:lstStyle/>
          <a:p>
            <a:pPr algn="l" indent="0" marL="0">
              <a:lnSpc>
                <a:spcPct val="135625"/>
              </a:lnSpc>
              <a:buNone/>
            </a:pPr>
            <a:r>
              <a:rPr lang="en-US" sz="747" b="1" dirty="0">
                <a:solidFill>
                  <a:srgbClr val="16211D"/>
                </a:solidFill>
                <a:latin typeface="Arial" pitchFamily="34" charset="0"/>
                <a:ea typeface="Arial" pitchFamily="34" charset="-122"/>
                <a:cs typeface="Arial" pitchFamily="34" charset="-120"/>
              </a:rPr>
              <a:t>Kadyrov, Azamat</a:t>
            </a:r>
            <a:endParaRPr lang="en-US" sz="747" dirty="0"/>
          </a:p>
        </p:txBody>
      </p:sp>
      <p:sp>
        <p:nvSpPr>
          <p:cNvPr id="117" name="Shape 115"/>
          <p:cNvSpPr/>
          <p:nvPr/>
        </p:nvSpPr>
        <p:spPr>
          <a:xfrm>
            <a:off x="5621179" y="7002039"/>
            <a:ext cx="828199" cy="9525"/>
          </a:xfrm>
          <a:prstGeom prst="rect">
            <a:avLst/>
          </a:prstGeom>
          <a:solidFill>
            <a:srgbClr val="EEF2F0"/>
          </a:solidFill>
          <a:ln/>
        </p:spPr>
      </p:sp>
      <p:sp>
        <p:nvSpPr>
          <p:cNvPr id="118" name="Shape 116"/>
          <p:cNvSpPr/>
          <p:nvPr/>
        </p:nvSpPr>
        <p:spPr>
          <a:xfrm>
            <a:off x="5756593" y="6738620"/>
            <a:ext cx="262414" cy="147796"/>
          </a:xfrm>
          <a:prstGeom prst="roundRect">
            <a:avLst>
              <a:gd name="adj" fmla="val 18332"/>
            </a:avLst>
          </a:prstGeom>
          <a:solidFill>
            <a:srgbClr val="F6F8F7"/>
          </a:solidFill>
          <a:ln w="6773">
            <a:solidFill>
              <a:srgbClr val="E4EAE7"/>
            </a:solidFill>
            <a:prstDash val="solid"/>
          </a:ln>
        </p:spPr>
      </p:sp>
      <p:sp>
        <p:nvSpPr>
          <p:cNvPr id="119" name="Text 117"/>
          <p:cNvSpPr/>
          <p:nvPr/>
        </p:nvSpPr>
        <p:spPr>
          <a:xfrm>
            <a:off x="5817553" y="6752167"/>
            <a:ext cx="216694" cy="158803"/>
          </a:xfrm>
          <a:prstGeom prst="rect">
            <a:avLst/>
          </a:prstGeom>
          <a:noFill/>
          <a:ln/>
        </p:spPr>
        <p:txBody>
          <a:bodyPr wrap="square" lIns="25400" tIns="25400" rIns="25400" bIns="25400" rtlCol="0" anchor="t">
            <a:normAutofit/>
          </a:bodyPr>
          <a:lstStyle/>
          <a:p>
            <a:pPr algn="l" indent="0" marL="0">
              <a:lnSpc>
                <a:spcPct val="127262"/>
              </a:lnSpc>
              <a:buNone/>
            </a:pPr>
            <a:r>
              <a:rPr lang="en-US" sz="613" dirty="0">
                <a:solidFill>
                  <a:srgbClr val="16211D"/>
                </a:solidFill>
                <a:latin typeface="Courier New" pitchFamily="34" charset="0"/>
                <a:ea typeface="Courier New" pitchFamily="34" charset="-122"/>
                <a:cs typeface="Courier New" pitchFamily="34" charset="-120"/>
              </a:rPr>
              <a:t>KGZ</a:t>
            </a:r>
            <a:endParaRPr lang="en-US" sz="613" dirty="0"/>
          </a:p>
        </p:txBody>
      </p:sp>
      <p:sp>
        <p:nvSpPr>
          <p:cNvPr id="120" name="Shape 118"/>
          <p:cNvSpPr/>
          <p:nvPr/>
        </p:nvSpPr>
        <p:spPr>
          <a:xfrm>
            <a:off x="6449377" y="7002039"/>
            <a:ext cx="815657" cy="9525"/>
          </a:xfrm>
          <a:prstGeom prst="rect">
            <a:avLst/>
          </a:prstGeom>
          <a:solidFill>
            <a:srgbClr val="EEF2F0"/>
          </a:solidFill>
          <a:ln/>
        </p:spPr>
      </p:sp>
      <p:sp>
        <p:nvSpPr>
          <p:cNvPr id="121" name="Text 119"/>
          <p:cNvSpPr/>
          <p:nvPr/>
        </p:nvSpPr>
        <p:spPr>
          <a:xfrm>
            <a:off x="6584844" y="6701419"/>
            <a:ext cx="620924" cy="250666"/>
          </a:xfrm>
          <a:prstGeom prst="rect">
            <a:avLst/>
          </a:prstGeom>
          <a:noFill/>
          <a:ln/>
        </p:spPr>
        <p:txBody>
          <a:bodyPr wrap="square" lIns="25400" tIns="25400" rIns="25400" bIns="25400" rtlCol="0" anchor="ctr">
            <a:normAutofit/>
          </a:bodyPr>
          <a:lstStyle/>
          <a:p>
            <a:pPr algn="l" indent="0" marL="0">
              <a:lnSpc>
                <a:spcPct val="135625"/>
              </a:lnSpc>
              <a:buNone/>
            </a:pPr>
            <a:r>
              <a:rPr lang="en-US" sz="747" dirty="0">
                <a:solidFill>
                  <a:srgbClr val="16211D"/>
                </a:solidFill>
                <a:latin typeface="Arial" pitchFamily="34" charset="0"/>
                <a:ea typeface="Arial" pitchFamily="34" charset="-122"/>
                <a:cs typeface="Arial" pitchFamily="34" charset="-120"/>
              </a:rPr>
              <a:t>−60</a:t>
            </a:r>
            <a:endParaRPr lang="en-US" sz="747" dirty="0"/>
          </a:p>
        </p:txBody>
      </p:sp>
      <p:sp>
        <p:nvSpPr>
          <p:cNvPr id="122" name="Shape 120"/>
          <p:cNvSpPr/>
          <p:nvPr/>
        </p:nvSpPr>
        <p:spPr>
          <a:xfrm>
            <a:off x="7265035" y="7002039"/>
            <a:ext cx="2053114" cy="9525"/>
          </a:xfrm>
          <a:prstGeom prst="rect">
            <a:avLst/>
          </a:prstGeom>
          <a:solidFill>
            <a:srgbClr val="EEF2F0"/>
          </a:solidFill>
          <a:ln/>
        </p:spPr>
      </p:sp>
      <p:sp>
        <p:nvSpPr>
          <p:cNvPr id="123" name="Shape 121"/>
          <p:cNvSpPr/>
          <p:nvPr/>
        </p:nvSpPr>
        <p:spPr>
          <a:xfrm>
            <a:off x="7400449" y="6708934"/>
            <a:ext cx="609600" cy="204153"/>
          </a:xfrm>
          <a:prstGeom prst="roundRect">
            <a:avLst>
              <a:gd name="adj" fmla="val 26542"/>
            </a:avLst>
          </a:prstGeom>
          <a:solidFill>
            <a:srgbClr val="F6F8F7"/>
          </a:solidFill>
          <a:ln w="6773">
            <a:solidFill>
              <a:srgbClr val="E4EAE7"/>
            </a:solidFill>
            <a:prstDash val="solid"/>
          </a:ln>
        </p:spPr>
      </p:sp>
      <p:sp>
        <p:nvSpPr>
          <p:cNvPr id="124" name="Text 122"/>
          <p:cNvSpPr/>
          <p:nvPr/>
        </p:nvSpPr>
        <p:spPr>
          <a:xfrm>
            <a:off x="7474956" y="6742800"/>
            <a:ext cx="536787" cy="174519"/>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16211D"/>
                </a:solidFill>
                <a:latin typeface="Arial" pitchFamily="34" charset="0"/>
                <a:ea typeface="Arial" pitchFamily="34" charset="-122"/>
                <a:cs typeface="Arial" pitchFamily="34" charset="-120"/>
              </a:rPr>
              <a:t>60.90</a:t>
            </a:r>
            <a:endParaRPr lang="en-US" sz="693" dirty="0"/>
          </a:p>
        </p:txBody>
      </p:sp>
      <p:sp>
        <p:nvSpPr>
          <p:cNvPr id="125" name="Shape 123"/>
          <p:cNvSpPr/>
          <p:nvPr/>
        </p:nvSpPr>
        <p:spPr>
          <a:xfrm>
            <a:off x="8064341" y="6704806"/>
            <a:ext cx="387668" cy="212566"/>
          </a:xfrm>
          <a:prstGeom prst="roundRect">
            <a:avLst>
              <a:gd name="adj" fmla="val 50000"/>
            </a:avLst>
          </a:prstGeom>
          <a:solidFill>
            <a:srgbClr val="FFFFFF"/>
          </a:solidFill>
          <a:ln w="6773">
            <a:solidFill>
              <a:srgbClr val="E4EAE7"/>
            </a:solidFill>
            <a:prstDash val="solid"/>
          </a:ln>
        </p:spPr>
      </p:sp>
      <p:sp>
        <p:nvSpPr>
          <p:cNvPr id="126" name="Text 124"/>
          <p:cNvSpPr/>
          <p:nvPr/>
        </p:nvSpPr>
        <p:spPr>
          <a:xfrm>
            <a:off x="8165941" y="6745446"/>
            <a:ext cx="260668" cy="169386"/>
          </a:xfrm>
          <a:prstGeom prst="rect">
            <a:avLst/>
          </a:prstGeom>
          <a:noFill/>
          <a:ln/>
        </p:spPr>
        <p:txBody>
          <a:bodyPr wrap="square" lIns="25400" tIns="25400" rIns="25400" bIns="25400" rtlCol="0" anchor="ctr">
            <a:normAutofit/>
          </a:bodyPr>
          <a:lstStyle/>
          <a:p>
            <a:pPr algn="l" indent="0" marL="0">
              <a:lnSpc>
                <a:spcPct val="129222"/>
              </a:lnSpc>
              <a:buNone/>
            </a:pPr>
            <a:r>
              <a:rPr lang="en-US" sz="667" b="1" dirty="0">
                <a:solidFill>
                  <a:srgbClr val="16211D"/>
                </a:solidFill>
                <a:latin typeface="Arial" pitchFamily="34" charset="0"/>
                <a:ea typeface="Arial" pitchFamily="34" charset="-122"/>
                <a:cs typeface="Arial" pitchFamily="34" charset="-120"/>
              </a:rPr>
              <a:t>Save</a:t>
            </a:r>
            <a:endParaRPr lang="en-US" sz="667" dirty="0"/>
          </a:p>
        </p:txBody>
      </p:sp>
      <p:sp>
        <p:nvSpPr>
          <p:cNvPr id="127" name="Shape 125"/>
          <p:cNvSpPr/>
          <p:nvPr/>
        </p:nvSpPr>
        <p:spPr>
          <a:xfrm>
            <a:off x="9318149" y="7002039"/>
            <a:ext cx="1448435" cy="9525"/>
          </a:xfrm>
          <a:prstGeom prst="rect">
            <a:avLst/>
          </a:prstGeom>
          <a:solidFill>
            <a:srgbClr val="EEF2F0"/>
          </a:solidFill>
          <a:ln/>
        </p:spPr>
      </p:sp>
      <p:sp>
        <p:nvSpPr>
          <p:cNvPr id="128" name="Shape 126"/>
          <p:cNvSpPr/>
          <p:nvPr/>
        </p:nvSpPr>
        <p:spPr>
          <a:xfrm>
            <a:off x="9453563" y="6720999"/>
            <a:ext cx="661988" cy="180181"/>
          </a:xfrm>
          <a:prstGeom prst="roundRect">
            <a:avLst>
              <a:gd name="adj" fmla="val 50000"/>
            </a:avLst>
          </a:prstGeom>
          <a:solidFill>
            <a:srgbClr val="FDEAEE"/>
          </a:solidFill>
          <a:ln/>
        </p:spPr>
      </p:sp>
      <p:sp>
        <p:nvSpPr>
          <p:cNvPr id="129" name="Text 127"/>
          <p:cNvSpPr/>
          <p:nvPr/>
        </p:nvSpPr>
        <p:spPr>
          <a:xfrm>
            <a:off x="9534842" y="6748092"/>
            <a:ext cx="575628" cy="164095"/>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8F1626"/>
                </a:solidFill>
                <a:latin typeface="Arial" pitchFamily="34" charset="0"/>
                <a:ea typeface="Arial" pitchFamily="34" charset="-122"/>
                <a:cs typeface="Arial" pitchFamily="34" charset="-120"/>
              </a:rPr>
              <a:t>Outside class</a:t>
            </a:r>
            <a:endParaRPr lang="en-US" sz="640" dirty="0"/>
          </a:p>
        </p:txBody>
      </p:sp>
      <p:sp>
        <p:nvSpPr>
          <p:cNvPr id="130" name="Text 128"/>
          <p:cNvSpPr/>
          <p:nvPr/>
        </p:nvSpPr>
        <p:spPr>
          <a:xfrm>
            <a:off x="3153463" y="7096866"/>
            <a:ext cx="833173" cy="254106"/>
          </a:xfrm>
          <a:prstGeom prst="rect">
            <a:avLst/>
          </a:prstGeom>
          <a:noFill/>
          <a:ln/>
        </p:spPr>
        <p:txBody>
          <a:bodyPr wrap="square" lIns="25400" tIns="25400" rIns="25400" bIns="25400" rtlCol="0" anchor="ctr">
            <a:normAutofit/>
          </a:bodyPr>
          <a:lstStyle/>
          <a:p>
            <a:pPr algn="l" indent="0" marL="0">
              <a:lnSpc>
                <a:spcPct val="132857"/>
              </a:lnSpc>
              <a:buNone/>
            </a:pPr>
            <a:r>
              <a:rPr lang="en-US" sz="640" dirty="0">
                <a:solidFill>
                  <a:srgbClr val="65726C"/>
                </a:solidFill>
                <a:latin typeface="Courier New" pitchFamily="34" charset="0"/>
                <a:ea typeface="Courier New" pitchFamily="34" charset="-122"/>
                <a:cs typeface="Courier New" pitchFamily="34" charset="-120"/>
              </a:rPr>
              <a:t>TJK-0064</a:t>
            </a:r>
            <a:endParaRPr lang="en-US" sz="640" dirty="0"/>
          </a:p>
        </p:txBody>
      </p:sp>
      <p:sp>
        <p:nvSpPr>
          <p:cNvPr id="131" name="Text 129"/>
          <p:cNvSpPr/>
          <p:nvPr/>
        </p:nvSpPr>
        <p:spPr>
          <a:xfrm>
            <a:off x="4181210" y="7096866"/>
            <a:ext cx="1380702" cy="254106"/>
          </a:xfrm>
          <a:prstGeom prst="rect">
            <a:avLst/>
          </a:prstGeom>
          <a:noFill/>
          <a:ln/>
        </p:spPr>
        <p:txBody>
          <a:bodyPr wrap="square" lIns="25400" tIns="25400" rIns="25400" bIns="25400" rtlCol="0" anchor="ctr">
            <a:normAutofit/>
          </a:bodyPr>
          <a:lstStyle/>
          <a:p>
            <a:pPr algn="l" indent="0" marL="0">
              <a:lnSpc>
                <a:spcPct val="135625"/>
              </a:lnSpc>
              <a:buNone/>
            </a:pPr>
            <a:r>
              <a:rPr lang="en-US" sz="747" b="1" dirty="0">
                <a:solidFill>
                  <a:srgbClr val="16211D"/>
                </a:solidFill>
                <a:latin typeface="Arial" pitchFamily="34" charset="0"/>
                <a:ea typeface="Arial" pitchFamily="34" charset="-122"/>
                <a:cs typeface="Arial" pitchFamily="34" charset="-120"/>
              </a:rPr>
              <a:t>Rahimov, Sardor</a:t>
            </a:r>
            <a:endParaRPr lang="en-US" sz="747" dirty="0"/>
          </a:p>
        </p:txBody>
      </p:sp>
      <p:sp>
        <p:nvSpPr>
          <p:cNvPr id="132" name="Shape 130"/>
          <p:cNvSpPr/>
          <p:nvPr/>
        </p:nvSpPr>
        <p:spPr>
          <a:xfrm>
            <a:off x="5756593" y="7134066"/>
            <a:ext cx="262414" cy="147796"/>
          </a:xfrm>
          <a:prstGeom prst="roundRect">
            <a:avLst>
              <a:gd name="adj" fmla="val 18332"/>
            </a:avLst>
          </a:prstGeom>
          <a:solidFill>
            <a:srgbClr val="F6F8F7"/>
          </a:solidFill>
          <a:ln w="6773">
            <a:solidFill>
              <a:srgbClr val="E4EAE7"/>
            </a:solidFill>
            <a:prstDash val="solid"/>
          </a:ln>
        </p:spPr>
      </p:sp>
      <p:sp>
        <p:nvSpPr>
          <p:cNvPr id="133" name="Text 131"/>
          <p:cNvSpPr/>
          <p:nvPr/>
        </p:nvSpPr>
        <p:spPr>
          <a:xfrm>
            <a:off x="5817553" y="7147613"/>
            <a:ext cx="216694" cy="158803"/>
          </a:xfrm>
          <a:prstGeom prst="rect">
            <a:avLst/>
          </a:prstGeom>
          <a:noFill/>
          <a:ln/>
        </p:spPr>
        <p:txBody>
          <a:bodyPr wrap="square" lIns="25400" tIns="25400" rIns="25400" bIns="25400" rtlCol="0" anchor="t">
            <a:normAutofit/>
          </a:bodyPr>
          <a:lstStyle/>
          <a:p>
            <a:pPr algn="l" indent="0" marL="0">
              <a:lnSpc>
                <a:spcPct val="127262"/>
              </a:lnSpc>
              <a:buNone/>
            </a:pPr>
            <a:r>
              <a:rPr lang="en-US" sz="613" dirty="0">
                <a:solidFill>
                  <a:srgbClr val="16211D"/>
                </a:solidFill>
                <a:latin typeface="Courier New" pitchFamily="34" charset="0"/>
                <a:ea typeface="Courier New" pitchFamily="34" charset="-122"/>
                <a:cs typeface="Courier New" pitchFamily="34" charset="-120"/>
              </a:rPr>
              <a:t>TJK</a:t>
            </a:r>
            <a:endParaRPr lang="en-US" sz="613" dirty="0"/>
          </a:p>
        </p:txBody>
      </p:sp>
      <p:sp>
        <p:nvSpPr>
          <p:cNvPr id="134" name="Text 132"/>
          <p:cNvSpPr/>
          <p:nvPr/>
        </p:nvSpPr>
        <p:spPr>
          <a:xfrm>
            <a:off x="6584844" y="7096866"/>
            <a:ext cx="620924" cy="254106"/>
          </a:xfrm>
          <a:prstGeom prst="rect">
            <a:avLst/>
          </a:prstGeom>
          <a:noFill/>
          <a:ln/>
        </p:spPr>
        <p:txBody>
          <a:bodyPr wrap="square" lIns="25400" tIns="25400" rIns="25400" bIns="25400" rtlCol="0" anchor="ctr">
            <a:normAutofit/>
          </a:bodyPr>
          <a:lstStyle/>
          <a:p>
            <a:pPr algn="l" indent="0" marL="0">
              <a:lnSpc>
                <a:spcPct val="135625"/>
              </a:lnSpc>
              <a:buNone/>
            </a:pPr>
            <a:r>
              <a:rPr lang="en-US" sz="747" dirty="0">
                <a:solidFill>
                  <a:srgbClr val="16211D"/>
                </a:solidFill>
                <a:latin typeface="Arial" pitchFamily="34" charset="0"/>
                <a:ea typeface="Arial" pitchFamily="34" charset="-122"/>
                <a:cs typeface="Arial" pitchFamily="34" charset="-120"/>
              </a:rPr>
              <a:t>−60</a:t>
            </a:r>
            <a:endParaRPr lang="en-US" sz="747" dirty="0"/>
          </a:p>
        </p:txBody>
      </p:sp>
      <p:sp>
        <p:nvSpPr>
          <p:cNvPr id="135" name="Shape 133"/>
          <p:cNvSpPr/>
          <p:nvPr/>
        </p:nvSpPr>
        <p:spPr>
          <a:xfrm>
            <a:off x="7400449" y="7172642"/>
            <a:ext cx="609600" cy="67786"/>
          </a:xfrm>
          <a:prstGeom prst="roundRect">
            <a:avLst>
              <a:gd name="adj" fmla="val 50000"/>
            </a:avLst>
          </a:prstGeom>
          <a:solidFill>
            <a:srgbClr val="F6F8F7"/>
          </a:solidFill>
          <a:ln w="6773">
            <a:solidFill>
              <a:srgbClr val="E4EAE7"/>
            </a:solidFill>
            <a:prstDash val="solid"/>
          </a:ln>
        </p:spPr>
      </p:sp>
      <p:sp>
        <p:nvSpPr>
          <p:cNvPr id="136" name="Shape 134"/>
          <p:cNvSpPr/>
          <p:nvPr/>
        </p:nvSpPr>
        <p:spPr>
          <a:xfrm>
            <a:off x="8064341" y="7100253"/>
            <a:ext cx="387668" cy="212566"/>
          </a:xfrm>
          <a:prstGeom prst="roundRect">
            <a:avLst>
              <a:gd name="adj" fmla="val 50000"/>
            </a:avLst>
          </a:prstGeom>
          <a:solidFill>
            <a:srgbClr val="FFFFFF"/>
          </a:solidFill>
          <a:ln w="6773">
            <a:solidFill>
              <a:srgbClr val="E4EAE7"/>
            </a:solidFill>
            <a:prstDash val="solid"/>
          </a:ln>
        </p:spPr>
      </p:sp>
      <p:sp>
        <p:nvSpPr>
          <p:cNvPr id="137" name="Text 135"/>
          <p:cNvSpPr/>
          <p:nvPr/>
        </p:nvSpPr>
        <p:spPr>
          <a:xfrm>
            <a:off x="8165941" y="7140893"/>
            <a:ext cx="260668" cy="169386"/>
          </a:xfrm>
          <a:prstGeom prst="rect">
            <a:avLst/>
          </a:prstGeom>
          <a:noFill/>
          <a:ln/>
        </p:spPr>
        <p:txBody>
          <a:bodyPr wrap="square" lIns="25400" tIns="25400" rIns="25400" bIns="25400" rtlCol="0" anchor="ctr">
            <a:normAutofit/>
          </a:bodyPr>
          <a:lstStyle/>
          <a:p>
            <a:pPr algn="l" indent="0" marL="0">
              <a:lnSpc>
                <a:spcPct val="129222"/>
              </a:lnSpc>
              <a:buNone/>
            </a:pPr>
            <a:r>
              <a:rPr lang="en-US" sz="667" b="1" dirty="0">
                <a:solidFill>
                  <a:srgbClr val="16211D"/>
                </a:solidFill>
                <a:latin typeface="Arial" pitchFamily="34" charset="0"/>
                <a:ea typeface="Arial" pitchFamily="34" charset="-122"/>
                <a:cs typeface="Arial" pitchFamily="34" charset="-120"/>
              </a:rPr>
              <a:t>Save</a:t>
            </a:r>
            <a:endParaRPr lang="en-US" sz="667" dirty="0"/>
          </a:p>
        </p:txBody>
      </p:sp>
      <p:sp>
        <p:nvSpPr>
          <p:cNvPr id="138" name="Shape 136"/>
          <p:cNvSpPr/>
          <p:nvPr/>
        </p:nvSpPr>
        <p:spPr>
          <a:xfrm>
            <a:off x="9453563" y="7116445"/>
            <a:ext cx="645001" cy="180181"/>
          </a:xfrm>
          <a:prstGeom prst="roundRect">
            <a:avLst>
              <a:gd name="adj" fmla="val 50000"/>
            </a:avLst>
          </a:prstGeom>
          <a:solidFill>
            <a:srgbClr val="F6F8F7"/>
          </a:solidFill>
          <a:ln/>
        </p:spPr>
      </p:sp>
      <p:sp>
        <p:nvSpPr>
          <p:cNvPr id="139" name="Text 137"/>
          <p:cNvSpPr/>
          <p:nvPr/>
        </p:nvSpPr>
        <p:spPr>
          <a:xfrm>
            <a:off x="9534842" y="7143538"/>
            <a:ext cx="558641" cy="164095"/>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65726C"/>
                </a:solidFill>
                <a:latin typeface="Arial" pitchFamily="34" charset="0"/>
                <a:ea typeface="Arial" pitchFamily="34" charset="-122"/>
                <a:cs typeface="Arial" pitchFamily="34" charset="-120"/>
              </a:rPr>
              <a:t>Not weighed</a:t>
            </a:r>
            <a:endParaRPr lang="en-US" sz="640" dirty="0"/>
          </a:p>
        </p:txBody>
      </p:sp>
      <p:sp>
        <p:nvSpPr>
          <p:cNvPr id="140" name="Text 138"/>
          <p:cNvSpPr/>
          <p:nvPr/>
        </p:nvSpPr>
        <p:spPr>
          <a:xfrm>
            <a:off x="11353800" y="32004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The rule is on the screen</a:t>
            </a:r>
            <a:endParaRPr lang="en-US" sz="2550" dirty="0"/>
          </a:p>
        </p:txBody>
      </p:sp>
      <p:sp>
        <p:nvSpPr>
          <p:cNvPr id="141" name="Text 139"/>
          <p:cNvSpPr/>
          <p:nvPr/>
        </p:nvSpPr>
        <p:spPr>
          <a:xfrm>
            <a:off x="11353800" y="3696811"/>
            <a:ext cx="596493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The three figures follow the class filter, so they describe the list in front of the official rather than the whole category behind it. A measurement outside the window is named as such, not left as a number to interpret.</a:t>
            </a:r>
            <a:endParaRPr lang="en-US" sz="2100" dirty="0"/>
          </a:p>
        </p:txBody>
      </p:sp>
      <p:sp>
        <p:nvSpPr>
          <p:cNvPr id="142" name="Text 140"/>
          <p:cNvSpPr/>
          <p:nvPr/>
        </p:nvSpPr>
        <p:spPr>
          <a:xfrm>
            <a:off x="11353800" y="61722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The confirmed list, on the spot</a:t>
            </a:r>
            <a:endParaRPr lang="en-US" sz="2550" dirty="0"/>
          </a:p>
        </p:txBody>
      </p:sp>
      <p:sp>
        <p:nvSpPr>
          <p:cNvPr id="143" name="Text 141"/>
          <p:cNvSpPr/>
          <p:nvPr/>
        </p:nvSpPr>
        <p:spPr>
          <a:xfrm>
            <a:off x="11353800" y="6668612"/>
            <a:ext cx="5964936" cy="15925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Once a class is filtered, its weigh-in form comes off the same screen in PDF or Excel — rendered when it is asked for, so the sheet a delegation is handed matches the scale.</a:t>
            </a:r>
            <a:endParaRPr lang="en-US" sz="2100" dirty="0"/>
          </a:p>
        </p:txBody>
      </p:sp>
      <p:pic>
        <p:nvPicPr>
          <p:cNvPr id="144" name="Image 0" descr="preencoded.png">    </p:cNvPr>
          <p:cNvPicPr>
            <a:picLocks noChangeAspect="1"/>
          </p:cNvPicPr>
          <p:nvPr/>
        </p:nvPicPr>
        <p:blipFill>
          <a:blip r:embed="rId1"/>
          <a:stretch>
            <a:fillRect/>
          </a:stretch>
        </p:blipFill>
        <p:spPr>
          <a:xfrm>
            <a:off x="1143000" y="8987155"/>
            <a:ext cx="3261360" cy="1568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C3013"/>
        </a:solidFill>
      </p:bgPr>
    </p:bg>
    <p:spTree>
      <p:nvGrpSpPr>
        <p:cNvPr id="1" name=""/>
        <p:cNvGrpSpPr/>
        <p:nvPr/>
      </p:nvGrpSpPr>
      <p:grpSpPr>
        <a:xfrm>
          <a:off x="0" y="0"/>
          <a:ext cx="0" cy="0"/>
          <a:chOff x="0" y="0"/>
          <a:chExt cx="0" cy="0"/>
        </a:xfrm>
      </p:grpSpPr>
      <p:sp>
        <p:nvSpPr>
          <p:cNvPr id="2" name="Text 0"/>
          <p:cNvSpPr/>
          <p:nvPr/>
        </p:nvSpPr>
        <p:spPr>
          <a:xfrm>
            <a:off x="1031558" y="3477101"/>
            <a:ext cx="3296221" cy="2266950"/>
          </a:xfrm>
          <a:prstGeom prst="rect">
            <a:avLst/>
          </a:prstGeom>
          <a:noFill/>
          <a:ln/>
        </p:spPr>
        <p:txBody>
          <a:bodyPr wrap="square" lIns="25400" tIns="25400" rIns="25400" bIns="25400" rtlCol="0" anchor="t">
            <a:normAutofit/>
          </a:bodyPr>
          <a:lstStyle/>
          <a:p>
            <a:pPr algn="l" indent="0" marL="0">
              <a:lnSpc>
                <a:spcPct val="80137"/>
              </a:lnSpc>
              <a:buNone/>
            </a:pPr>
            <a:r>
              <a:rPr lang="en-US" sz="19500" b="1" spc="-390" kern="0" dirty="0">
                <a:solidFill>
                  <a:srgbClr val="AE1800"/>
                </a:solidFill>
                <a:latin typeface="Arial" pitchFamily="34" charset="0"/>
                <a:ea typeface="Arial" pitchFamily="34" charset="-122"/>
                <a:cs typeface="Arial" pitchFamily="34" charset="-120"/>
              </a:rPr>
              <a:t>02</a:t>
            </a:r>
            <a:endParaRPr lang="en-US" sz="19500" dirty="0"/>
          </a:p>
        </p:txBody>
      </p:sp>
      <p:sp>
        <p:nvSpPr>
          <p:cNvPr id="3" name="Text 1"/>
          <p:cNvSpPr/>
          <p:nvPr/>
        </p:nvSpPr>
        <p:spPr>
          <a:xfrm>
            <a:off x="1107599" y="6163151"/>
            <a:ext cx="3016123"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F3F2F2"/>
                </a:solidFill>
                <a:latin typeface="Arial" pitchFamily="34" charset="0"/>
                <a:ea typeface="Arial" pitchFamily="34" charset="-122"/>
                <a:cs typeface="Arial" pitchFamily="34" charset="-120"/>
              </a:rPr>
              <a:t>The rules</a:t>
            </a:r>
            <a:endParaRPr lang="en-US" sz="4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02 · THE RULES</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Format by field size</a:t>
            </a:r>
            <a:endParaRPr lang="en-US" sz="4800" dirty="0"/>
          </a:p>
        </p:txBody>
      </p:sp>
      <p:sp>
        <p:nvSpPr>
          <p:cNvPr id="4" name="Shape 2"/>
          <p:cNvSpPr/>
          <p:nvPr/>
        </p:nvSpPr>
        <p:spPr>
          <a:xfrm>
            <a:off x="1143000" y="3848100"/>
            <a:ext cx="2572703" cy="19050"/>
          </a:xfrm>
          <a:prstGeom prst="rect">
            <a:avLst/>
          </a:prstGeom>
          <a:solidFill>
            <a:srgbClr val="201E1D">
              <a:alpha val="40000"/>
            </a:srgbClr>
          </a:solidFill>
          <a:ln/>
        </p:spPr>
      </p:sp>
      <p:sp>
        <p:nvSpPr>
          <p:cNvPr id="5" name="Text 3"/>
          <p:cNvSpPr/>
          <p:nvPr/>
        </p:nvSpPr>
        <p:spPr>
          <a:xfrm>
            <a:off x="1143000" y="3200400"/>
            <a:ext cx="2421284" cy="685800"/>
          </a:xfrm>
          <a:prstGeom prst="rect">
            <a:avLst/>
          </a:prstGeom>
          <a:noFill/>
          <a:ln/>
        </p:spPr>
        <p:txBody>
          <a:bodyPr wrap="square" lIns="25400" tIns="25400" rIns="25400" bIns="25400" rtlCol="0" anchor="ctr">
            <a:normAutofit/>
          </a:bodyPr>
          <a:lstStyle/>
          <a:p>
            <a:pPr algn="l" indent="0" marL="0">
              <a:lnSpc>
                <a:spcPct val="107143"/>
              </a:lnSpc>
              <a:buNone/>
            </a:pPr>
            <a:r>
              <a:rPr lang="en-US" sz="1800" b="1" spc="144" kern="0" dirty="0">
                <a:solidFill>
                  <a:srgbClr val="201E1D">
                    <a:alpha val="60000"/>
                  </a:srgbClr>
                </a:solidFill>
                <a:latin typeface="Arial" pitchFamily="34" charset="0"/>
                <a:ea typeface="Arial" pitchFamily="34" charset="-122"/>
                <a:cs typeface="Arial" pitchFamily="34" charset="-120"/>
              </a:rPr>
              <a:t>FIELD</a:t>
            </a:r>
            <a:endParaRPr lang="en-US" sz="1800" dirty="0"/>
          </a:p>
        </p:txBody>
      </p:sp>
      <p:sp>
        <p:nvSpPr>
          <p:cNvPr id="6" name="Shape 4"/>
          <p:cNvSpPr/>
          <p:nvPr/>
        </p:nvSpPr>
        <p:spPr>
          <a:xfrm>
            <a:off x="3715703" y="3848100"/>
            <a:ext cx="5468144" cy="19050"/>
          </a:xfrm>
          <a:prstGeom prst="rect">
            <a:avLst/>
          </a:prstGeom>
          <a:solidFill>
            <a:srgbClr val="201E1D">
              <a:alpha val="40000"/>
            </a:srgbClr>
          </a:solidFill>
          <a:ln/>
        </p:spPr>
      </p:sp>
      <p:sp>
        <p:nvSpPr>
          <p:cNvPr id="7" name="Text 5"/>
          <p:cNvSpPr/>
          <p:nvPr/>
        </p:nvSpPr>
        <p:spPr>
          <a:xfrm>
            <a:off x="3944303" y="3200400"/>
            <a:ext cx="5174988" cy="685800"/>
          </a:xfrm>
          <a:prstGeom prst="rect">
            <a:avLst/>
          </a:prstGeom>
          <a:noFill/>
          <a:ln/>
        </p:spPr>
        <p:txBody>
          <a:bodyPr wrap="square" lIns="25400" tIns="25400" rIns="25400" bIns="25400" rtlCol="0" anchor="ctr">
            <a:normAutofit/>
          </a:bodyPr>
          <a:lstStyle/>
          <a:p>
            <a:pPr algn="l" indent="0" marL="0">
              <a:lnSpc>
                <a:spcPct val="107143"/>
              </a:lnSpc>
              <a:buNone/>
            </a:pPr>
            <a:r>
              <a:rPr lang="en-US" sz="1800" b="1" spc="144" kern="0" dirty="0">
                <a:solidFill>
                  <a:srgbClr val="201E1D">
                    <a:alpha val="60000"/>
                  </a:srgbClr>
                </a:solidFill>
                <a:latin typeface="Arial" pitchFamily="34" charset="0"/>
                <a:ea typeface="Arial" pitchFamily="34" charset="-122"/>
                <a:cs typeface="Arial" pitchFamily="34" charset="-120"/>
              </a:rPr>
              <a:t>FORMAT</a:t>
            </a:r>
            <a:endParaRPr lang="en-US" sz="1800" dirty="0"/>
          </a:p>
        </p:txBody>
      </p:sp>
      <p:sp>
        <p:nvSpPr>
          <p:cNvPr id="8" name="Shape 6"/>
          <p:cNvSpPr/>
          <p:nvPr/>
        </p:nvSpPr>
        <p:spPr>
          <a:xfrm>
            <a:off x="9183846" y="3848100"/>
            <a:ext cx="6818154" cy="19050"/>
          </a:xfrm>
          <a:prstGeom prst="rect">
            <a:avLst/>
          </a:prstGeom>
          <a:solidFill>
            <a:srgbClr val="201E1D">
              <a:alpha val="40000"/>
            </a:srgbClr>
          </a:solidFill>
          <a:ln/>
        </p:spPr>
      </p:sp>
      <p:sp>
        <p:nvSpPr>
          <p:cNvPr id="9" name="Text 7"/>
          <p:cNvSpPr/>
          <p:nvPr/>
        </p:nvSpPr>
        <p:spPr>
          <a:xfrm>
            <a:off x="9412446" y="3200400"/>
            <a:ext cx="6794098" cy="685800"/>
          </a:xfrm>
          <a:prstGeom prst="rect">
            <a:avLst/>
          </a:prstGeom>
          <a:noFill/>
          <a:ln/>
        </p:spPr>
        <p:txBody>
          <a:bodyPr wrap="square" lIns="25400" tIns="25400" rIns="25400" bIns="25400" rtlCol="0" anchor="ctr">
            <a:normAutofit/>
          </a:bodyPr>
          <a:lstStyle/>
          <a:p>
            <a:pPr algn="l" indent="0" marL="0">
              <a:lnSpc>
                <a:spcPct val="107143"/>
              </a:lnSpc>
              <a:buNone/>
            </a:pPr>
            <a:r>
              <a:rPr lang="en-US" sz="1800" b="1" spc="144" kern="0" dirty="0">
                <a:solidFill>
                  <a:srgbClr val="201E1D">
                    <a:alpha val="60000"/>
                  </a:srgbClr>
                </a:solidFill>
                <a:latin typeface="Arial" pitchFamily="34" charset="0"/>
                <a:ea typeface="Arial" pitchFamily="34" charset="-122"/>
                <a:cs typeface="Arial" pitchFamily="34" charset="-120"/>
              </a:rPr>
              <a:t>DECIDED BY</a:t>
            </a:r>
            <a:endParaRPr lang="en-US" sz="1800" dirty="0"/>
          </a:p>
        </p:txBody>
      </p:sp>
      <p:sp>
        <p:nvSpPr>
          <p:cNvPr id="10" name="Shape 8"/>
          <p:cNvSpPr/>
          <p:nvPr/>
        </p:nvSpPr>
        <p:spPr>
          <a:xfrm>
            <a:off x="1143000" y="4524375"/>
            <a:ext cx="2572703" cy="9525"/>
          </a:xfrm>
          <a:prstGeom prst="rect">
            <a:avLst/>
          </a:prstGeom>
          <a:solidFill>
            <a:srgbClr val="201E1D">
              <a:alpha val="40000"/>
            </a:srgbClr>
          </a:solidFill>
          <a:ln/>
        </p:spPr>
      </p:sp>
      <p:sp>
        <p:nvSpPr>
          <p:cNvPr id="11" name="Text 9"/>
          <p:cNvSpPr/>
          <p:nvPr/>
        </p:nvSpPr>
        <p:spPr>
          <a:xfrm>
            <a:off x="1143000" y="3867150"/>
            <a:ext cx="2421284"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1 athlete</a:t>
            </a:r>
            <a:endParaRPr lang="en-US" sz="2175" dirty="0"/>
          </a:p>
        </p:txBody>
      </p:sp>
      <p:sp>
        <p:nvSpPr>
          <p:cNvPr id="12" name="Shape 10"/>
          <p:cNvSpPr/>
          <p:nvPr/>
        </p:nvSpPr>
        <p:spPr>
          <a:xfrm>
            <a:off x="3715703" y="4524375"/>
            <a:ext cx="5468144" cy="9525"/>
          </a:xfrm>
          <a:prstGeom prst="rect">
            <a:avLst/>
          </a:prstGeom>
          <a:solidFill>
            <a:srgbClr val="201E1D">
              <a:alpha val="40000"/>
            </a:srgbClr>
          </a:solidFill>
          <a:ln/>
        </p:spPr>
      </p:sp>
      <p:sp>
        <p:nvSpPr>
          <p:cNvPr id="13" name="Text 11"/>
          <p:cNvSpPr/>
          <p:nvPr/>
        </p:nvSpPr>
        <p:spPr>
          <a:xfrm>
            <a:off x="3944303" y="3867150"/>
            <a:ext cx="517498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Administrative placement</a:t>
            </a:r>
            <a:endParaRPr lang="en-US" sz="2175" dirty="0"/>
          </a:p>
        </p:txBody>
      </p:sp>
      <p:sp>
        <p:nvSpPr>
          <p:cNvPr id="14" name="Shape 12"/>
          <p:cNvSpPr/>
          <p:nvPr/>
        </p:nvSpPr>
        <p:spPr>
          <a:xfrm>
            <a:off x="9183846" y="4524375"/>
            <a:ext cx="6818154" cy="9525"/>
          </a:xfrm>
          <a:prstGeom prst="rect">
            <a:avLst/>
          </a:prstGeom>
          <a:solidFill>
            <a:srgbClr val="201E1D">
              <a:alpha val="40000"/>
            </a:srgbClr>
          </a:solidFill>
          <a:ln/>
        </p:spPr>
      </p:sp>
      <p:sp>
        <p:nvSpPr>
          <p:cNvPr id="15" name="Text 13"/>
          <p:cNvSpPr/>
          <p:nvPr/>
        </p:nvSpPr>
        <p:spPr>
          <a:xfrm>
            <a:off x="9412446" y="3867150"/>
            <a:ext cx="679409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Signed for by an official</a:t>
            </a:r>
            <a:endParaRPr lang="en-US" sz="2175" dirty="0"/>
          </a:p>
        </p:txBody>
      </p:sp>
      <p:sp>
        <p:nvSpPr>
          <p:cNvPr id="16" name="Shape 14"/>
          <p:cNvSpPr/>
          <p:nvPr/>
        </p:nvSpPr>
        <p:spPr>
          <a:xfrm>
            <a:off x="1143000" y="5191125"/>
            <a:ext cx="2572703" cy="9525"/>
          </a:xfrm>
          <a:prstGeom prst="rect">
            <a:avLst/>
          </a:prstGeom>
          <a:solidFill>
            <a:srgbClr val="201E1D">
              <a:alpha val="40000"/>
            </a:srgbClr>
          </a:solidFill>
          <a:ln/>
        </p:spPr>
      </p:sp>
      <p:sp>
        <p:nvSpPr>
          <p:cNvPr id="17" name="Text 15"/>
          <p:cNvSpPr/>
          <p:nvPr/>
        </p:nvSpPr>
        <p:spPr>
          <a:xfrm>
            <a:off x="1143000" y="4533900"/>
            <a:ext cx="2421284"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2–5</a:t>
            </a:r>
            <a:endParaRPr lang="en-US" sz="2175" dirty="0"/>
          </a:p>
        </p:txBody>
      </p:sp>
      <p:sp>
        <p:nvSpPr>
          <p:cNvPr id="18" name="Shape 16"/>
          <p:cNvSpPr/>
          <p:nvPr/>
        </p:nvSpPr>
        <p:spPr>
          <a:xfrm>
            <a:off x="3715703" y="5191125"/>
            <a:ext cx="5468144" cy="9525"/>
          </a:xfrm>
          <a:prstGeom prst="rect">
            <a:avLst/>
          </a:prstGeom>
          <a:solidFill>
            <a:srgbClr val="201E1D">
              <a:alpha val="40000"/>
            </a:srgbClr>
          </a:solidFill>
          <a:ln/>
        </p:spPr>
      </p:sp>
      <p:sp>
        <p:nvSpPr>
          <p:cNvPr id="19" name="Text 17"/>
          <p:cNvSpPr/>
          <p:nvPr/>
        </p:nvSpPr>
        <p:spPr>
          <a:xfrm>
            <a:off x="3944303" y="4533900"/>
            <a:ext cx="517498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Round robin</a:t>
            </a:r>
            <a:endParaRPr lang="en-US" sz="2175" dirty="0"/>
          </a:p>
        </p:txBody>
      </p:sp>
      <p:sp>
        <p:nvSpPr>
          <p:cNvPr id="20" name="Shape 18"/>
          <p:cNvSpPr/>
          <p:nvPr/>
        </p:nvSpPr>
        <p:spPr>
          <a:xfrm>
            <a:off x="9183846" y="5191125"/>
            <a:ext cx="6818154" cy="9525"/>
          </a:xfrm>
          <a:prstGeom prst="rect">
            <a:avLst/>
          </a:prstGeom>
          <a:solidFill>
            <a:srgbClr val="201E1D">
              <a:alpha val="40000"/>
            </a:srgbClr>
          </a:solidFill>
          <a:ln/>
        </p:spPr>
      </p:sp>
      <p:sp>
        <p:nvSpPr>
          <p:cNvPr id="21" name="Text 19"/>
          <p:cNvSpPr/>
          <p:nvPr/>
        </p:nvSpPr>
        <p:spPr>
          <a:xfrm>
            <a:off x="9412446" y="4533900"/>
            <a:ext cx="679409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The IKA rule, and the default</a:t>
            </a:r>
            <a:endParaRPr lang="en-US" sz="2175" dirty="0"/>
          </a:p>
        </p:txBody>
      </p:sp>
      <p:sp>
        <p:nvSpPr>
          <p:cNvPr id="22" name="Shape 20"/>
          <p:cNvSpPr/>
          <p:nvPr/>
        </p:nvSpPr>
        <p:spPr>
          <a:xfrm>
            <a:off x="1143000" y="5857875"/>
            <a:ext cx="2572703" cy="9525"/>
          </a:xfrm>
          <a:prstGeom prst="rect">
            <a:avLst/>
          </a:prstGeom>
          <a:solidFill>
            <a:srgbClr val="201E1D">
              <a:alpha val="40000"/>
            </a:srgbClr>
          </a:solidFill>
          <a:ln/>
        </p:spPr>
      </p:sp>
      <p:sp>
        <p:nvSpPr>
          <p:cNvPr id="23" name="Text 21"/>
          <p:cNvSpPr/>
          <p:nvPr/>
        </p:nvSpPr>
        <p:spPr>
          <a:xfrm>
            <a:off x="1143000" y="5200650"/>
            <a:ext cx="2421284"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6 or more</a:t>
            </a:r>
            <a:endParaRPr lang="en-US" sz="2175" dirty="0"/>
          </a:p>
        </p:txBody>
      </p:sp>
      <p:sp>
        <p:nvSpPr>
          <p:cNvPr id="24" name="Shape 22"/>
          <p:cNvSpPr/>
          <p:nvPr/>
        </p:nvSpPr>
        <p:spPr>
          <a:xfrm>
            <a:off x="3715703" y="5857875"/>
            <a:ext cx="5468144" cy="9525"/>
          </a:xfrm>
          <a:prstGeom prst="rect">
            <a:avLst/>
          </a:prstGeom>
          <a:solidFill>
            <a:srgbClr val="201E1D">
              <a:alpha val="40000"/>
            </a:srgbClr>
          </a:solidFill>
          <a:ln/>
        </p:spPr>
      </p:sp>
      <p:sp>
        <p:nvSpPr>
          <p:cNvPr id="25" name="Text 23"/>
          <p:cNvSpPr/>
          <p:nvPr/>
        </p:nvSpPr>
        <p:spPr>
          <a:xfrm>
            <a:off x="3944303" y="5200650"/>
            <a:ext cx="517498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Knockout</a:t>
            </a:r>
            <a:endParaRPr lang="en-US" sz="2175" dirty="0"/>
          </a:p>
        </p:txBody>
      </p:sp>
      <p:sp>
        <p:nvSpPr>
          <p:cNvPr id="26" name="Shape 24"/>
          <p:cNvSpPr/>
          <p:nvPr/>
        </p:nvSpPr>
        <p:spPr>
          <a:xfrm>
            <a:off x="9183846" y="5857875"/>
            <a:ext cx="6818154" cy="9525"/>
          </a:xfrm>
          <a:prstGeom prst="rect">
            <a:avLst/>
          </a:prstGeom>
          <a:solidFill>
            <a:srgbClr val="201E1D">
              <a:alpha val="40000"/>
            </a:srgbClr>
          </a:solidFill>
          <a:ln/>
        </p:spPr>
      </p:sp>
      <p:sp>
        <p:nvSpPr>
          <p:cNvPr id="27" name="Text 25"/>
          <p:cNvSpPr/>
          <p:nvPr/>
        </p:nvSpPr>
        <p:spPr>
          <a:xfrm>
            <a:off x="9412446" y="5200650"/>
            <a:ext cx="679409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The IKA rule</a:t>
            </a:r>
            <a:endParaRPr lang="en-US" sz="2175" dirty="0"/>
          </a:p>
        </p:txBody>
      </p:sp>
      <p:sp>
        <p:nvSpPr>
          <p:cNvPr id="28" name="Shape 26"/>
          <p:cNvSpPr/>
          <p:nvPr/>
        </p:nvSpPr>
        <p:spPr>
          <a:xfrm>
            <a:off x="1143000" y="6524625"/>
            <a:ext cx="2572703" cy="9525"/>
          </a:xfrm>
          <a:prstGeom prst="rect">
            <a:avLst/>
          </a:prstGeom>
          <a:solidFill>
            <a:srgbClr val="201E1D">
              <a:alpha val="40000"/>
            </a:srgbClr>
          </a:solidFill>
          <a:ln/>
        </p:spPr>
      </p:sp>
      <p:sp>
        <p:nvSpPr>
          <p:cNvPr id="29" name="Text 27"/>
          <p:cNvSpPr/>
          <p:nvPr/>
        </p:nvSpPr>
        <p:spPr>
          <a:xfrm>
            <a:off x="1143000" y="5867400"/>
            <a:ext cx="2421284"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2–5, knockout</a:t>
            </a:r>
            <a:endParaRPr lang="en-US" sz="2175" dirty="0"/>
          </a:p>
        </p:txBody>
      </p:sp>
      <p:sp>
        <p:nvSpPr>
          <p:cNvPr id="30" name="Shape 28"/>
          <p:cNvSpPr/>
          <p:nvPr/>
        </p:nvSpPr>
        <p:spPr>
          <a:xfrm>
            <a:off x="3715703" y="6524625"/>
            <a:ext cx="5468144" cy="9525"/>
          </a:xfrm>
          <a:prstGeom prst="rect">
            <a:avLst/>
          </a:prstGeom>
          <a:solidFill>
            <a:srgbClr val="201E1D">
              <a:alpha val="40000"/>
            </a:srgbClr>
          </a:solidFill>
          <a:ln/>
        </p:spPr>
      </p:sp>
      <p:sp>
        <p:nvSpPr>
          <p:cNvPr id="31" name="Text 29"/>
          <p:cNvSpPr/>
          <p:nvPr/>
        </p:nvSpPr>
        <p:spPr>
          <a:xfrm>
            <a:off x="3944303" y="5867400"/>
            <a:ext cx="517498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Local decision against the rule</a:t>
            </a:r>
            <a:endParaRPr lang="en-US" sz="2175" dirty="0"/>
          </a:p>
        </p:txBody>
      </p:sp>
      <p:sp>
        <p:nvSpPr>
          <p:cNvPr id="32" name="Shape 30"/>
          <p:cNvSpPr/>
          <p:nvPr/>
        </p:nvSpPr>
        <p:spPr>
          <a:xfrm>
            <a:off x="9183846" y="6524625"/>
            <a:ext cx="6818154" cy="9525"/>
          </a:xfrm>
          <a:prstGeom prst="rect">
            <a:avLst/>
          </a:prstGeom>
          <a:solidFill>
            <a:srgbClr val="201E1D">
              <a:alpha val="40000"/>
            </a:srgbClr>
          </a:solidFill>
          <a:ln/>
        </p:spPr>
      </p:sp>
      <p:sp>
        <p:nvSpPr>
          <p:cNvPr id="33" name="Text 31"/>
          <p:cNvSpPr/>
          <p:nvPr/>
        </p:nvSpPr>
        <p:spPr>
          <a:xfrm>
            <a:off x="9412446" y="5867400"/>
            <a:ext cx="679409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Administrator, reason, moment recorded</a:t>
            </a:r>
            <a:endParaRPr lang="en-US" sz="2175" dirty="0"/>
          </a:p>
        </p:txBody>
      </p:sp>
      <p:sp>
        <p:nvSpPr>
          <p:cNvPr id="34" name="Text 32"/>
          <p:cNvSpPr/>
          <p:nvPr/>
        </p:nvSpPr>
        <p:spPr>
          <a:xfrm>
            <a:off x="1143000" y="6996113"/>
            <a:ext cx="12374626" cy="658654"/>
          </a:xfrm>
          <a:prstGeom prst="rect">
            <a:avLst/>
          </a:prstGeom>
          <a:noFill/>
          <a:ln/>
        </p:spPr>
        <p:txBody>
          <a:bodyPr wrap="square" lIns="25400" tIns="25400" rIns="25400" bIns="25400" rtlCol="0" anchor="t">
            <a:normAutofit/>
          </a:bodyPr>
          <a:lstStyle/>
          <a:p>
            <a:pPr algn="l" indent="0" marL="0">
              <a:lnSpc>
                <a:spcPct val="165517"/>
              </a:lnSpc>
              <a:buNone/>
            </a:pPr>
            <a:r>
              <a:rPr lang="en-US" sz="1875" dirty="0">
                <a:solidFill>
                  <a:srgbClr val="201E1D">
                    <a:alpha val="55000"/>
                  </a:srgbClr>
                </a:solidFill>
                <a:latin typeface="Arial" pitchFamily="34" charset="0"/>
                <a:ea typeface="Arial" pitchFamily="34" charset="-122"/>
                <a:cs typeface="Arial" pitchFamily="34" charset="-120"/>
              </a:rPr>
              <a:t>The format is re-checked server-side every time a draw is requested — a browser cannot ask for a round robin of sixteen.</a:t>
            </a:r>
            <a:endParaRPr lang="en-US" sz="1875" dirty="0"/>
          </a:p>
        </p:txBody>
      </p:sp>
      <p:pic>
        <p:nvPicPr>
          <p:cNvPr id="35"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02 · THE RULES</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The draw</a:t>
            </a:r>
            <a:endParaRPr lang="en-US" sz="4800" dirty="0"/>
          </a:p>
        </p:txBody>
      </p:sp>
      <p:sp>
        <p:nvSpPr>
          <p:cNvPr id="4" name="Text 2"/>
          <p:cNvSpPr/>
          <p:nvPr/>
        </p:nvSpPr>
        <p:spPr>
          <a:xfrm>
            <a:off x="1143000" y="3206909"/>
            <a:ext cx="11969115" cy="717391"/>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201E1D"/>
                </a:solidFill>
                <a:latin typeface="Arial" pitchFamily="34" charset="0"/>
                <a:ea typeface="Arial" pitchFamily="34" charset="-122"/>
                <a:cs typeface="Arial" pitchFamily="34" charset="-120"/>
              </a:rPr>
              <a:t>Eligibility is checked when numbers are handed out, when the bracket is generated and when the draw is published — all three ask the same class.</a:t>
            </a:r>
            <a:endParaRPr lang="en-US" sz="2550" dirty="0"/>
          </a:p>
        </p:txBody>
      </p:sp>
      <p:sp>
        <p:nvSpPr>
          <p:cNvPr id="5" name="Text 3"/>
          <p:cNvSpPr/>
          <p:nvPr/>
        </p:nvSpPr>
        <p:spPr>
          <a:xfrm>
            <a:off x="1143000" y="4349909"/>
            <a:ext cx="11969115" cy="717391"/>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201E1D"/>
                </a:solidFill>
                <a:latin typeface="Arial" pitchFamily="34" charset="0"/>
                <a:ea typeface="Arial" pitchFamily="34" charset="-122"/>
                <a:cs typeface="Arial" pitchFamily="34" charset="-120"/>
              </a:rPr>
              <a:t>The category is locked while it is drawn, so two administrators cannot draw the same class twice.</a:t>
            </a:r>
            <a:endParaRPr lang="en-US" sz="2550" dirty="0"/>
          </a:p>
        </p:txBody>
      </p:sp>
      <p:sp>
        <p:nvSpPr>
          <p:cNvPr id="6" name="Text 4"/>
          <p:cNvSpPr/>
          <p:nvPr/>
        </p:nvSpPr>
        <p:spPr>
          <a:xfrm>
            <a:off x="1143000" y="5492909"/>
            <a:ext cx="11969115" cy="717391"/>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201E1D"/>
                </a:solidFill>
                <a:latin typeface="Arial" pitchFamily="34" charset="0"/>
                <a:ea typeface="Arial" pitchFamily="34" charset="-122"/>
                <a:cs typeface="Arial" pitchFamily="34" charset="-120"/>
              </a:rPr>
              <a:t>A published draw is frozen: every display reads what the draw </a:t>
            </a:r>
            <a:pPr algn="l" indent="0" marL="0">
              <a:lnSpc>
                <a:spcPct val="123077"/>
              </a:lnSpc>
              <a:buNone/>
            </a:pPr>
            <a:r>
              <a:rPr lang="en-US" sz="2550" i="1" dirty="0">
                <a:solidFill>
                  <a:srgbClr val="201E1D"/>
                </a:solidFill>
                <a:latin typeface="Arial" pitchFamily="34" charset="0"/>
                <a:ea typeface="Arial" pitchFamily="34" charset="-122"/>
                <a:cs typeface="Arial" pitchFamily="34" charset="-120"/>
              </a:rPr>
              <a:t>was generated as </a:t>
            </a:r>
            <a:pPr algn="l" indent="0" marL="0">
              <a:lnSpc>
                <a:spcPct val="123077"/>
              </a:lnSpc>
              <a:buNone/>
            </a:pPr>
            <a:r>
              <a:rPr lang="en-US" sz="2550" dirty="0">
                <a:solidFill>
                  <a:srgbClr val="201E1D"/>
                </a:solidFill>
                <a:latin typeface="Arial" pitchFamily="34" charset="0"/>
                <a:ea typeface="Arial" pitchFamily="34" charset="-122"/>
                <a:cs typeface="Arial" pitchFamily="34" charset="-120"/>
              </a:rPr>
              <a:t>, never what today’s entry list would recompute.</a:t>
            </a:r>
            <a:endParaRPr lang="en-US" sz="2550" dirty="0"/>
          </a:p>
        </p:txBody>
      </p:sp>
      <p:sp>
        <p:nvSpPr>
          <p:cNvPr id="7" name="Text 5"/>
          <p:cNvSpPr/>
          <p:nvPr/>
        </p:nvSpPr>
        <p:spPr>
          <a:xfrm>
            <a:off x="1143000" y="6635909"/>
            <a:ext cx="11969115" cy="717391"/>
          </a:xfrm>
          <a:prstGeom prst="rect">
            <a:avLst/>
          </a:prstGeom>
          <a:noFill/>
          <a:ln/>
        </p:spPr>
        <p:txBody>
          <a:bodyPr wrap="square" lIns="25400" tIns="25400" rIns="25400" bIns="25400" rtlCol="0" anchor="t">
            <a:normAutofit/>
          </a:bodyPr>
          <a:lstStyle/>
          <a:p>
            <a:pPr algn="l" indent="0" marL="0">
              <a:lnSpc>
                <a:spcPct val="123077"/>
              </a:lnSpc>
              <a:buNone/>
            </a:pPr>
            <a:r>
              <a:rPr lang="en-US" sz="2550" dirty="0">
                <a:solidFill>
                  <a:srgbClr val="201E1D"/>
                </a:solidFill>
                <a:latin typeface="Arial" pitchFamily="34" charset="0"/>
                <a:ea typeface="Arial" pitchFamily="34" charset="-122"/>
                <a:cs typeface="Arial" pitchFamily="34" charset="-120"/>
              </a:rPr>
              <a:t>The ceremony board runs announced or automatic, and refreshing mid-ceremony cannot move a single seat.</a:t>
            </a:r>
            <a:endParaRPr lang="en-US" sz="2550" dirty="0"/>
          </a:p>
        </p:txBody>
      </p:sp>
      <p:pic>
        <p:nvPicPr>
          <p:cNvPr id="8"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02 · THE RULES</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The bracket on a wall</a:t>
            </a:r>
            <a:endParaRPr lang="en-US" sz="4800" dirty="0"/>
          </a:p>
        </p:txBody>
      </p:sp>
      <p:sp>
        <p:nvSpPr>
          <p:cNvPr id="4" name="Shape 2"/>
          <p:cNvSpPr/>
          <p:nvPr/>
        </p:nvSpPr>
        <p:spPr>
          <a:xfrm>
            <a:off x="1143000" y="3200400"/>
            <a:ext cx="9753600" cy="5486400"/>
          </a:xfrm>
          <a:prstGeom prst="rect">
            <a:avLst/>
          </a:prstGeom>
          <a:solidFill>
            <a:srgbClr val="05070A"/>
          </a:solidFill>
          <a:ln w="19050">
            <a:solidFill>
              <a:srgbClr val="201E1D">
                <a:alpha val="40000"/>
              </a:srgbClr>
            </a:solidFill>
            <a:prstDash val="solid"/>
          </a:ln>
        </p:spPr>
      </p:sp>
      <p:sp>
        <p:nvSpPr>
          <p:cNvPr id="5" name="Shape 3"/>
          <p:cNvSpPr/>
          <p:nvPr/>
        </p:nvSpPr>
        <p:spPr>
          <a:xfrm>
            <a:off x="1162050" y="3219450"/>
            <a:ext cx="9753600" cy="5486400"/>
          </a:xfrm>
          <a:prstGeom prst="rect">
            <a:avLst/>
          </a:prstGeom>
          <a:solidFill>
            <a:srgbClr val="0B1020"/>
          </a:solidFill>
          <a:ln/>
        </p:spPr>
      </p:sp>
      <p:sp>
        <p:nvSpPr>
          <p:cNvPr id="6" name="Shape 4"/>
          <p:cNvSpPr/>
          <p:nvPr/>
        </p:nvSpPr>
        <p:spPr>
          <a:xfrm>
            <a:off x="1378744" y="3767137"/>
            <a:ext cx="9320054" cy="20320"/>
          </a:xfrm>
          <a:prstGeom prst="rect">
            <a:avLst/>
          </a:prstGeom>
          <a:solidFill>
            <a:srgbClr val="2A3350"/>
          </a:solidFill>
          <a:ln/>
        </p:spPr>
      </p:sp>
      <p:sp>
        <p:nvSpPr>
          <p:cNvPr id="7" name="Shape 5"/>
          <p:cNvSpPr/>
          <p:nvPr/>
        </p:nvSpPr>
        <p:spPr>
          <a:xfrm>
            <a:off x="1378744" y="3406140"/>
            <a:ext cx="257334" cy="257334"/>
          </a:xfrm>
          <a:prstGeom prst="ellipse">
            <a:avLst/>
          </a:prstGeom>
          <a:ln w="13547">
            <a:solidFill>
              <a:srgbClr val="F2F5FF"/>
            </a:solidFill>
            <a:prstDash val="solid"/>
          </a:ln>
        </p:spPr>
      </p:sp>
      <p:sp>
        <p:nvSpPr>
          <p:cNvPr id="8" name="Text 6"/>
          <p:cNvSpPr/>
          <p:nvPr/>
        </p:nvSpPr>
        <p:spPr>
          <a:xfrm>
            <a:off x="1354190" y="3419687"/>
            <a:ext cx="306440" cy="268340"/>
          </a:xfrm>
          <a:prstGeom prst="rect">
            <a:avLst/>
          </a:prstGeom>
          <a:noFill/>
          <a:ln/>
        </p:spPr>
        <p:txBody>
          <a:bodyPr wrap="square" lIns="25400" tIns="25400" rIns="25400" bIns="25400" rtlCol="0" anchor="ctr">
            <a:normAutofit/>
          </a:bodyPr>
          <a:lstStyle/>
          <a:p>
            <a:pPr algn="ctr" indent="0" marL="0">
              <a:lnSpc>
                <a:spcPct val="114231"/>
              </a:lnSpc>
              <a:buNone/>
            </a:pPr>
            <a:r>
              <a:rPr lang="en-US" sz="587" b="1" dirty="0">
                <a:solidFill>
                  <a:srgbClr val="F2F5FF"/>
                </a:solidFill>
                <a:latin typeface="Arial" pitchFamily="34" charset="0"/>
                <a:ea typeface="Arial" pitchFamily="34" charset="-122"/>
                <a:cs typeface="Arial" pitchFamily="34" charset="-120"/>
              </a:rPr>
              <a:t>IKA</a:t>
            </a:r>
            <a:endParaRPr lang="en-US" sz="587" dirty="0"/>
          </a:p>
        </p:txBody>
      </p:sp>
      <p:sp>
        <p:nvSpPr>
          <p:cNvPr id="9" name="Text 7"/>
          <p:cNvSpPr/>
          <p:nvPr/>
        </p:nvSpPr>
        <p:spPr>
          <a:xfrm>
            <a:off x="1710690" y="3384074"/>
            <a:ext cx="2913967" cy="202724"/>
          </a:xfrm>
          <a:prstGeom prst="rect">
            <a:avLst/>
          </a:prstGeom>
          <a:noFill/>
          <a:ln/>
        </p:spPr>
        <p:txBody>
          <a:bodyPr wrap="square" lIns="25400" tIns="25400" rIns="25400" bIns="25400" rtlCol="0" anchor="t">
            <a:normAutofit/>
          </a:bodyPr>
          <a:lstStyle/>
          <a:p>
            <a:pPr algn="l" indent="0" marL="0">
              <a:lnSpc>
                <a:spcPct val="115714"/>
              </a:lnSpc>
              <a:buNone/>
            </a:pPr>
            <a:r>
              <a:rPr lang="en-US" sz="960" b="1" spc="77" kern="0" dirty="0">
                <a:solidFill>
                  <a:srgbClr val="F2F5FF"/>
                </a:solidFill>
                <a:latin typeface="Arial" pitchFamily="34" charset="0"/>
                <a:ea typeface="Arial" pitchFamily="34" charset="-122"/>
                <a:cs typeface="Arial" pitchFamily="34" charset="-120"/>
              </a:rPr>
              <a:t>INTERNATIONAL KURASH ASSOCIATION</a:t>
            </a:r>
            <a:endParaRPr lang="en-US" sz="960" dirty="0"/>
          </a:p>
        </p:txBody>
      </p:sp>
      <p:sp>
        <p:nvSpPr>
          <p:cNvPr id="10" name="Text 8"/>
          <p:cNvSpPr/>
          <p:nvPr/>
        </p:nvSpPr>
        <p:spPr>
          <a:xfrm>
            <a:off x="1710690" y="3548697"/>
            <a:ext cx="2913967" cy="175260"/>
          </a:xfrm>
          <a:prstGeom prst="rect">
            <a:avLst/>
          </a:prstGeom>
          <a:noFill/>
          <a:ln/>
        </p:spPr>
        <p:txBody>
          <a:bodyPr wrap="square" lIns="25400" tIns="25400" rIns="25400" bIns="25400" rtlCol="0" anchor="t">
            <a:normAutofit/>
          </a:bodyPr>
          <a:lstStyle/>
          <a:p>
            <a:pPr algn="l" indent="0" marL="0">
              <a:lnSpc>
                <a:spcPct val="112500"/>
              </a:lnSpc>
              <a:buNone/>
            </a:pPr>
            <a:r>
              <a:rPr lang="en-US" sz="800" dirty="0">
                <a:solidFill>
                  <a:srgbClr val="8F9EC4"/>
                </a:solidFill>
                <a:latin typeface="Arial" pitchFamily="34" charset="0"/>
                <a:ea typeface="Arial" pitchFamily="34" charset="-122"/>
                <a:cs typeface="Arial" pitchFamily="34" charset="-120"/>
              </a:rPr>
              <a:t>Asian Kurash Championship 2026 · Tashkent, Uzbekistan</a:t>
            </a:r>
            <a:endParaRPr lang="en-US" sz="800" dirty="0"/>
          </a:p>
        </p:txBody>
      </p:sp>
      <p:sp>
        <p:nvSpPr>
          <p:cNvPr id="11" name="Text 9"/>
          <p:cNvSpPr/>
          <p:nvPr/>
        </p:nvSpPr>
        <p:spPr>
          <a:xfrm>
            <a:off x="9183370" y="3382010"/>
            <a:ext cx="1667145" cy="275908"/>
          </a:xfrm>
          <a:prstGeom prst="rect">
            <a:avLst/>
          </a:prstGeom>
          <a:noFill/>
          <a:ln/>
        </p:spPr>
        <p:txBody>
          <a:bodyPr wrap="square" lIns="25400" tIns="25400" rIns="25400" bIns="25400" rtlCol="0" anchor="t">
            <a:normAutofit/>
          </a:bodyPr>
          <a:lstStyle/>
          <a:p>
            <a:pPr algn="l" indent="0" marL="0">
              <a:lnSpc>
                <a:spcPct val="117000"/>
              </a:lnSpc>
              <a:buNone/>
            </a:pPr>
            <a:r>
              <a:rPr lang="en-US" sz="1387" b="1" dirty="0">
                <a:solidFill>
                  <a:srgbClr val="F2F5FF"/>
                </a:solidFill>
                <a:latin typeface="Arial" pitchFamily="34" charset="0"/>
                <a:ea typeface="Arial" pitchFamily="34" charset="-122"/>
                <a:cs typeface="Arial" pitchFamily="34" charset="-120"/>
              </a:rPr>
              <a:t>−60 kg Senior Men</a:t>
            </a:r>
            <a:endParaRPr lang="en-US" sz="1387" dirty="0"/>
          </a:p>
        </p:txBody>
      </p:sp>
      <p:sp>
        <p:nvSpPr>
          <p:cNvPr id="12" name="Text 10"/>
          <p:cNvSpPr/>
          <p:nvPr/>
        </p:nvSpPr>
        <p:spPr>
          <a:xfrm>
            <a:off x="1378744" y="3922871"/>
            <a:ext cx="2682240" cy="166053"/>
          </a:xfrm>
          <a:prstGeom prst="rect">
            <a:avLst/>
          </a:prstGeom>
          <a:noFill/>
          <a:ln/>
        </p:spPr>
        <p:txBody>
          <a:bodyPr wrap="square" lIns="25400" tIns="25400" rIns="25400" bIns="25400" rtlCol="0" anchor="t">
            <a:normAutofit/>
          </a:bodyPr>
          <a:lstStyle/>
          <a:p>
            <a:pPr algn="l" indent="0" marL="0">
              <a:lnSpc>
                <a:spcPct val="118125"/>
              </a:lnSpc>
              <a:buNone/>
            </a:pPr>
            <a:r>
              <a:rPr lang="en-US" sz="747" b="1" spc="67" kern="0" dirty="0">
                <a:solidFill>
                  <a:srgbClr val="8F9EC4"/>
                </a:solidFill>
                <a:latin typeface="Arial" pitchFamily="34" charset="0"/>
                <a:ea typeface="Arial" pitchFamily="34" charset="-122"/>
                <a:cs typeface="Arial" pitchFamily="34" charset="-120"/>
              </a:rPr>
              <a:t>QUARTER-FINAL</a:t>
            </a:r>
            <a:endParaRPr lang="en-US" sz="747" dirty="0"/>
          </a:p>
        </p:txBody>
      </p:sp>
      <p:sp>
        <p:nvSpPr>
          <p:cNvPr id="13" name="Shape 11"/>
          <p:cNvSpPr/>
          <p:nvPr/>
        </p:nvSpPr>
        <p:spPr>
          <a:xfrm>
            <a:off x="1378744" y="4335304"/>
            <a:ext cx="2438400" cy="619125"/>
          </a:xfrm>
          <a:prstGeom prst="roundRect">
            <a:avLst>
              <a:gd name="adj" fmla="val 8752"/>
            </a:avLst>
          </a:prstGeom>
          <a:solidFill>
            <a:srgbClr val="161D33"/>
          </a:solidFill>
          <a:ln w="6773">
            <a:solidFill>
              <a:srgbClr val="2A3350"/>
            </a:solidFill>
            <a:prstDash val="solid"/>
          </a:ln>
        </p:spPr>
      </p:sp>
      <p:sp>
        <p:nvSpPr>
          <p:cNvPr id="14" name="Shape 12"/>
          <p:cNvSpPr/>
          <p:nvPr/>
        </p:nvSpPr>
        <p:spPr>
          <a:xfrm>
            <a:off x="1385570" y="4479025"/>
            <a:ext cx="2424906" cy="9525"/>
          </a:xfrm>
          <a:prstGeom prst="rect">
            <a:avLst/>
          </a:prstGeom>
          <a:solidFill>
            <a:srgbClr val="2A3350"/>
          </a:solidFill>
          <a:ln/>
        </p:spPr>
      </p:sp>
      <p:sp>
        <p:nvSpPr>
          <p:cNvPr id="15" name="Text 13"/>
          <p:cNvSpPr/>
          <p:nvPr/>
        </p:nvSpPr>
        <p:spPr>
          <a:xfrm>
            <a:off x="1460077" y="4355677"/>
            <a:ext cx="2352093" cy="147902"/>
          </a:xfrm>
          <a:prstGeom prst="rect">
            <a:avLst/>
          </a:prstGeom>
          <a:noFill/>
          <a:ln/>
        </p:spPr>
        <p:txBody>
          <a:bodyPr wrap="square" lIns="25400" tIns="25400" rIns="25400" bIns="25400" rtlCol="0" anchor="t">
            <a:normAutofit/>
          </a:bodyPr>
          <a:lstStyle/>
          <a:p>
            <a:pPr algn="l" indent="0" marL="0">
              <a:lnSpc>
                <a:spcPct val="115714"/>
              </a:lnSpc>
              <a:buNone/>
            </a:pPr>
            <a:r>
              <a:rPr lang="en-US" sz="640" b="1" spc="38" kern="0" dirty="0">
                <a:solidFill>
                  <a:srgbClr val="8F9EC4"/>
                </a:solidFill>
                <a:latin typeface="Arial" pitchFamily="34" charset="0"/>
                <a:ea typeface="Arial" pitchFamily="34" charset="-122"/>
                <a:cs typeface="Arial" pitchFamily="34" charset="-120"/>
              </a:rPr>
              <a:t>No. 12</a:t>
            </a:r>
            <a:endParaRPr lang="en-US" sz="640" dirty="0"/>
          </a:p>
        </p:txBody>
      </p:sp>
      <p:sp>
        <p:nvSpPr>
          <p:cNvPr id="16" name="Text 14"/>
          <p:cNvSpPr/>
          <p:nvPr/>
        </p:nvSpPr>
        <p:spPr>
          <a:xfrm>
            <a:off x="1460077" y="4526439"/>
            <a:ext cx="2352093" cy="184468"/>
          </a:xfrm>
          <a:prstGeom prst="rect">
            <a:avLst/>
          </a:prstGeom>
          <a:noFill/>
          <a:ln/>
        </p:spPr>
        <p:txBody>
          <a:bodyPr wrap="square" lIns="25400" tIns="25400" rIns="25400" bIns="25400" rtlCol="0" anchor="t">
            <a:normAutofit/>
          </a:bodyPr>
          <a:lstStyle/>
          <a:p>
            <a:pPr algn="l" indent="0" marL="0">
              <a:lnSpc>
                <a:spcPct val="113684"/>
              </a:lnSpc>
              <a:buNone/>
            </a:pPr>
            <a:r>
              <a:rPr lang="en-US" sz="853" b="1" dirty="0">
                <a:solidFill>
                  <a:srgbClr val="FBBF24"/>
                </a:solidFill>
                <a:latin typeface="Arial" pitchFamily="34" charset="0"/>
                <a:ea typeface="Arial" pitchFamily="34" charset="-122"/>
                <a:cs typeface="Arial" pitchFamily="34" charset="-120"/>
              </a:rPr>
              <a:t>Abdullaev, T.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UZB</a:t>
            </a:r>
            <a:endParaRPr lang="en-US" sz="853" dirty="0"/>
          </a:p>
        </p:txBody>
      </p:sp>
      <p:sp>
        <p:nvSpPr>
          <p:cNvPr id="17" name="Shape 15"/>
          <p:cNvSpPr/>
          <p:nvPr/>
        </p:nvSpPr>
        <p:spPr>
          <a:xfrm>
            <a:off x="1385570" y="4713287"/>
            <a:ext cx="2424906" cy="9525"/>
          </a:xfrm>
          <a:prstGeom prst="rect">
            <a:avLst/>
          </a:prstGeom>
          <a:solidFill>
            <a:srgbClr val="2A3350"/>
          </a:solidFill>
          <a:ln/>
        </p:spPr>
      </p:sp>
      <p:sp>
        <p:nvSpPr>
          <p:cNvPr id="18" name="Text 16"/>
          <p:cNvSpPr/>
          <p:nvPr/>
        </p:nvSpPr>
        <p:spPr>
          <a:xfrm>
            <a:off x="1460077" y="4760701"/>
            <a:ext cx="2352093" cy="184362"/>
          </a:xfrm>
          <a:prstGeom prst="rect">
            <a:avLst/>
          </a:prstGeom>
          <a:noFill/>
          <a:ln/>
        </p:spPr>
        <p:txBody>
          <a:bodyPr wrap="square" lIns="25400" tIns="25400" rIns="25400" bIns="25400" rtlCol="0" anchor="t">
            <a:normAutofit/>
          </a:bodyPr>
          <a:lstStyle/>
          <a:p>
            <a:pPr algn="l" indent="0" marL="0">
              <a:lnSpc>
                <a:spcPct val="113684"/>
              </a:lnSpc>
              <a:buNone/>
            </a:pPr>
            <a:r>
              <a:rPr lang="en-US" sz="853" dirty="0">
                <a:solidFill>
                  <a:srgbClr val="F2F5FF"/>
                </a:solidFill>
                <a:latin typeface="Arial" pitchFamily="34" charset="0"/>
                <a:ea typeface="Arial" pitchFamily="34" charset="-122"/>
                <a:cs typeface="Arial" pitchFamily="34" charset="-120"/>
              </a:rPr>
              <a:t>Serikov, D.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KAZ</a:t>
            </a:r>
            <a:endParaRPr lang="en-US" sz="853" dirty="0"/>
          </a:p>
        </p:txBody>
      </p:sp>
      <p:sp>
        <p:nvSpPr>
          <p:cNvPr id="19" name="Shape 17"/>
          <p:cNvSpPr/>
          <p:nvPr/>
        </p:nvSpPr>
        <p:spPr>
          <a:xfrm>
            <a:off x="1378744" y="5388134"/>
            <a:ext cx="2438400" cy="619125"/>
          </a:xfrm>
          <a:prstGeom prst="roundRect">
            <a:avLst>
              <a:gd name="adj" fmla="val 8752"/>
            </a:avLst>
          </a:prstGeom>
          <a:solidFill>
            <a:srgbClr val="161D33"/>
          </a:solidFill>
          <a:ln w="6773">
            <a:solidFill>
              <a:srgbClr val="2A3350"/>
            </a:solidFill>
            <a:prstDash val="solid"/>
          </a:ln>
        </p:spPr>
      </p:sp>
      <p:sp>
        <p:nvSpPr>
          <p:cNvPr id="20" name="Shape 18"/>
          <p:cNvSpPr/>
          <p:nvPr/>
        </p:nvSpPr>
        <p:spPr>
          <a:xfrm>
            <a:off x="1385570" y="5531856"/>
            <a:ext cx="2424906" cy="9525"/>
          </a:xfrm>
          <a:prstGeom prst="rect">
            <a:avLst/>
          </a:prstGeom>
          <a:solidFill>
            <a:srgbClr val="2A3350"/>
          </a:solidFill>
          <a:ln/>
        </p:spPr>
      </p:sp>
      <p:sp>
        <p:nvSpPr>
          <p:cNvPr id="21" name="Text 19"/>
          <p:cNvSpPr/>
          <p:nvPr/>
        </p:nvSpPr>
        <p:spPr>
          <a:xfrm>
            <a:off x="1460077" y="5408507"/>
            <a:ext cx="2352093" cy="147902"/>
          </a:xfrm>
          <a:prstGeom prst="rect">
            <a:avLst/>
          </a:prstGeom>
          <a:noFill/>
          <a:ln/>
        </p:spPr>
        <p:txBody>
          <a:bodyPr wrap="square" lIns="25400" tIns="25400" rIns="25400" bIns="25400" rtlCol="0" anchor="t">
            <a:normAutofit/>
          </a:bodyPr>
          <a:lstStyle/>
          <a:p>
            <a:pPr algn="l" indent="0" marL="0">
              <a:lnSpc>
                <a:spcPct val="115714"/>
              </a:lnSpc>
              <a:buNone/>
            </a:pPr>
            <a:r>
              <a:rPr lang="en-US" sz="640" b="1" spc="38" kern="0" dirty="0">
                <a:solidFill>
                  <a:srgbClr val="8F9EC4"/>
                </a:solidFill>
                <a:latin typeface="Arial" pitchFamily="34" charset="0"/>
                <a:ea typeface="Arial" pitchFamily="34" charset="-122"/>
                <a:cs typeface="Arial" pitchFamily="34" charset="-120"/>
              </a:rPr>
              <a:t>No. 13</a:t>
            </a:r>
            <a:endParaRPr lang="en-US" sz="640" dirty="0"/>
          </a:p>
        </p:txBody>
      </p:sp>
      <p:sp>
        <p:nvSpPr>
          <p:cNvPr id="22" name="Text 20"/>
          <p:cNvSpPr/>
          <p:nvPr/>
        </p:nvSpPr>
        <p:spPr>
          <a:xfrm>
            <a:off x="1460077" y="5579110"/>
            <a:ext cx="2352093" cy="184468"/>
          </a:xfrm>
          <a:prstGeom prst="rect">
            <a:avLst/>
          </a:prstGeom>
          <a:noFill/>
          <a:ln/>
        </p:spPr>
        <p:txBody>
          <a:bodyPr wrap="square" lIns="25400" tIns="25400" rIns="25400" bIns="25400" rtlCol="0" anchor="t">
            <a:normAutofit/>
          </a:bodyPr>
          <a:lstStyle/>
          <a:p>
            <a:pPr algn="l" indent="0" marL="0">
              <a:lnSpc>
                <a:spcPct val="113684"/>
              </a:lnSpc>
              <a:buNone/>
            </a:pPr>
            <a:r>
              <a:rPr lang="en-US" sz="853" dirty="0">
                <a:solidFill>
                  <a:srgbClr val="F2F5FF"/>
                </a:solidFill>
                <a:latin typeface="Arial" pitchFamily="34" charset="0"/>
                <a:ea typeface="Arial" pitchFamily="34" charset="-122"/>
                <a:cs typeface="Arial" pitchFamily="34" charset="-120"/>
              </a:rPr>
              <a:t>Rahimov, S.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TJK</a:t>
            </a:r>
            <a:endParaRPr lang="en-US" sz="853" dirty="0"/>
          </a:p>
        </p:txBody>
      </p:sp>
      <p:sp>
        <p:nvSpPr>
          <p:cNvPr id="23" name="Shape 21"/>
          <p:cNvSpPr/>
          <p:nvPr/>
        </p:nvSpPr>
        <p:spPr>
          <a:xfrm>
            <a:off x="1385570" y="5766118"/>
            <a:ext cx="2424906" cy="9525"/>
          </a:xfrm>
          <a:prstGeom prst="rect">
            <a:avLst/>
          </a:prstGeom>
          <a:solidFill>
            <a:srgbClr val="2A3350"/>
          </a:solidFill>
          <a:ln/>
        </p:spPr>
      </p:sp>
      <p:sp>
        <p:nvSpPr>
          <p:cNvPr id="24" name="Text 22"/>
          <p:cNvSpPr/>
          <p:nvPr/>
        </p:nvSpPr>
        <p:spPr>
          <a:xfrm>
            <a:off x="1460077" y="5813531"/>
            <a:ext cx="2352093" cy="184362"/>
          </a:xfrm>
          <a:prstGeom prst="rect">
            <a:avLst/>
          </a:prstGeom>
          <a:noFill/>
          <a:ln/>
        </p:spPr>
        <p:txBody>
          <a:bodyPr wrap="square" lIns="25400" tIns="25400" rIns="25400" bIns="25400" rtlCol="0" anchor="t">
            <a:normAutofit/>
          </a:bodyPr>
          <a:lstStyle/>
          <a:p>
            <a:pPr algn="l" indent="0" marL="0">
              <a:lnSpc>
                <a:spcPct val="113684"/>
              </a:lnSpc>
              <a:buNone/>
            </a:pPr>
            <a:r>
              <a:rPr lang="en-US" sz="853" b="1" dirty="0">
                <a:solidFill>
                  <a:srgbClr val="FBBF24"/>
                </a:solidFill>
                <a:latin typeface="Arial" pitchFamily="34" charset="0"/>
                <a:ea typeface="Arial" pitchFamily="34" charset="-122"/>
                <a:cs typeface="Arial" pitchFamily="34" charset="-120"/>
              </a:rPr>
              <a:t>Choi, J.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KOR</a:t>
            </a:r>
            <a:endParaRPr lang="en-US" sz="853" dirty="0"/>
          </a:p>
        </p:txBody>
      </p:sp>
      <p:sp>
        <p:nvSpPr>
          <p:cNvPr id="25" name="Shape 23"/>
          <p:cNvSpPr/>
          <p:nvPr/>
        </p:nvSpPr>
        <p:spPr>
          <a:xfrm>
            <a:off x="1378744" y="6440805"/>
            <a:ext cx="2438400" cy="619125"/>
          </a:xfrm>
          <a:prstGeom prst="roundRect">
            <a:avLst>
              <a:gd name="adj" fmla="val 8752"/>
            </a:avLst>
          </a:prstGeom>
          <a:solidFill>
            <a:srgbClr val="161D33"/>
          </a:solidFill>
          <a:ln w="6773">
            <a:solidFill>
              <a:srgbClr val="2A3350"/>
            </a:solidFill>
            <a:prstDash val="solid"/>
          </a:ln>
        </p:spPr>
      </p:sp>
      <p:sp>
        <p:nvSpPr>
          <p:cNvPr id="26" name="Shape 24"/>
          <p:cNvSpPr/>
          <p:nvPr/>
        </p:nvSpPr>
        <p:spPr>
          <a:xfrm>
            <a:off x="1385570" y="6584527"/>
            <a:ext cx="2424906" cy="9525"/>
          </a:xfrm>
          <a:prstGeom prst="rect">
            <a:avLst/>
          </a:prstGeom>
          <a:solidFill>
            <a:srgbClr val="2A3350"/>
          </a:solidFill>
          <a:ln/>
        </p:spPr>
      </p:sp>
      <p:sp>
        <p:nvSpPr>
          <p:cNvPr id="27" name="Text 25"/>
          <p:cNvSpPr/>
          <p:nvPr/>
        </p:nvSpPr>
        <p:spPr>
          <a:xfrm>
            <a:off x="1460077" y="6461178"/>
            <a:ext cx="2352093" cy="147902"/>
          </a:xfrm>
          <a:prstGeom prst="rect">
            <a:avLst/>
          </a:prstGeom>
          <a:noFill/>
          <a:ln/>
        </p:spPr>
        <p:txBody>
          <a:bodyPr wrap="square" lIns="25400" tIns="25400" rIns="25400" bIns="25400" rtlCol="0" anchor="t">
            <a:normAutofit/>
          </a:bodyPr>
          <a:lstStyle/>
          <a:p>
            <a:pPr algn="l" indent="0" marL="0">
              <a:lnSpc>
                <a:spcPct val="115714"/>
              </a:lnSpc>
              <a:buNone/>
            </a:pPr>
            <a:r>
              <a:rPr lang="en-US" sz="640" b="1" spc="38" kern="0" dirty="0">
                <a:solidFill>
                  <a:srgbClr val="8F9EC4"/>
                </a:solidFill>
                <a:latin typeface="Arial" pitchFamily="34" charset="0"/>
                <a:ea typeface="Arial" pitchFamily="34" charset="-122"/>
                <a:cs typeface="Arial" pitchFamily="34" charset="-120"/>
              </a:rPr>
              <a:t>No. 14</a:t>
            </a:r>
            <a:endParaRPr lang="en-US" sz="640" dirty="0"/>
          </a:p>
        </p:txBody>
      </p:sp>
      <p:sp>
        <p:nvSpPr>
          <p:cNvPr id="28" name="Text 26"/>
          <p:cNvSpPr/>
          <p:nvPr/>
        </p:nvSpPr>
        <p:spPr>
          <a:xfrm>
            <a:off x="1460077" y="6631781"/>
            <a:ext cx="2352093" cy="184467"/>
          </a:xfrm>
          <a:prstGeom prst="rect">
            <a:avLst/>
          </a:prstGeom>
          <a:noFill/>
          <a:ln/>
        </p:spPr>
        <p:txBody>
          <a:bodyPr wrap="square" lIns="25400" tIns="25400" rIns="25400" bIns="25400" rtlCol="0" anchor="t">
            <a:normAutofit/>
          </a:bodyPr>
          <a:lstStyle/>
          <a:p>
            <a:pPr algn="l" indent="0" marL="0">
              <a:lnSpc>
                <a:spcPct val="113684"/>
              </a:lnSpc>
              <a:buNone/>
            </a:pPr>
            <a:r>
              <a:rPr lang="en-US" sz="853" b="1" dirty="0">
                <a:solidFill>
                  <a:srgbClr val="FBBF24"/>
                </a:solidFill>
                <a:latin typeface="Arial" pitchFamily="34" charset="0"/>
                <a:ea typeface="Arial" pitchFamily="34" charset="-122"/>
                <a:cs typeface="Arial" pitchFamily="34" charset="-120"/>
              </a:rPr>
              <a:t>Kadyrov, A.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KGZ</a:t>
            </a:r>
            <a:endParaRPr lang="en-US" sz="853" dirty="0"/>
          </a:p>
        </p:txBody>
      </p:sp>
      <p:sp>
        <p:nvSpPr>
          <p:cNvPr id="29" name="Shape 27"/>
          <p:cNvSpPr/>
          <p:nvPr/>
        </p:nvSpPr>
        <p:spPr>
          <a:xfrm>
            <a:off x="1385570" y="6818788"/>
            <a:ext cx="2424906" cy="9525"/>
          </a:xfrm>
          <a:prstGeom prst="rect">
            <a:avLst/>
          </a:prstGeom>
          <a:solidFill>
            <a:srgbClr val="2A3350"/>
          </a:solidFill>
          <a:ln/>
        </p:spPr>
      </p:sp>
      <p:sp>
        <p:nvSpPr>
          <p:cNvPr id="30" name="Text 28"/>
          <p:cNvSpPr/>
          <p:nvPr/>
        </p:nvSpPr>
        <p:spPr>
          <a:xfrm>
            <a:off x="1460077" y="6866202"/>
            <a:ext cx="2352093" cy="184362"/>
          </a:xfrm>
          <a:prstGeom prst="rect">
            <a:avLst/>
          </a:prstGeom>
          <a:noFill/>
          <a:ln/>
        </p:spPr>
        <p:txBody>
          <a:bodyPr wrap="square" lIns="25400" tIns="25400" rIns="25400" bIns="25400" rtlCol="0" anchor="t">
            <a:normAutofit/>
          </a:bodyPr>
          <a:lstStyle/>
          <a:p>
            <a:pPr algn="l" indent="0" marL="0">
              <a:lnSpc>
                <a:spcPct val="113684"/>
              </a:lnSpc>
              <a:buNone/>
            </a:pPr>
            <a:r>
              <a:rPr lang="en-US" sz="853" dirty="0">
                <a:solidFill>
                  <a:srgbClr val="F2F5FF"/>
                </a:solidFill>
                <a:latin typeface="Arial" pitchFamily="34" charset="0"/>
                <a:ea typeface="Arial" pitchFamily="34" charset="-122"/>
                <a:cs typeface="Arial" pitchFamily="34" charset="-120"/>
              </a:rPr>
              <a:t>Nazarov, B.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TKM</a:t>
            </a:r>
            <a:endParaRPr lang="en-US" sz="853" dirty="0"/>
          </a:p>
        </p:txBody>
      </p:sp>
      <p:sp>
        <p:nvSpPr>
          <p:cNvPr id="31" name="Shape 29"/>
          <p:cNvSpPr/>
          <p:nvPr/>
        </p:nvSpPr>
        <p:spPr>
          <a:xfrm>
            <a:off x="1378744" y="7493635"/>
            <a:ext cx="2438400" cy="619125"/>
          </a:xfrm>
          <a:prstGeom prst="roundRect">
            <a:avLst>
              <a:gd name="adj" fmla="val 8752"/>
            </a:avLst>
          </a:prstGeom>
          <a:solidFill>
            <a:srgbClr val="161D33"/>
          </a:solidFill>
          <a:ln w="6773">
            <a:solidFill>
              <a:srgbClr val="2A3350"/>
            </a:solidFill>
            <a:prstDash val="solid"/>
          </a:ln>
        </p:spPr>
      </p:sp>
      <p:sp>
        <p:nvSpPr>
          <p:cNvPr id="32" name="Shape 30"/>
          <p:cNvSpPr/>
          <p:nvPr/>
        </p:nvSpPr>
        <p:spPr>
          <a:xfrm>
            <a:off x="1385570" y="7637357"/>
            <a:ext cx="2424906" cy="9525"/>
          </a:xfrm>
          <a:prstGeom prst="rect">
            <a:avLst/>
          </a:prstGeom>
          <a:solidFill>
            <a:srgbClr val="2A3350"/>
          </a:solidFill>
          <a:ln/>
        </p:spPr>
      </p:sp>
      <p:sp>
        <p:nvSpPr>
          <p:cNvPr id="33" name="Text 31"/>
          <p:cNvSpPr/>
          <p:nvPr/>
        </p:nvSpPr>
        <p:spPr>
          <a:xfrm>
            <a:off x="1460077" y="7514008"/>
            <a:ext cx="2352093" cy="147902"/>
          </a:xfrm>
          <a:prstGeom prst="rect">
            <a:avLst/>
          </a:prstGeom>
          <a:noFill/>
          <a:ln/>
        </p:spPr>
        <p:txBody>
          <a:bodyPr wrap="square" lIns="25400" tIns="25400" rIns="25400" bIns="25400" rtlCol="0" anchor="t">
            <a:normAutofit/>
          </a:bodyPr>
          <a:lstStyle/>
          <a:p>
            <a:pPr algn="l" indent="0" marL="0">
              <a:lnSpc>
                <a:spcPct val="115714"/>
              </a:lnSpc>
              <a:buNone/>
            </a:pPr>
            <a:r>
              <a:rPr lang="en-US" sz="640" b="1" spc="38" kern="0" dirty="0">
                <a:solidFill>
                  <a:srgbClr val="8F9EC4"/>
                </a:solidFill>
                <a:latin typeface="Arial" pitchFamily="34" charset="0"/>
                <a:ea typeface="Arial" pitchFamily="34" charset="-122"/>
                <a:cs typeface="Arial" pitchFamily="34" charset="-120"/>
              </a:rPr>
              <a:t>No. 15</a:t>
            </a:r>
            <a:endParaRPr lang="en-US" sz="640" dirty="0"/>
          </a:p>
        </p:txBody>
      </p:sp>
      <p:sp>
        <p:nvSpPr>
          <p:cNvPr id="34" name="Text 32"/>
          <p:cNvSpPr/>
          <p:nvPr/>
        </p:nvSpPr>
        <p:spPr>
          <a:xfrm>
            <a:off x="1460077" y="7684611"/>
            <a:ext cx="2352093" cy="184468"/>
          </a:xfrm>
          <a:prstGeom prst="rect">
            <a:avLst/>
          </a:prstGeom>
          <a:noFill/>
          <a:ln/>
        </p:spPr>
        <p:txBody>
          <a:bodyPr wrap="square" lIns="25400" tIns="25400" rIns="25400" bIns="25400" rtlCol="0" anchor="t">
            <a:normAutofit/>
          </a:bodyPr>
          <a:lstStyle/>
          <a:p>
            <a:pPr algn="l" indent="0" marL="0">
              <a:lnSpc>
                <a:spcPct val="113684"/>
              </a:lnSpc>
              <a:buNone/>
            </a:pPr>
            <a:r>
              <a:rPr lang="en-US" sz="853" dirty="0">
                <a:solidFill>
                  <a:srgbClr val="F2F5FF"/>
                </a:solidFill>
                <a:latin typeface="Arial" pitchFamily="34" charset="0"/>
                <a:ea typeface="Arial" pitchFamily="34" charset="-122"/>
                <a:cs typeface="Arial" pitchFamily="34" charset="-120"/>
              </a:rPr>
              <a:t>Hassan, M.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IRI</a:t>
            </a:r>
            <a:endParaRPr lang="en-US" sz="853" dirty="0"/>
          </a:p>
        </p:txBody>
      </p:sp>
      <p:sp>
        <p:nvSpPr>
          <p:cNvPr id="35" name="Shape 33"/>
          <p:cNvSpPr/>
          <p:nvPr/>
        </p:nvSpPr>
        <p:spPr>
          <a:xfrm>
            <a:off x="1385570" y="7871619"/>
            <a:ext cx="2424906" cy="9525"/>
          </a:xfrm>
          <a:prstGeom prst="rect">
            <a:avLst/>
          </a:prstGeom>
          <a:solidFill>
            <a:srgbClr val="2A3350"/>
          </a:solidFill>
          <a:ln/>
        </p:spPr>
      </p:sp>
      <p:sp>
        <p:nvSpPr>
          <p:cNvPr id="36" name="Text 34"/>
          <p:cNvSpPr/>
          <p:nvPr/>
        </p:nvSpPr>
        <p:spPr>
          <a:xfrm>
            <a:off x="1460077" y="7919032"/>
            <a:ext cx="2352093" cy="184362"/>
          </a:xfrm>
          <a:prstGeom prst="rect">
            <a:avLst/>
          </a:prstGeom>
          <a:noFill/>
          <a:ln/>
        </p:spPr>
        <p:txBody>
          <a:bodyPr wrap="square" lIns="25400" tIns="25400" rIns="25400" bIns="25400" rtlCol="0" anchor="t">
            <a:normAutofit/>
          </a:bodyPr>
          <a:lstStyle/>
          <a:p>
            <a:pPr algn="l" indent="0" marL="0">
              <a:lnSpc>
                <a:spcPct val="113684"/>
              </a:lnSpc>
              <a:buNone/>
            </a:pPr>
            <a:r>
              <a:rPr lang="en-US" sz="853" b="1" dirty="0">
                <a:solidFill>
                  <a:srgbClr val="FBBF24"/>
                </a:solidFill>
                <a:latin typeface="Arial" pitchFamily="34" charset="0"/>
                <a:ea typeface="Arial" pitchFamily="34" charset="-122"/>
                <a:cs typeface="Arial" pitchFamily="34" charset="-120"/>
              </a:rPr>
              <a:t>Yusupov, R.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UZB</a:t>
            </a:r>
            <a:endParaRPr lang="en-US" sz="853" dirty="0"/>
          </a:p>
        </p:txBody>
      </p:sp>
      <p:sp>
        <p:nvSpPr>
          <p:cNvPr id="37" name="Text 35"/>
          <p:cNvSpPr/>
          <p:nvPr/>
        </p:nvSpPr>
        <p:spPr>
          <a:xfrm>
            <a:off x="4033996" y="3922871"/>
            <a:ext cx="2682240" cy="166053"/>
          </a:xfrm>
          <a:prstGeom prst="rect">
            <a:avLst/>
          </a:prstGeom>
          <a:noFill/>
          <a:ln/>
        </p:spPr>
        <p:txBody>
          <a:bodyPr wrap="square" lIns="25400" tIns="25400" rIns="25400" bIns="25400" rtlCol="0" anchor="t">
            <a:normAutofit/>
          </a:bodyPr>
          <a:lstStyle/>
          <a:p>
            <a:pPr algn="l" indent="0" marL="0">
              <a:lnSpc>
                <a:spcPct val="118125"/>
              </a:lnSpc>
              <a:buNone/>
            </a:pPr>
            <a:r>
              <a:rPr lang="en-US" sz="747" b="1" spc="67" kern="0" dirty="0">
                <a:solidFill>
                  <a:srgbClr val="8F9EC4"/>
                </a:solidFill>
                <a:latin typeface="Arial" pitchFamily="34" charset="0"/>
                <a:ea typeface="Arial" pitchFamily="34" charset="-122"/>
                <a:cs typeface="Arial" pitchFamily="34" charset="-120"/>
              </a:rPr>
              <a:t>SEMI-FINAL</a:t>
            </a:r>
            <a:endParaRPr lang="en-US" sz="747" dirty="0"/>
          </a:p>
        </p:txBody>
      </p:sp>
      <p:sp>
        <p:nvSpPr>
          <p:cNvPr id="38" name="Shape 36"/>
          <p:cNvSpPr/>
          <p:nvPr/>
        </p:nvSpPr>
        <p:spPr>
          <a:xfrm>
            <a:off x="4033996" y="4861719"/>
            <a:ext cx="2438400" cy="619125"/>
          </a:xfrm>
          <a:prstGeom prst="roundRect">
            <a:avLst>
              <a:gd name="adj" fmla="val 8752"/>
            </a:avLst>
          </a:prstGeom>
          <a:solidFill>
            <a:srgbClr val="161D33"/>
          </a:solidFill>
          <a:ln w="6773">
            <a:solidFill>
              <a:srgbClr val="2A3350"/>
            </a:solidFill>
            <a:prstDash val="solid"/>
          </a:ln>
        </p:spPr>
      </p:sp>
      <p:sp>
        <p:nvSpPr>
          <p:cNvPr id="39" name="Shape 37"/>
          <p:cNvSpPr/>
          <p:nvPr/>
        </p:nvSpPr>
        <p:spPr>
          <a:xfrm>
            <a:off x="4040664" y="5005440"/>
            <a:ext cx="2424906" cy="9525"/>
          </a:xfrm>
          <a:prstGeom prst="rect">
            <a:avLst/>
          </a:prstGeom>
          <a:solidFill>
            <a:srgbClr val="2A3350"/>
          </a:solidFill>
          <a:ln/>
        </p:spPr>
      </p:sp>
      <p:sp>
        <p:nvSpPr>
          <p:cNvPr id="40" name="Text 38"/>
          <p:cNvSpPr/>
          <p:nvPr/>
        </p:nvSpPr>
        <p:spPr>
          <a:xfrm>
            <a:off x="4115170" y="4882092"/>
            <a:ext cx="2352093" cy="147902"/>
          </a:xfrm>
          <a:prstGeom prst="rect">
            <a:avLst/>
          </a:prstGeom>
          <a:noFill/>
          <a:ln/>
        </p:spPr>
        <p:txBody>
          <a:bodyPr wrap="square" lIns="25400" tIns="25400" rIns="25400" bIns="25400" rtlCol="0" anchor="t">
            <a:normAutofit/>
          </a:bodyPr>
          <a:lstStyle/>
          <a:p>
            <a:pPr algn="l" indent="0" marL="0">
              <a:lnSpc>
                <a:spcPct val="115714"/>
              </a:lnSpc>
              <a:buNone/>
            </a:pPr>
            <a:r>
              <a:rPr lang="en-US" sz="640" b="1" spc="38" kern="0" dirty="0">
                <a:solidFill>
                  <a:srgbClr val="8F9EC4"/>
                </a:solidFill>
                <a:latin typeface="Arial" pitchFamily="34" charset="0"/>
                <a:ea typeface="Arial" pitchFamily="34" charset="-122"/>
                <a:cs typeface="Arial" pitchFamily="34" charset="-120"/>
              </a:rPr>
              <a:t>No. 28</a:t>
            </a:r>
            <a:endParaRPr lang="en-US" sz="640" dirty="0"/>
          </a:p>
        </p:txBody>
      </p:sp>
      <p:sp>
        <p:nvSpPr>
          <p:cNvPr id="41" name="Text 39"/>
          <p:cNvSpPr/>
          <p:nvPr/>
        </p:nvSpPr>
        <p:spPr>
          <a:xfrm>
            <a:off x="4115170" y="5052695"/>
            <a:ext cx="2352093" cy="184468"/>
          </a:xfrm>
          <a:prstGeom prst="rect">
            <a:avLst/>
          </a:prstGeom>
          <a:noFill/>
          <a:ln/>
        </p:spPr>
        <p:txBody>
          <a:bodyPr wrap="square" lIns="25400" tIns="25400" rIns="25400" bIns="25400" rtlCol="0" anchor="t">
            <a:normAutofit/>
          </a:bodyPr>
          <a:lstStyle/>
          <a:p>
            <a:pPr algn="l" indent="0" marL="0">
              <a:lnSpc>
                <a:spcPct val="113684"/>
              </a:lnSpc>
              <a:buNone/>
            </a:pPr>
            <a:r>
              <a:rPr lang="en-US" sz="853" b="1" dirty="0">
                <a:solidFill>
                  <a:srgbClr val="FBBF24"/>
                </a:solidFill>
                <a:latin typeface="Arial" pitchFamily="34" charset="0"/>
                <a:ea typeface="Arial" pitchFamily="34" charset="-122"/>
                <a:cs typeface="Arial" pitchFamily="34" charset="-120"/>
              </a:rPr>
              <a:t>Abdullaev, T.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UZB</a:t>
            </a:r>
            <a:endParaRPr lang="en-US" sz="853" dirty="0"/>
          </a:p>
        </p:txBody>
      </p:sp>
      <p:sp>
        <p:nvSpPr>
          <p:cNvPr id="42" name="Shape 40"/>
          <p:cNvSpPr/>
          <p:nvPr/>
        </p:nvSpPr>
        <p:spPr>
          <a:xfrm>
            <a:off x="4040664" y="5239702"/>
            <a:ext cx="2424906" cy="9525"/>
          </a:xfrm>
          <a:prstGeom prst="rect">
            <a:avLst/>
          </a:prstGeom>
          <a:solidFill>
            <a:srgbClr val="2A3350"/>
          </a:solidFill>
          <a:ln/>
        </p:spPr>
      </p:sp>
      <p:sp>
        <p:nvSpPr>
          <p:cNvPr id="43" name="Text 41"/>
          <p:cNvSpPr/>
          <p:nvPr/>
        </p:nvSpPr>
        <p:spPr>
          <a:xfrm>
            <a:off x="4115170" y="5287116"/>
            <a:ext cx="2352093" cy="184362"/>
          </a:xfrm>
          <a:prstGeom prst="rect">
            <a:avLst/>
          </a:prstGeom>
          <a:noFill/>
          <a:ln/>
        </p:spPr>
        <p:txBody>
          <a:bodyPr wrap="square" lIns="25400" tIns="25400" rIns="25400" bIns="25400" rtlCol="0" anchor="t">
            <a:normAutofit/>
          </a:bodyPr>
          <a:lstStyle/>
          <a:p>
            <a:pPr algn="l" indent="0" marL="0">
              <a:lnSpc>
                <a:spcPct val="113684"/>
              </a:lnSpc>
              <a:buNone/>
            </a:pPr>
            <a:r>
              <a:rPr lang="en-US" sz="853" dirty="0">
                <a:solidFill>
                  <a:srgbClr val="F2F5FF"/>
                </a:solidFill>
                <a:latin typeface="Arial" pitchFamily="34" charset="0"/>
                <a:ea typeface="Arial" pitchFamily="34" charset="-122"/>
                <a:cs typeface="Arial" pitchFamily="34" charset="-120"/>
              </a:rPr>
              <a:t>Choi, J.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KOR</a:t>
            </a:r>
            <a:endParaRPr lang="en-US" sz="853" dirty="0"/>
          </a:p>
        </p:txBody>
      </p:sp>
      <p:sp>
        <p:nvSpPr>
          <p:cNvPr id="44" name="Shape 42"/>
          <p:cNvSpPr/>
          <p:nvPr/>
        </p:nvSpPr>
        <p:spPr>
          <a:xfrm>
            <a:off x="4033996" y="6967220"/>
            <a:ext cx="2438400" cy="619125"/>
          </a:xfrm>
          <a:prstGeom prst="roundRect">
            <a:avLst>
              <a:gd name="adj" fmla="val 8752"/>
            </a:avLst>
          </a:prstGeom>
          <a:solidFill>
            <a:srgbClr val="161D33"/>
          </a:solidFill>
          <a:ln w="6773">
            <a:solidFill>
              <a:srgbClr val="2A3350"/>
            </a:solidFill>
            <a:prstDash val="solid"/>
          </a:ln>
        </p:spPr>
      </p:sp>
      <p:sp>
        <p:nvSpPr>
          <p:cNvPr id="45" name="Shape 43"/>
          <p:cNvSpPr/>
          <p:nvPr/>
        </p:nvSpPr>
        <p:spPr>
          <a:xfrm>
            <a:off x="4040664" y="7110942"/>
            <a:ext cx="2424906" cy="9525"/>
          </a:xfrm>
          <a:prstGeom prst="rect">
            <a:avLst/>
          </a:prstGeom>
          <a:solidFill>
            <a:srgbClr val="2A3350"/>
          </a:solidFill>
          <a:ln/>
        </p:spPr>
      </p:sp>
      <p:sp>
        <p:nvSpPr>
          <p:cNvPr id="46" name="Text 44"/>
          <p:cNvSpPr/>
          <p:nvPr/>
        </p:nvSpPr>
        <p:spPr>
          <a:xfrm>
            <a:off x="4115170" y="6987593"/>
            <a:ext cx="2352093" cy="147902"/>
          </a:xfrm>
          <a:prstGeom prst="rect">
            <a:avLst/>
          </a:prstGeom>
          <a:noFill/>
          <a:ln/>
        </p:spPr>
        <p:txBody>
          <a:bodyPr wrap="square" lIns="25400" tIns="25400" rIns="25400" bIns="25400" rtlCol="0" anchor="t">
            <a:normAutofit/>
          </a:bodyPr>
          <a:lstStyle/>
          <a:p>
            <a:pPr algn="l" indent="0" marL="0">
              <a:lnSpc>
                <a:spcPct val="115714"/>
              </a:lnSpc>
              <a:buNone/>
            </a:pPr>
            <a:r>
              <a:rPr lang="en-US" sz="640" b="1" spc="38" kern="0" dirty="0">
                <a:solidFill>
                  <a:srgbClr val="8F9EC4"/>
                </a:solidFill>
                <a:latin typeface="Arial" pitchFamily="34" charset="0"/>
                <a:ea typeface="Arial" pitchFamily="34" charset="-122"/>
                <a:cs typeface="Arial" pitchFamily="34" charset="-120"/>
              </a:rPr>
              <a:t>No. 29</a:t>
            </a:r>
            <a:endParaRPr lang="en-US" sz="640" dirty="0"/>
          </a:p>
        </p:txBody>
      </p:sp>
      <p:sp>
        <p:nvSpPr>
          <p:cNvPr id="47" name="Text 45"/>
          <p:cNvSpPr/>
          <p:nvPr/>
        </p:nvSpPr>
        <p:spPr>
          <a:xfrm>
            <a:off x="4115170" y="7158196"/>
            <a:ext cx="2352093" cy="184467"/>
          </a:xfrm>
          <a:prstGeom prst="rect">
            <a:avLst/>
          </a:prstGeom>
          <a:noFill/>
          <a:ln/>
        </p:spPr>
        <p:txBody>
          <a:bodyPr wrap="square" lIns="25400" tIns="25400" rIns="25400" bIns="25400" rtlCol="0" anchor="t">
            <a:normAutofit/>
          </a:bodyPr>
          <a:lstStyle/>
          <a:p>
            <a:pPr algn="l" indent="0" marL="0">
              <a:lnSpc>
                <a:spcPct val="113684"/>
              </a:lnSpc>
              <a:buNone/>
            </a:pPr>
            <a:r>
              <a:rPr lang="en-US" sz="853" dirty="0">
                <a:solidFill>
                  <a:srgbClr val="8F9EC4"/>
                </a:solidFill>
                <a:latin typeface="Arial" pitchFamily="34" charset="0"/>
                <a:ea typeface="Arial" pitchFamily="34" charset="-122"/>
                <a:cs typeface="Arial" pitchFamily="34" charset="-120"/>
              </a:rPr>
              <a:t>Kadyrov, A.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KGZ</a:t>
            </a:r>
            <a:endParaRPr lang="en-US" sz="853" dirty="0"/>
          </a:p>
        </p:txBody>
      </p:sp>
      <p:sp>
        <p:nvSpPr>
          <p:cNvPr id="48" name="Shape 46"/>
          <p:cNvSpPr/>
          <p:nvPr/>
        </p:nvSpPr>
        <p:spPr>
          <a:xfrm>
            <a:off x="4040664" y="7345204"/>
            <a:ext cx="2424906" cy="9525"/>
          </a:xfrm>
          <a:prstGeom prst="rect">
            <a:avLst/>
          </a:prstGeom>
          <a:solidFill>
            <a:srgbClr val="2A3350"/>
          </a:solidFill>
          <a:ln/>
        </p:spPr>
      </p:sp>
      <p:sp>
        <p:nvSpPr>
          <p:cNvPr id="49" name="Text 47"/>
          <p:cNvSpPr/>
          <p:nvPr/>
        </p:nvSpPr>
        <p:spPr>
          <a:xfrm>
            <a:off x="4115170" y="7392617"/>
            <a:ext cx="2352093" cy="184362"/>
          </a:xfrm>
          <a:prstGeom prst="rect">
            <a:avLst/>
          </a:prstGeom>
          <a:noFill/>
          <a:ln/>
        </p:spPr>
        <p:txBody>
          <a:bodyPr wrap="square" lIns="25400" tIns="25400" rIns="25400" bIns="25400" rtlCol="0" anchor="t">
            <a:normAutofit/>
          </a:bodyPr>
          <a:lstStyle/>
          <a:p>
            <a:pPr algn="l" indent="0" marL="0">
              <a:lnSpc>
                <a:spcPct val="113684"/>
              </a:lnSpc>
              <a:buNone/>
            </a:pPr>
            <a:r>
              <a:rPr lang="en-US" sz="853" dirty="0">
                <a:solidFill>
                  <a:srgbClr val="8F9EC4"/>
                </a:solidFill>
                <a:latin typeface="Arial" pitchFamily="34" charset="0"/>
                <a:ea typeface="Arial" pitchFamily="34" charset="-122"/>
                <a:cs typeface="Arial" pitchFamily="34" charset="-120"/>
              </a:rPr>
              <a:t>Yusupov, R.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UZB</a:t>
            </a:r>
            <a:endParaRPr lang="en-US" sz="853" dirty="0"/>
          </a:p>
        </p:txBody>
      </p:sp>
      <p:sp>
        <p:nvSpPr>
          <p:cNvPr id="50" name="Text 48"/>
          <p:cNvSpPr/>
          <p:nvPr/>
        </p:nvSpPr>
        <p:spPr>
          <a:xfrm>
            <a:off x="6689090" y="3922871"/>
            <a:ext cx="2682240" cy="166053"/>
          </a:xfrm>
          <a:prstGeom prst="rect">
            <a:avLst/>
          </a:prstGeom>
          <a:noFill/>
          <a:ln/>
        </p:spPr>
        <p:txBody>
          <a:bodyPr wrap="square" lIns="25400" tIns="25400" rIns="25400" bIns="25400" rtlCol="0" anchor="t">
            <a:normAutofit/>
          </a:bodyPr>
          <a:lstStyle/>
          <a:p>
            <a:pPr algn="l" indent="0" marL="0">
              <a:lnSpc>
                <a:spcPct val="118125"/>
              </a:lnSpc>
              <a:buNone/>
            </a:pPr>
            <a:r>
              <a:rPr lang="en-US" sz="747" b="1" spc="67" kern="0" dirty="0">
                <a:solidFill>
                  <a:srgbClr val="8F9EC4"/>
                </a:solidFill>
                <a:latin typeface="Arial" pitchFamily="34" charset="0"/>
                <a:ea typeface="Arial" pitchFamily="34" charset="-122"/>
                <a:cs typeface="Arial" pitchFamily="34" charset="-120"/>
              </a:rPr>
              <a:t>FINAL</a:t>
            </a:r>
            <a:endParaRPr lang="en-US" sz="747" dirty="0"/>
          </a:p>
        </p:txBody>
      </p:sp>
      <p:sp>
        <p:nvSpPr>
          <p:cNvPr id="51" name="Shape 49"/>
          <p:cNvSpPr/>
          <p:nvPr/>
        </p:nvSpPr>
        <p:spPr>
          <a:xfrm>
            <a:off x="6689090" y="5914549"/>
            <a:ext cx="2438400" cy="619125"/>
          </a:xfrm>
          <a:prstGeom prst="roundRect">
            <a:avLst>
              <a:gd name="adj" fmla="val 8752"/>
            </a:avLst>
          </a:prstGeom>
          <a:solidFill>
            <a:srgbClr val="161D33"/>
          </a:solidFill>
          <a:ln w="6773">
            <a:solidFill>
              <a:srgbClr val="2A3350"/>
            </a:solidFill>
            <a:prstDash val="solid"/>
          </a:ln>
        </p:spPr>
      </p:sp>
      <p:sp>
        <p:nvSpPr>
          <p:cNvPr id="52" name="Shape 50"/>
          <p:cNvSpPr/>
          <p:nvPr/>
        </p:nvSpPr>
        <p:spPr>
          <a:xfrm>
            <a:off x="6695916" y="6058271"/>
            <a:ext cx="2424906" cy="9525"/>
          </a:xfrm>
          <a:prstGeom prst="rect">
            <a:avLst/>
          </a:prstGeom>
          <a:solidFill>
            <a:srgbClr val="2A3350"/>
          </a:solidFill>
          <a:ln/>
        </p:spPr>
      </p:sp>
      <p:sp>
        <p:nvSpPr>
          <p:cNvPr id="53" name="Text 51"/>
          <p:cNvSpPr/>
          <p:nvPr/>
        </p:nvSpPr>
        <p:spPr>
          <a:xfrm>
            <a:off x="6770423" y="5934922"/>
            <a:ext cx="2352093" cy="147902"/>
          </a:xfrm>
          <a:prstGeom prst="rect">
            <a:avLst/>
          </a:prstGeom>
          <a:noFill/>
          <a:ln/>
        </p:spPr>
        <p:txBody>
          <a:bodyPr wrap="square" lIns="25400" tIns="25400" rIns="25400" bIns="25400" rtlCol="0" anchor="t">
            <a:normAutofit/>
          </a:bodyPr>
          <a:lstStyle/>
          <a:p>
            <a:pPr algn="l" indent="0" marL="0">
              <a:lnSpc>
                <a:spcPct val="115714"/>
              </a:lnSpc>
              <a:buNone/>
            </a:pPr>
            <a:r>
              <a:rPr lang="en-US" sz="640" b="1" spc="38" kern="0" dirty="0">
                <a:solidFill>
                  <a:srgbClr val="8F9EC4"/>
                </a:solidFill>
                <a:latin typeface="Arial" pitchFamily="34" charset="0"/>
                <a:ea typeface="Arial" pitchFamily="34" charset="-122"/>
                <a:cs typeface="Arial" pitchFamily="34" charset="-120"/>
              </a:rPr>
              <a:t>No. 34</a:t>
            </a:r>
            <a:endParaRPr lang="en-US" sz="640" dirty="0"/>
          </a:p>
        </p:txBody>
      </p:sp>
      <p:sp>
        <p:nvSpPr>
          <p:cNvPr id="54" name="Text 52"/>
          <p:cNvSpPr/>
          <p:nvPr/>
        </p:nvSpPr>
        <p:spPr>
          <a:xfrm>
            <a:off x="6770423" y="6105525"/>
            <a:ext cx="2352093" cy="184467"/>
          </a:xfrm>
          <a:prstGeom prst="rect">
            <a:avLst/>
          </a:prstGeom>
          <a:noFill/>
          <a:ln/>
        </p:spPr>
        <p:txBody>
          <a:bodyPr wrap="square" lIns="25400" tIns="25400" rIns="25400" bIns="25400" rtlCol="0" anchor="t">
            <a:normAutofit/>
          </a:bodyPr>
          <a:lstStyle/>
          <a:p>
            <a:pPr algn="l" indent="0" marL="0">
              <a:lnSpc>
                <a:spcPct val="113684"/>
              </a:lnSpc>
              <a:buNone/>
            </a:pPr>
            <a:r>
              <a:rPr lang="en-US" sz="853" dirty="0">
                <a:solidFill>
                  <a:srgbClr val="F2F5FF"/>
                </a:solidFill>
                <a:latin typeface="Arial" pitchFamily="34" charset="0"/>
                <a:ea typeface="Arial" pitchFamily="34" charset="-122"/>
                <a:cs typeface="Arial" pitchFamily="34" charset="-120"/>
              </a:rPr>
              <a:t>Abdullaev, T. </a:t>
            </a:r>
            <a:pPr algn="l" indent="0" marL="0">
              <a:lnSpc>
                <a:spcPct val="113684"/>
              </a:lnSpc>
              <a:buNone/>
            </a:pPr>
            <a:r>
              <a:rPr lang="en-US" sz="693" b="1" dirty="0">
                <a:solidFill>
                  <a:srgbClr val="8F9EC4"/>
                </a:solidFill>
                <a:latin typeface="Arial" pitchFamily="34" charset="0"/>
                <a:ea typeface="Arial" pitchFamily="34" charset="-122"/>
                <a:cs typeface="Arial" pitchFamily="34" charset="-120"/>
              </a:rPr>
              <a:t>UZB</a:t>
            </a:r>
            <a:endParaRPr lang="en-US" sz="853" dirty="0"/>
          </a:p>
        </p:txBody>
      </p:sp>
      <p:sp>
        <p:nvSpPr>
          <p:cNvPr id="55" name="Shape 53"/>
          <p:cNvSpPr/>
          <p:nvPr/>
        </p:nvSpPr>
        <p:spPr>
          <a:xfrm>
            <a:off x="6695916" y="6292532"/>
            <a:ext cx="2424906" cy="9525"/>
          </a:xfrm>
          <a:prstGeom prst="rect">
            <a:avLst/>
          </a:prstGeom>
          <a:solidFill>
            <a:srgbClr val="2A3350"/>
          </a:solidFill>
          <a:ln/>
        </p:spPr>
      </p:sp>
      <p:sp>
        <p:nvSpPr>
          <p:cNvPr id="56" name="Text 54"/>
          <p:cNvSpPr/>
          <p:nvPr/>
        </p:nvSpPr>
        <p:spPr>
          <a:xfrm>
            <a:off x="6770423" y="6339946"/>
            <a:ext cx="2352093" cy="184362"/>
          </a:xfrm>
          <a:prstGeom prst="rect">
            <a:avLst/>
          </a:prstGeom>
          <a:noFill/>
          <a:ln/>
        </p:spPr>
        <p:txBody>
          <a:bodyPr wrap="square" lIns="25400" tIns="25400" rIns="25400" bIns="25400" rtlCol="0" anchor="t">
            <a:normAutofit/>
          </a:bodyPr>
          <a:lstStyle/>
          <a:p>
            <a:pPr algn="l" indent="0" marL="0">
              <a:lnSpc>
                <a:spcPct val="113684"/>
              </a:lnSpc>
              <a:buNone/>
            </a:pPr>
            <a:r>
              <a:rPr lang="en-US" sz="853" dirty="0">
                <a:solidFill>
                  <a:srgbClr val="8F9EC4"/>
                </a:solidFill>
                <a:latin typeface="Arial" pitchFamily="34" charset="0"/>
                <a:ea typeface="Arial" pitchFamily="34" charset="-122"/>
                <a:cs typeface="Arial" pitchFamily="34" charset="-120"/>
              </a:rPr>
              <a:t>—</a:t>
            </a:r>
            <a:endParaRPr lang="en-US" sz="853" dirty="0"/>
          </a:p>
        </p:txBody>
      </p:sp>
      <p:sp>
        <p:nvSpPr>
          <p:cNvPr id="57" name="Text 55"/>
          <p:cNvSpPr/>
          <p:nvPr/>
        </p:nvSpPr>
        <p:spPr>
          <a:xfrm>
            <a:off x="9344184" y="3922871"/>
            <a:ext cx="1490075" cy="166053"/>
          </a:xfrm>
          <a:prstGeom prst="rect">
            <a:avLst/>
          </a:prstGeom>
          <a:noFill/>
          <a:ln/>
        </p:spPr>
        <p:txBody>
          <a:bodyPr wrap="square" lIns="25400" tIns="25400" rIns="25400" bIns="25400" rtlCol="0" anchor="t">
            <a:normAutofit/>
          </a:bodyPr>
          <a:lstStyle/>
          <a:p>
            <a:pPr algn="l" indent="0" marL="0">
              <a:lnSpc>
                <a:spcPct val="118125"/>
              </a:lnSpc>
              <a:buNone/>
            </a:pPr>
            <a:r>
              <a:rPr lang="en-US" sz="747" b="1" spc="67" kern="0" dirty="0">
                <a:solidFill>
                  <a:srgbClr val="8F9EC4"/>
                </a:solidFill>
                <a:latin typeface="Arial" pitchFamily="34" charset="0"/>
                <a:ea typeface="Arial" pitchFamily="34" charset="-122"/>
                <a:cs typeface="Arial" pitchFamily="34" charset="-120"/>
              </a:rPr>
              <a:t>CHAMPION</a:t>
            </a:r>
            <a:endParaRPr lang="en-US" sz="747" dirty="0"/>
          </a:p>
        </p:txBody>
      </p:sp>
      <p:sp>
        <p:nvSpPr>
          <p:cNvPr id="58" name="Shape 56"/>
          <p:cNvSpPr/>
          <p:nvPr/>
        </p:nvSpPr>
        <p:spPr>
          <a:xfrm>
            <a:off x="9344184" y="6031706"/>
            <a:ext cx="1354614" cy="384651"/>
          </a:xfrm>
          <a:prstGeom prst="roundRect">
            <a:avLst>
              <a:gd name="adj" fmla="val 14087"/>
            </a:avLst>
          </a:prstGeom>
          <a:solidFill>
            <a:srgbClr val="161D33"/>
          </a:solidFill>
          <a:ln w="6773">
            <a:solidFill>
              <a:srgbClr val="2A3350"/>
            </a:solidFill>
            <a:prstDash val="solid"/>
          </a:ln>
        </p:spPr>
      </p:sp>
      <p:sp>
        <p:nvSpPr>
          <p:cNvPr id="59" name="Shape 57"/>
          <p:cNvSpPr/>
          <p:nvPr/>
        </p:nvSpPr>
        <p:spPr>
          <a:xfrm>
            <a:off x="9351010" y="6175428"/>
            <a:ext cx="1341120" cy="9525"/>
          </a:xfrm>
          <a:prstGeom prst="rect">
            <a:avLst/>
          </a:prstGeom>
          <a:solidFill>
            <a:srgbClr val="2A3350"/>
          </a:solidFill>
          <a:ln/>
        </p:spPr>
      </p:sp>
      <p:sp>
        <p:nvSpPr>
          <p:cNvPr id="60" name="Text 58"/>
          <p:cNvSpPr/>
          <p:nvPr/>
        </p:nvSpPr>
        <p:spPr>
          <a:xfrm>
            <a:off x="9425517" y="6052079"/>
            <a:ext cx="1268307" cy="147902"/>
          </a:xfrm>
          <a:prstGeom prst="rect">
            <a:avLst/>
          </a:prstGeom>
          <a:noFill/>
          <a:ln/>
        </p:spPr>
        <p:txBody>
          <a:bodyPr wrap="square" lIns="25400" tIns="25400" rIns="25400" bIns="25400" rtlCol="0" anchor="t">
            <a:normAutofit/>
          </a:bodyPr>
          <a:lstStyle/>
          <a:p>
            <a:pPr algn="l" indent="0" marL="0">
              <a:lnSpc>
                <a:spcPct val="115714"/>
              </a:lnSpc>
              <a:buNone/>
            </a:pPr>
            <a:r>
              <a:rPr lang="en-US" sz="640" b="1" spc="38" kern="0" dirty="0">
                <a:solidFill>
                  <a:srgbClr val="8F9EC4"/>
                </a:solidFill>
                <a:latin typeface="Arial" pitchFamily="34" charset="0"/>
                <a:ea typeface="Arial" pitchFamily="34" charset="-122"/>
                <a:cs typeface="Arial" pitchFamily="34" charset="-120"/>
              </a:rPr>
              <a:t>Winner</a:t>
            </a:r>
            <a:endParaRPr lang="en-US" sz="640" dirty="0"/>
          </a:p>
        </p:txBody>
      </p:sp>
      <p:sp>
        <p:nvSpPr>
          <p:cNvPr id="61" name="Text 59"/>
          <p:cNvSpPr/>
          <p:nvPr/>
        </p:nvSpPr>
        <p:spPr>
          <a:xfrm>
            <a:off x="9425517" y="6222682"/>
            <a:ext cx="1268307" cy="184467"/>
          </a:xfrm>
          <a:prstGeom prst="rect">
            <a:avLst/>
          </a:prstGeom>
          <a:noFill/>
          <a:ln/>
        </p:spPr>
        <p:txBody>
          <a:bodyPr wrap="square" lIns="25400" tIns="25400" rIns="25400" bIns="25400" rtlCol="0" anchor="t">
            <a:normAutofit/>
          </a:bodyPr>
          <a:lstStyle/>
          <a:p>
            <a:pPr algn="l" indent="0" marL="0">
              <a:lnSpc>
                <a:spcPct val="113684"/>
              </a:lnSpc>
              <a:buNone/>
            </a:pPr>
            <a:r>
              <a:rPr lang="en-US" sz="853" dirty="0">
                <a:solidFill>
                  <a:srgbClr val="8F9EC4"/>
                </a:solidFill>
                <a:latin typeface="Arial" pitchFamily="34" charset="0"/>
                <a:ea typeface="Arial" pitchFamily="34" charset="-122"/>
                <a:cs typeface="Arial" pitchFamily="34" charset="-120"/>
              </a:rPr>
              <a:t>To be decided</a:t>
            </a:r>
            <a:endParaRPr lang="en-US" sz="853" dirty="0"/>
          </a:p>
        </p:txBody>
      </p:sp>
      <p:sp>
        <p:nvSpPr>
          <p:cNvPr id="62" name="Text 60"/>
          <p:cNvSpPr/>
          <p:nvPr/>
        </p:nvSpPr>
        <p:spPr>
          <a:xfrm>
            <a:off x="1378744" y="8424439"/>
            <a:ext cx="9599655" cy="156951"/>
          </a:xfrm>
          <a:prstGeom prst="rect">
            <a:avLst/>
          </a:prstGeom>
          <a:noFill/>
          <a:ln/>
        </p:spPr>
        <p:txBody>
          <a:bodyPr wrap="square" lIns="25400" tIns="25400" rIns="25400" bIns="25400" rtlCol="0" anchor="t">
            <a:normAutofit/>
          </a:bodyPr>
          <a:lstStyle/>
          <a:p>
            <a:pPr algn="l" indent="0" marL="0">
              <a:lnSpc>
                <a:spcPct val="117000"/>
              </a:lnSpc>
              <a:buNone/>
            </a:pPr>
            <a:r>
              <a:rPr lang="en-US" sz="693" dirty="0">
                <a:solidFill>
                  <a:srgbClr val="8F9EC4"/>
                </a:solidFill>
                <a:latin typeface="Arial" pitchFamily="34" charset="0"/>
                <a:ea typeface="Arial" pitchFamily="34" charset="-122"/>
                <a:cs typeface="Arial" pitchFamily="34" charset="-120"/>
              </a:rPr>
              <a:t>Updated 14:22:07 · refreshes automatically</a:t>
            </a:r>
            <a:endParaRPr lang="en-US" sz="693" dirty="0"/>
          </a:p>
        </p:txBody>
      </p:sp>
      <p:sp>
        <p:nvSpPr>
          <p:cNvPr id="63" name="Text 61"/>
          <p:cNvSpPr/>
          <p:nvPr/>
        </p:nvSpPr>
        <p:spPr>
          <a:xfrm>
            <a:off x="11353800" y="32004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One drawing, two audiences</a:t>
            </a:r>
            <a:endParaRPr lang="en-US" sz="2550" dirty="0"/>
          </a:p>
        </p:txBody>
      </p:sp>
      <p:sp>
        <p:nvSpPr>
          <p:cNvPr id="64" name="Text 62"/>
          <p:cNvSpPr/>
          <p:nvPr/>
        </p:nvSpPr>
        <p:spPr>
          <a:xfrm>
            <a:off x="11353800" y="3696811"/>
            <a:ext cx="596493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The tree the officials work on and the tree the hall watches are the same geometry — each round a column, each slot an equal share of its height, so every connector hangs on a midpoint at any bracket size.</a:t>
            </a:r>
            <a:endParaRPr lang="en-US" sz="2100" dirty="0"/>
          </a:p>
        </p:txBody>
      </p:sp>
      <p:sp>
        <p:nvSpPr>
          <p:cNvPr id="65" name="Text 63"/>
          <p:cNvSpPr/>
          <p:nvPr/>
        </p:nvSpPr>
        <p:spPr>
          <a:xfrm>
            <a:off x="11353800" y="61722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Read, not operated</a:t>
            </a:r>
            <a:endParaRPr lang="en-US" sz="2550" dirty="0"/>
          </a:p>
        </p:txBody>
      </p:sp>
      <p:sp>
        <p:nvSpPr>
          <p:cNvPr id="66" name="Text 64"/>
          <p:cNvSpPr/>
          <p:nvPr/>
        </p:nvSpPr>
        <p:spPr>
          <a:xfrm>
            <a:off x="11353800" y="6668612"/>
            <a:ext cx="596493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Nothing here is pressed. A match carries two names, the number the running order gave it and nothing else; the tree scrolls rather than squeezing, because a round dropped off the right is a round nobody can see.</a:t>
            </a:r>
            <a:endParaRPr lang="en-US" sz="2100" dirty="0"/>
          </a:p>
        </p:txBody>
      </p:sp>
      <p:pic>
        <p:nvPicPr>
          <p:cNvPr id="67"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02 · THE RULES</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The running order</a:t>
            </a:r>
            <a:endParaRPr lang="en-US" sz="4800" dirty="0"/>
          </a:p>
        </p:txBody>
      </p:sp>
      <p:sp>
        <p:nvSpPr>
          <p:cNvPr id="4" name="Shape 2"/>
          <p:cNvSpPr/>
          <p:nvPr/>
        </p:nvSpPr>
        <p:spPr>
          <a:xfrm>
            <a:off x="1143000" y="3200400"/>
            <a:ext cx="9753600" cy="5486400"/>
          </a:xfrm>
          <a:prstGeom prst="rect">
            <a:avLst/>
          </a:prstGeom>
          <a:solidFill>
            <a:srgbClr val="05070A"/>
          </a:solidFill>
          <a:ln w="19050">
            <a:solidFill>
              <a:srgbClr val="201E1D">
                <a:alpha val="40000"/>
              </a:srgbClr>
            </a:solidFill>
            <a:prstDash val="solid"/>
          </a:ln>
        </p:spPr>
      </p:sp>
      <p:sp>
        <p:nvSpPr>
          <p:cNvPr id="5" name="Shape 3"/>
          <p:cNvSpPr/>
          <p:nvPr/>
        </p:nvSpPr>
        <p:spPr>
          <a:xfrm>
            <a:off x="1162050" y="3219450"/>
            <a:ext cx="9753600" cy="5486400"/>
          </a:xfrm>
          <a:prstGeom prst="rect">
            <a:avLst/>
          </a:prstGeom>
          <a:solidFill>
            <a:srgbClr val="0B1020"/>
          </a:solidFill>
          <a:ln/>
        </p:spPr>
      </p:sp>
      <p:sp>
        <p:nvSpPr>
          <p:cNvPr id="6" name="Shape 4"/>
          <p:cNvSpPr/>
          <p:nvPr/>
        </p:nvSpPr>
        <p:spPr>
          <a:xfrm>
            <a:off x="1378744" y="3767137"/>
            <a:ext cx="9320054" cy="20320"/>
          </a:xfrm>
          <a:prstGeom prst="rect">
            <a:avLst/>
          </a:prstGeom>
          <a:solidFill>
            <a:srgbClr val="2A3350"/>
          </a:solidFill>
          <a:ln/>
        </p:spPr>
      </p:sp>
      <p:sp>
        <p:nvSpPr>
          <p:cNvPr id="7" name="Shape 5"/>
          <p:cNvSpPr/>
          <p:nvPr/>
        </p:nvSpPr>
        <p:spPr>
          <a:xfrm>
            <a:off x="1378744" y="3406140"/>
            <a:ext cx="257334" cy="257334"/>
          </a:xfrm>
          <a:prstGeom prst="ellipse">
            <a:avLst/>
          </a:prstGeom>
          <a:ln w="13547">
            <a:solidFill>
              <a:srgbClr val="F2F5FF"/>
            </a:solidFill>
            <a:prstDash val="solid"/>
          </a:ln>
        </p:spPr>
      </p:sp>
      <p:sp>
        <p:nvSpPr>
          <p:cNvPr id="8" name="Text 6"/>
          <p:cNvSpPr/>
          <p:nvPr/>
        </p:nvSpPr>
        <p:spPr>
          <a:xfrm>
            <a:off x="1354190" y="3419687"/>
            <a:ext cx="306440" cy="268340"/>
          </a:xfrm>
          <a:prstGeom prst="rect">
            <a:avLst/>
          </a:prstGeom>
          <a:noFill/>
          <a:ln/>
        </p:spPr>
        <p:txBody>
          <a:bodyPr wrap="square" lIns="25400" tIns="25400" rIns="25400" bIns="25400" rtlCol="0" anchor="ctr">
            <a:normAutofit/>
          </a:bodyPr>
          <a:lstStyle/>
          <a:p>
            <a:pPr algn="ctr" indent="0" marL="0">
              <a:lnSpc>
                <a:spcPct val="114231"/>
              </a:lnSpc>
              <a:buNone/>
            </a:pPr>
            <a:r>
              <a:rPr lang="en-US" sz="587" b="1" dirty="0">
                <a:solidFill>
                  <a:srgbClr val="F2F5FF"/>
                </a:solidFill>
                <a:latin typeface="Arial" pitchFamily="34" charset="0"/>
                <a:ea typeface="Arial" pitchFamily="34" charset="-122"/>
                <a:cs typeface="Arial" pitchFamily="34" charset="-120"/>
              </a:rPr>
              <a:t>IKA</a:t>
            </a:r>
            <a:endParaRPr lang="en-US" sz="587" dirty="0"/>
          </a:p>
        </p:txBody>
      </p:sp>
      <p:sp>
        <p:nvSpPr>
          <p:cNvPr id="9" name="Text 7"/>
          <p:cNvSpPr/>
          <p:nvPr/>
        </p:nvSpPr>
        <p:spPr>
          <a:xfrm>
            <a:off x="1710690" y="3384074"/>
            <a:ext cx="2913967" cy="202724"/>
          </a:xfrm>
          <a:prstGeom prst="rect">
            <a:avLst/>
          </a:prstGeom>
          <a:noFill/>
          <a:ln/>
        </p:spPr>
        <p:txBody>
          <a:bodyPr wrap="square" lIns="25400" tIns="25400" rIns="25400" bIns="25400" rtlCol="0" anchor="t">
            <a:normAutofit/>
          </a:bodyPr>
          <a:lstStyle/>
          <a:p>
            <a:pPr algn="l" indent="0" marL="0">
              <a:lnSpc>
                <a:spcPct val="115714"/>
              </a:lnSpc>
              <a:buNone/>
            </a:pPr>
            <a:r>
              <a:rPr lang="en-US" sz="960" b="1" spc="77" kern="0" dirty="0">
                <a:solidFill>
                  <a:srgbClr val="F2F5FF"/>
                </a:solidFill>
                <a:latin typeface="Arial" pitchFamily="34" charset="0"/>
                <a:ea typeface="Arial" pitchFamily="34" charset="-122"/>
                <a:cs typeface="Arial" pitchFamily="34" charset="-120"/>
              </a:rPr>
              <a:t>INTERNATIONAL KURASH ASSOCIATION</a:t>
            </a:r>
            <a:endParaRPr lang="en-US" sz="960" dirty="0"/>
          </a:p>
        </p:txBody>
      </p:sp>
      <p:sp>
        <p:nvSpPr>
          <p:cNvPr id="10" name="Text 8"/>
          <p:cNvSpPr/>
          <p:nvPr/>
        </p:nvSpPr>
        <p:spPr>
          <a:xfrm>
            <a:off x="1710690" y="3548697"/>
            <a:ext cx="2913967" cy="175260"/>
          </a:xfrm>
          <a:prstGeom prst="rect">
            <a:avLst/>
          </a:prstGeom>
          <a:noFill/>
          <a:ln/>
        </p:spPr>
        <p:txBody>
          <a:bodyPr wrap="square" lIns="25400" tIns="25400" rIns="25400" bIns="25400" rtlCol="0" anchor="t">
            <a:normAutofit/>
          </a:bodyPr>
          <a:lstStyle/>
          <a:p>
            <a:pPr algn="l" indent="0" marL="0">
              <a:lnSpc>
                <a:spcPct val="112500"/>
              </a:lnSpc>
              <a:buNone/>
            </a:pPr>
            <a:r>
              <a:rPr lang="en-US" sz="800" dirty="0">
                <a:solidFill>
                  <a:srgbClr val="8F9EC4"/>
                </a:solidFill>
                <a:latin typeface="Arial" pitchFamily="34" charset="0"/>
                <a:ea typeface="Arial" pitchFamily="34" charset="-122"/>
                <a:cs typeface="Arial" pitchFamily="34" charset="-120"/>
              </a:rPr>
              <a:t>Asian Kurash Championship 2026 · Tashkent, Uzbekistan</a:t>
            </a:r>
            <a:endParaRPr lang="en-US" sz="800" dirty="0"/>
          </a:p>
        </p:txBody>
      </p:sp>
      <p:sp>
        <p:nvSpPr>
          <p:cNvPr id="11" name="Text 9"/>
          <p:cNvSpPr/>
          <p:nvPr/>
        </p:nvSpPr>
        <p:spPr>
          <a:xfrm>
            <a:off x="9768999" y="3382010"/>
            <a:ext cx="1006157" cy="275908"/>
          </a:xfrm>
          <a:prstGeom prst="rect">
            <a:avLst/>
          </a:prstGeom>
          <a:noFill/>
          <a:ln/>
        </p:spPr>
        <p:txBody>
          <a:bodyPr wrap="square" lIns="25400" tIns="25400" rIns="25400" bIns="25400" rtlCol="0" anchor="t">
            <a:normAutofit/>
          </a:bodyPr>
          <a:lstStyle/>
          <a:p>
            <a:pPr algn="l" indent="0" marL="0">
              <a:lnSpc>
                <a:spcPct val="117000"/>
              </a:lnSpc>
              <a:buNone/>
            </a:pPr>
            <a:r>
              <a:rPr lang="en-US" sz="1387" b="1" dirty="0">
                <a:solidFill>
                  <a:srgbClr val="F2F5FF"/>
                </a:solidFill>
                <a:latin typeface="Arial" pitchFamily="34" charset="0"/>
                <a:ea typeface="Arial" pitchFamily="34" charset="-122"/>
                <a:cs typeface="Arial" pitchFamily="34" charset="-120"/>
              </a:rPr>
              <a:t>Fight order</a:t>
            </a:r>
            <a:endParaRPr lang="en-US" sz="1387" dirty="0"/>
          </a:p>
        </p:txBody>
      </p:sp>
      <p:sp>
        <p:nvSpPr>
          <p:cNvPr id="12" name="Shape 10"/>
          <p:cNvSpPr/>
          <p:nvPr/>
        </p:nvSpPr>
        <p:spPr>
          <a:xfrm>
            <a:off x="1378744" y="4129828"/>
            <a:ext cx="407352" cy="13547"/>
          </a:xfrm>
          <a:prstGeom prst="rect">
            <a:avLst/>
          </a:prstGeom>
          <a:solidFill>
            <a:srgbClr val="2A3350"/>
          </a:solidFill>
          <a:ln/>
        </p:spPr>
      </p:sp>
      <p:sp>
        <p:nvSpPr>
          <p:cNvPr id="13" name="Text 11"/>
          <p:cNvSpPr/>
          <p:nvPr/>
        </p:nvSpPr>
        <p:spPr>
          <a:xfrm>
            <a:off x="1446477" y="3970285"/>
            <a:ext cx="348086" cy="150230"/>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a:t>
            </a:r>
            <a:endParaRPr lang="en-US" sz="693" dirty="0"/>
          </a:p>
        </p:txBody>
      </p:sp>
      <p:sp>
        <p:nvSpPr>
          <p:cNvPr id="14" name="Shape 12"/>
          <p:cNvSpPr/>
          <p:nvPr/>
        </p:nvSpPr>
        <p:spPr>
          <a:xfrm>
            <a:off x="1786096" y="4129828"/>
            <a:ext cx="1936115" cy="13547"/>
          </a:xfrm>
          <a:prstGeom prst="rect">
            <a:avLst/>
          </a:prstGeom>
          <a:solidFill>
            <a:srgbClr val="2A3350"/>
          </a:solidFill>
          <a:ln/>
        </p:spPr>
      </p:sp>
      <p:sp>
        <p:nvSpPr>
          <p:cNvPr id="15" name="Text 13"/>
          <p:cNvSpPr/>
          <p:nvPr/>
        </p:nvSpPr>
        <p:spPr>
          <a:xfrm>
            <a:off x="1853830" y="3970285"/>
            <a:ext cx="1876848" cy="150230"/>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CATEGORY</a:t>
            </a:r>
            <a:endParaRPr lang="en-US" sz="693" dirty="0"/>
          </a:p>
        </p:txBody>
      </p:sp>
      <p:sp>
        <p:nvSpPr>
          <p:cNvPr id="16" name="Shape 14"/>
          <p:cNvSpPr/>
          <p:nvPr/>
        </p:nvSpPr>
        <p:spPr>
          <a:xfrm>
            <a:off x="3722211" y="4129828"/>
            <a:ext cx="1234281" cy="13547"/>
          </a:xfrm>
          <a:prstGeom prst="rect">
            <a:avLst/>
          </a:prstGeom>
          <a:solidFill>
            <a:srgbClr val="2A3350"/>
          </a:solidFill>
          <a:ln/>
        </p:spPr>
      </p:sp>
      <p:sp>
        <p:nvSpPr>
          <p:cNvPr id="17" name="Text 15"/>
          <p:cNvSpPr/>
          <p:nvPr/>
        </p:nvSpPr>
        <p:spPr>
          <a:xfrm>
            <a:off x="3789944" y="3970285"/>
            <a:ext cx="1175015" cy="150230"/>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PHASE</a:t>
            </a:r>
            <a:endParaRPr lang="en-US" sz="693" dirty="0"/>
          </a:p>
        </p:txBody>
      </p:sp>
      <p:sp>
        <p:nvSpPr>
          <p:cNvPr id="18" name="Shape 16"/>
          <p:cNvSpPr/>
          <p:nvPr/>
        </p:nvSpPr>
        <p:spPr>
          <a:xfrm>
            <a:off x="4956334" y="4129828"/>
            <a:ext cx="1865471" cy="13547"/>
          </a:xfrm>
          <a:prstGeom prst="rect">
            <a:avLst/>
          </a:prstGeom>
          <a:solidFill>
            <a:srgbClr val="2A3350"/>
          </a:solidFill>
          <a:ln/>
        </p:spPr>
      </p:sp>
      <p:sp>
        <p:nvSpPr>
          <p:cNvPr id="19" name="Text 17"/>
          <p:cNvSpPr/>
          <p:nvPr/>
        </p:nvSpPr>
        <p:spPr>
          <a:xfrm>
            <a:off x="5024067" y="3970285"/>
            <a:ext cx="1806205" cy="150230"/>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BLUE</a:t>
            </a:r>
            <a:endParaRPr lang="en-US" sz="693" dirty="0"/>
          </a:p>
        </p:txBody>
      </p:sp>
      <p:sp>
        <p:nvSpPr>
          <p:cNvPr id="20" name="Shape 18"/>
          <p:cNvSpPr/>
          <p:nvPr/>
        </p:nvSpPr>
        <p:spPr>
          <a:xfrm>
            <a:off x="6821805" y="4129828"/>
            <a:ext cx="1557814" cy="13547"/>
          </a:xfrm>
          <a:prstGeom prst="rect">
            <a:avLst/>
          </a:prstGeom>
          <a:solidFill>
            <a:srgbClr val="2A3350"/>
          </a:solidFill>
          <a:ln/>
        </p:spPr>
      </p:sp>
      <p:sp>
        <p:nvSpPr>
          <p:cNvPr id="21" name="Text 19"/>
          <p:cNvSpPr/>
          <p:nvPr/>
        </p:nvSpPr>
        <p:spPr>
          <a:xfrm>
            <a:off x="6889538" y="3970285"/>
            <a:ext cx="1498547" cy="150230"/>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GREEN</a:t>
            </a:r>
            <a:endParaRPr lang="en-US" sz="693" dirty="0"/>
          </a:p>
        </p:txBody>
      </p:sp>
      <p:sp>
        <p:nvSpPr>
          <p:cNvPr id="22" name="Shape 20"/>
          <p:cNvSpPr/>
          <p:nvPr/>
        </p:nvSpPr>
        <p:spPr>
          <a:xfrm>
            <a:off x="8379619" y="4129828"/>
            <a:ext cx="662146" cy="13547"/>
          </a:xfrm>
          <a:prstGeom prst="rect">
            <a:avLst/>
          </a:prstGeom>
          <a:solidFill>
            <a:srgbClr val="2A3350"/>
          </a:solidFill>
          <a:ln/>
        </p:spPr>
      </p:sp>
      <p:sp>
        <p:nvSpPr>
          <p:cNvPr id="23" name="Text 21"/>
          <p:cNvSpPr/>
          <p:nvPr/>
        </p:nvSpPr>
        <p:spPr>
          <a:xfrm>
            <a:off x="8447352" y="3970285"/>
            <a:ext cx="602880" cy="150230"/>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MAT</a:t>
            </a:r>
            <a:endParaRPr lang="en-US" sz="693" dirty="0"/>
          </a:p>
        </p:txBody>
      </p:sp>
      <p:sp>
        <p:nvSpPr>
          <p:cNvPr id="24" name="Shape 22"/>
          <p:cNvSpPr/>
          <p:nvPr/>
        </p:nvSpPr>
        <p:spPr>
          <a:xfrm>
            <a:off x="9041765" y="4129828"/>
            <a:ext cx="1657033" cy="13547"/>
          </a:xfrm>
          <a:prstGeom prst="rect">
            <a:avLst/>
          </a:prstGeom>
          <a:solidFill>
            <a:srgbClr val="2A3350"/>
          </a:solidFill>
          <a:ln/>
        </p:spPr>
      </p:sp>
      <p:sp>
        <p:nvSpPr>
          <p:cNvPr id="25" name="Text 23"/>
          <p:cNvSpPr/>
          <p:nvPr/>
        </p:nvSpPr>
        <p:spPr>
          <a:xfrm>
            <a:off x="9109498" y="3970285"/>
            <a:ext cx="1597766" cy="150230"/>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WINNER</a:t>
            </a:r>
            <a:endParaRPr lang="en-US" sz="693" dirty="0"/>
          </a:p>
        </p:txBody>
      </p:sp>
      <p:sp>
        <p:nvSpPr>
          <p:cNvPr id="26" name="Shape 24"/>
          <p:cNvSpPr/>
          <p:nvPr/>
        </p:nvSpPr>
        <p:spPr>
          <a:xfrm>
            <a:off x="1378744" y="4424098"/>
            <a:ext cx="407352" cy="9525"/>
          </a:xfrm>
          <a:prstGeom prst="rect">
            <a:avLst/>
          </a:prstGeom>
          <a:solidFill>
            <a:srgbClr val="2A3350"/>
          </a:solidFill>
          <a:ln/>
        </p:spPr>
      </p:sp>
      <p:sp>
        <p:nvSpPr>
          <p:cNvPr id="27" name="Text 25"/>
          <p:cNvSpPr/>
          <p:nvPr/>
        </p:nvSpPr>
        <p:spPr>
          <a:xfrm>
            <a:off x="1446477" y="4204335"/>
            <a:ext cx="348086"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8F9EC4"/>
                </a:solidFill>
                <a:latin typeface="Arial" pitchFamily="34" charset="0"/>
                <a:ea typeface="Arial" pitchFamily="34" charset="-122"/>
                <a:cs typeface="Arial" pitchFamily="34" charset="-120"/>
              </a:rPr>
              <a:t>38</a:t>
            </a:r>
            <a:endParaRPr lang="en-US" sz="907" dirty="0"/>
          </a:p>
        </p:txBody>
      </p:sp>
      <p:sp>
        <p:nvSpPr>
          <p:cNvPr id="28" name="Shape 26"/>
          <p:cNvSpPr/>
          <p:nvPr/>
        </p:nvSpPr>
        <p:spPr>
          <a:xfrm>
            <a:off x="1786096" y="4424098"/>
            <a:ext cx="1936115" cy="9525"/>
          </a:xfrm>
          <a:prstGeom prst="rect">
            <a:avLst/>
          </a:prstGeom>
          <a:solidFill>
            <a:srgbClr val="2A3350"/>
          </a:solidFill>
          <a:ln/>
        </p:spPr>
      </p:sp>
      <p:sp>
        <p:nvSpPr>
          <p:cNvPr id="29" name="Text 27"/>
          <p:cNvSpPr/>
          <p:nvPr/>
        </p:nvSpPr>
        <p:spPr>
          <a:xfrm>
            <a:off x="1853830" y="4204335"/>
            <a:ext cx="1876848"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−60 kg Senior Men</a:t>
            </a:r>
            <a:endParaRPr lang="en-US" sz="907" dirty="0"/>
          </a:p>
        </p:txBody>
      </p:sp>
      <p:sp>
        <p:nvSpPr>
          <p:cNvPr id="30" name="Shape 28"/>
          <p:cNvSpPr/>
          <p:nvPr/>
        </p:nvSpPr>
        <p:spPr>
          <a:xfrm>
            <a:off x="3722211" y="4424098"/>
            <a:ext cx="1234281" cy="9525"/>
          </a:xfrm>
          <a:prstGeom prst="rect">
            <a:avLst/>
          </a:prstGeom>
          <a:solidFill>
            <a:srgbClr val="2A3350"/>
          </a:solidFill>
          <a:ln/>
        </p:spPr>
      </p:sp>
      <p:sp>
        <p:nvSpPr>
          <p:cNvPr id="31" name="Text 29"/>
          <p:cNvSpPr/>
          <p:nvPr/>
        </p:nvSpPr>
        <p:spPr>
          <a:xfrm>
            <a:off x="3789944" y="4204335"/>
            <a:ext cx="1175015"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Round of 16</a:t>
            </a:r>
            <a:endParaRPr lang="en-US" sz="907" dirty="0"/>
          </a:p>
        </p:txBody>
      </p:sp>
      <p:sp>
        <p:nvSpPr>
          <p:cNvPr id="32" name="Shape 30"/>
          <p:cNvSpPr/>
          <p:nvPr/>
        </p:nvSpPr>
        <p:spPr>
          <a:xfrm>
            <a:off x="4956334" y="4424098"/>
            <a:ext cx="1865471" cy="9525"/>
          </a:xfrm>
          <a:prstGeom prst="rect">
            <a:avLst/>
          </a:prstGeom>
          <a:solidFill>
            <a:srgbClr val="2A3350"/>
          </a:solidFill>
          <a:ln/>
        </p:spPr>
      </p:sp>
      <p:sp>
        <p:nvSpPr>
          <p:cNvPr id="33" name="Text 31"/>
          <p:cNvSpPr/>
          <p:nvPr/>
        </p:nvSpPr>
        <p:spPr>
          <a:xfrm>
            <a:off x="5024067" y="4204335"/>
            <a:ext cx="1806205"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Yusupov, R. UZB</a:t>
            </a:r>
            <a:endParaRPr lang="en-US" sz="907" dirty="0"/>
          </a:p>
        </p:txBody>
      </p:sp>
      <p:sp>
        <p:nvSpPr>
          <p:cNvPr id="34" name="Shape 32"/>
          <p:cNvSpPr/>
          <p:nvPr/>
        </p:nvSpPr>
        <p:spPr>
          <a:xfrm>
            <a:off x="6821805" y="4424098"/>
            <a:ext cx="1557814" cy="9525"/>
          </a:xfrm>
          <a:prstGeom prst="rect">
            <a:avLst/>
          </a:prstGeom>
          <a:solidFill>
            <a:srgbClr val="2A3350"/>
          </a:solidFill>
          <a:ln/>
        </p:spPr>
      </p:sp>
      <p:sp>
        <p:nvSpPr>
          <p:cNvPr id="35" name="Text 33"/>
          <p:cNvSpPr/>
          <p:nvPr/>
        </p:nvSpPr>
        <p:spPr>
          <a:xfrm>
            <a:off x="6889538" y="4204335"/>
            <a:ext cx="1498547"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Rahimov, S. TJK</a:t>
            </a:r>
            <a:endParaRPr lang="en-US" sz="907" dirty="0"/>
          </a:p>
        </p:txBody>
      </p:sp>
      <p:sp>
        <p:nvSpPr>
          <p:cNvPr id="36" name="Shape 34"/>
          <p:cNvSpPr/>
          <p:nvPr/>
        </p:nvSpPr>
        <p:spPr>
          <a:xfrm>
            <a:off x="8379619" y="4424098"/>
            <a:ext cx="662146" cy="9525"/>
          </a:xfrm>
          <a:prstGeom prst="rect">
            <a:avLst/>
          </a:prstGeom>
          <a:solidFill>
            <a:srgbClr val="2A3350"/>
          </a:solidFill>
          <a:ln/>
        </p:spPr>
      </p:sp>
      <p:sp>
        <p:nvSpPr>
          <p:cNvPr id="37" name="Text 35"/>
          <p:cNvSpPr/>
          <p:nvPr/>
        </p:nvSpPr>
        <p:spPr>
          <a:xfrm>
            <a:off x="8447352" y="4204335"/>
            <a:ext cx="602880"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Mat 1</a:t>
            </a:r>
            <a:endParaRPr lang="en-US" sz="907" dirty="0"/>
          </a:p>
        </p:txBody>
      </p:sp>
      <p:sp>
        <p:nvSpPr>
          <p:cNvPr id="38" name="Shape 36"/>
          <p:cNvSpPr/>
          <p:nvPr/>
        </p:nvSpPr>
        <p:spPr>
          <a:xfrm>
            <a:off x="9041765" y="4424098"/>
            <a:ext cx="1657033" cy="9525"/>
          </a:xfrm>
          <a:prstGeom prst="rect">
            <a:avLst/>
          </a:prstGeom>
          <a:solidFill>
            <a:srgbClr val="2A3350"/>
          </a:solidFill>
          <a:ln/>
        </p:spPr>
      </p:sp>
      <p:sp>
        <p:nvSpPr>
          <p:cNvPr id="39" name="Text 37"/>
          <p:cNvSpPr/>
          <p:nvPr/>
        </p:nvSpPr>
        <p:spPr>
          <a:xfrm>
            <a:off x="9109498" y="4204335"/>
            <a:ext cx="1597766"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Yusupov, Ruslan</a:t>
            </a:r>
            <a:endParaRPr lang="en-US" sz="907" dirty="0"/>
          </a:p>
        </p:txBody>
      </p:sp>
      <p:sp>
        <p:nvSpPr>
          <p:cNvPr id="40" name="Shape 38"/>
          <p:cNvSpPr/>
          <p:nvPr/>
        </p:nvSpPr>
        <p:spPr>
          <a:xfrm>
            <a:off x="1378744" y="4430871"/>
            <a:ext cx="9320054" cy="284162"/>
          </a:xfrm>
          <a:prstGeom prst="rect">
            <a:avLst/>
          </a:prstGeom>
          <a:solidFill>
            <a:srgbClr val="FFFFFF">
              <a:alpha val="2000"/>
            </a:srgbClr>
          </a:solidFill>
          <a:ln/>
        </p:spPr>
      </p:sp>
      <p:sp>
        <p:nvSpPr>
          <p:cNvPr id="41" name="Shape 39"/>
          <p:cNvSpPr/>
          <p:nvPr/>
        </p:nvSpPr>
        <p:spPr>
          <a:xfrm>
            <a:off x="1378744" y="4708261"/>
            <a:ext cx="407352" cy="9525"/>
          </a:xfrm>
          <a:prstGeom prst="rect">
            <a:avLst/>
          </a:prstGeom>
          <a:solidFill>
            <a:srgbClr val="2A3350"/>
          </a:solidFill>
          <a:ln/>
        </p:spPr>
      </p:sp>
      <p:sp>
        <p:nvSpPr>
          <p:cNvPr id="42" name="Text 40"/>
          <p:cNvSpPr/>
          <p:nvPr/>
        </p:nvSpPr>
        <p:spPr>
          <a:xfrm>
            <a:off x="1446477" y="4491831"/>
            <a:ext cx="348086"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8F9EC4"/>
                </a:solidFill>
                <a:latin typeface="Arial" pitchFamily="34" charset="0"/>
                <a:ea typeface="Arial" pitchFamily="34" charset="-122"/>
                <a:cs typeface="Arial" pitchFamily="34" charset="-120"/>
              </a:rPr>
              <a:t>39</a:t>
            </a:r>
            <a:endParaRPr lang="en-US" sz="907" dirty="0"/>
          </a:p>
        </p:txBody>
      </p:sp>
      <p:sp>
        <p:nvSpPr>
          <p:cNvPr id="43" name="Shape 41"/>
          <p:cNvSpPr/>
          <p:nvPr/>
        </p:nvSpPr>
        <p:spPr>
          <a:xfrm>
            <a:off x="1786096" y="4708261"/>
            <a:ext cx="1936115" cy="9525"/>
          </a:xfrm>
          <a:prstGeom prst="rect">
            <a:avLst/>
          </a:prstGeom>
          <a:solidFill>
            <a:srgbClr val="2A3350"/>
          </a:solidFill>
          <a:ln/>
        </p:spPr>
      </p:sp>
      <p:sp>
        <p:nvSpPr>
          <p:cNvPr id="44" name="Text 42"/>
          <p:cNvSpPr/>
          <p:nvPr/>
        </p:nvSpPr>
        <p:spPr>
          <a:xfrm>
            <a:off x="1853830" y="4491831"/>
            <a:ext cx="187684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−66 kg Senior Men</a:t>
            </a:r>
            <a:endParaRPr lang="en-US" sz="907" dirty="0"/>
          </a:p>
        </p:txBody>
      </p:sp>
      <p:sp>
        <p:nvSpPr>
          <p:cNvPr id="45" name="Shape 43"/>
          <p:cNvSpPr/>
          <p:nvPr/>
        </p:nvSpPr>
        <p:spPr>
          <a:xfrm>
            <a:off x="3722211" y="4708261"/>
            <a:ext cx="1234281" cy="9525"/>
          </a:xfrm>
          <a:prstGeom prst="rect">
            <a:avLst/>
          </a:prstGeom>
          <a:solidFill>
            <a:srgbClr val="2A3350"/>
          </a:solidFill>
          <a:ln/>
        </p:spPr>
      </p:sp>
      <p:sp>
        <p:nvSpPr>
          <p:cNvPr id="46" name="Text 44"/>
          <p:cNvSpPr/>
          <p:nvPr/>
        </p:nvSpPr>
        <p:spPr>
          <a:xfrm>
            <a:off x="3789944" y="4491831"/>
            <a:ext cx="117501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Round of 16</a:t>
            </a:r>
            <a:endParaRPr lang="en-US" sz="907" dirty="0"/>
          </a:p>
        </p:txBody>
      </p:sp>
      <p:sp>
        <p:nvSpPr>
          <p:cNvPr id="47" name="Shape 45"/>
          <p:cNvSpPr/>
          <p:nvPr/>
        </p:nvSpPr>
        <p:spPr>
          <a:xfrm>
            <a:off x="4956334" y="4708261"/>
            <a:ext cx="1865471" cy="9525"/>
          </a:xfrm>
          <a:prstGeom prst="rect">
            <a:avLst/>
          </a:prstGeom>
          <a:solidFill>
            <a:srgbClr val="2A3350"/>
          </a:solidFill>
          <a:ln/>
        </p:spPr>
      </p:sp>
      <p:sp>
        <p:nvSpPr>
          <p:cNvPr id="48" name="Text 46"/>
          <p:cNvSpPr/>
          <p:nvPr/>
        </p:nvSpPr>
        <p:spPr>
          <a:xfrm>
            <a:off x="5024067" y="4491831"/>
            <a:ext cx="180620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Choi, J. KOR</a:t>
            </a:r>
            <a:endParaRPr lang="en-US" sz="907" dirty="0"/>
          </a:p>
        </p:txBody>
      </p:sp>
      <p:sp>
        <p:nvSpPr>
          <p:cNvPr id="49" name="Shape 47"/>
          <p:cNvSpPr/>
          <p:nvPr/>
        </p:nvSpPr>
        <p:spPr>
          <a:xfrm>
            <a:off x="6821805" y="4708261"/>
            <a:ext cx="1557814" cy="9525"/>
          </a:xfrm>
          <a:prstGeom prst="rect">
            <a:avLst/>
          </a:prstGeom>
          <a:solidFill>
            <a:srgbClr val="2A3350"/>
          </a:solidFill>
          <a:ln/>
        </p:spPr>
      </p:sp>
      <p:sp>
        <p:nvSpPr>
          <p:cNvPr id="50" name="Text 48"/>
          <p:cNvSpPr/>
          <p:nvPr/>
        </p:nvSpPr>
        <p:spPr>
          <a:xfrm>
            <a:off x="6889538" y="4491831"/>
            <a:ext cx="14985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Nazarov, B. TKM</a:t>
            </a:r>
            <a:endParaRPr lang="en-US" sz="907" dirty="0"/>
          </a:p>
        </p:txBody>
      </p:sp>
      <p:sp>
        <p:nvSpPr>
          <p:cNvPr id="51" name="Shape 49"/>
          <p:cNvSpPr/>
          <p:nvPr/>
        </p:nvSpPr>
        <p:spPr>
          <a:xfrm>
            <a:off x="8379619" y="4708261"/>
            <a:ext cx="662146" cy="9525"/>
          </a:xfrm>
          <a:prstGeom prst="rect">
            <a:avLst/>
          </a:prstGeom>
          <a:solidFill>
            <a:srgbClr val="2A3350"/>
          </a:solidFill>
          <a:ln/>
        </p:spPr>
      </p:sp>
      <p:sp>
        <p:nvSpPr>
          <p:cNvPr id="52" name="Text 50"/>
          <p:cNvSpPr/>
          <p:nvPr/>
        </p:nvSpPr>
        <p:spPr>
          <a:xfrm>
            <a:off x="8447352" y="4491831"/>
            <a:ext cx="602880"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Mat 2</a:t>
            </a:r>
            <a:endParaRPr lang="en-US" sz="907" dirty="0"/>
          </a:p>
        </p:txBody>
      </p:sp>
      <p:sp>
        <p:nvSpPr>
          <p:cNvPr id="53" name="Shape 51"/>
          <p:cNvSpPr/>
          <p:nvPr/>
        </p:nvSpPr>
        <p:spPr>
          <a:xfrm>
            <a:off x="9041765" y="4708261"/>
            <a:ext cx="1657033" cy="9525"/>
          </a:xfrm>
          <a:prstGeom prst="rect">
            <a:avLst/>
          </a:prstGeom>
          <a:solidFill>
            <a:srgbClr val="2A3350"/>
          </a:solidFill>
          <a:ln/>
        </p:spPr>
      </p:sp>
      <p:sp>
        <p:nvSpPr>
          <p:cNvPr id="54" name="Text 52"/>
          <p:cNvSpPr/>
          <p:nvPr/>
        </p:nvSpPr>
        <p:spPr>
          <a:xfrm>
            <a:off x="9109498" y="4491831"/>
            <a:ext cx="1597766"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Choi, Jae-won</a:t>
            </a:r>
            <a:endParaRPr lang="en-US" sz="907" dirty="0"/>
          </a:p>
        </p:txBody>
      </p:sp>
      <p:sp>
        <p:nvSpPr>
          <p:cNvPr id="55" name="Shape 53"/>
          <p:cNvSpPr/>
          <p:nvPr/>
        </p:nvSpPr>
        <p:spPr>
          <a:xfrm>
            <a:off x="1378744" y="4992423"/>
            <a:ext cx="407352" cy="9525"/>
          </a:xfrm>
          <a:prstGeom prst="rect">
            <a:avLst/>
          </a:prstGeom>
          <a:solidFill>
            <a:srgbClr val="2A3350"/>
          </a:solidFill>
          <a:ln/>
        </p:spPr>
      </p:sp>
      <p:sp>
        <p:nvSpPr>
          <p:cNvPr id="56" name="Text 54"/>
          <p:cNvSpPr/>
          <p:nvPr/>
        </p:nvSpPr>
        <p:spPr>
          <a:xfrm>
            <a:off x="1446477" y="4775994"/>
            <a:ext cx="348086"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8F9EC4"/>
                </a:solidFill>
                <a:latin typeface="Arial" pitchFamily="34" charset="0"/>
                <a:ea typeface="Arial" pitchFamily="34" charset="-122"/>
                <a:cs typeface="Arial" pitchFamily="34" charset="-120"/>
              </a:rPr>
              <a:t>40</a:t>
            </a:r>
            <a:endParaRPr lang="en-US" sz="907" dirty="0"/>
          </a:p>
        </p:txBody>
      </p:sp>
      <p:sp>
        <p:nvSpPr>
          <p:cNvPr id="57" name="Shape 55"/>
          <p:cNvSpPr/>
          <p:nvPr/>
        </p:nvSpPr>
        <p:spPr>
          <a:xfrm>
            <a:off x="1786096" y="4992423"/>
            <a:ext cx="1936115" cy="9525"/>
          </a:xfrm>
          <a:prstGeom prst="rect">
            <a:avLst/>
          </a:prstGeom>
          <a:solidFill>
            <a:srgbClr val="2A3350"/>
          </a:solidFill>
          <a:ln/>
        </p:spPr>
      </p:sp>
      <p:sp>
        <p:nvSpPr>
          <p:cNvPr id="58" name="Text 56"/>
          <p:cNvSpPr/>
          <p:nvPr/>
        </p:nvSpPr>
        <p:spPr>
          <a:xfrm>
            <a:off x="1853830" y="4775994"/>
            <a:ext cx="187684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−52 kg Senior Women</a:t>
            </a:r>
            <a:endParaRPr lang="en-US" sz="907" dirty="0"/>
          </a:p>
        </p:txBody>
      </p:sp>
      <p:sp>
        <p:nvSpPr>
          <p:cNvPr id="59" name="Shape 57"/>
          <p:cNvSpPr/>
          <p:nvPr/>
        </p:nvSpPr>
        <p:spPr>
          <a:xfrm>
            <a:off x="3722211" y="4992423"/>
            <a:ext cx="1234281" cy="9525"/>
          </a:xfrm>
          <a:prstGeom prst="rect">
            <a:avLst/>
          </a:prstGeom>
          <a:solidFill>
            <a:srgbClr val="2A3350"/>
          </a:solidFill>
          <a:ln/>
        </p:spPr>
      </p:sp>
      <p:sp>
        <p:nvSpPr>
          <p:cNvPr id="60" name="Text 58"/>
          <p:cNvSpPr/>
          <p:nvPr/>
        </p:nvSpPr>
        <p:spPr>
          <a:xfrm>
            <a:off x="3789944" y="4775994"/>
            <a:ext cx="117501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Quarter-final</a:t>
            </a:r>
            <a:endParaRPr lang="en-US" sz="907" dirty="0"/>
          </a:p>
        </p:txBody>
      </p:sp>
      <p:sp>
        <p:nvSpPr>
          <p:cNvPr id="61" name="Shape 59"/>
          <p:cNvSpPr/>
          <p:nvPr/>
        </p:nvSpPr>
        <p:spPr>
          <a:xfrm>
            <a:off x="4956334" y="4992423"/>
            <a:ext cx="1865471" cy="9525"/>
          </a:xfrm>
          <a:prstGeom prst="rect">
            <a:avLst/>
          </a:prstGeom>
          <a:solidFill>
            <a:srgbClr val="2A3350"/>
          </a:solidFill>
          <a:ln/>
        </p:spPr>
      </p:sp>
      <p:sp>
        <p:nvSpPr>
          <p:cNvPr id="62" name="Text 60"/>
          <p:cNvSpPr/>
          <p:nvPr/>
        </p:nvSpPr>
        <p:spPr>
          <a:xfrm>
            <a:off x="5024067" y="4775994"/>
            <a:ext cx="180620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Karimova, N. UZB</a:t>
            </a:r>
            <a:endParaRPr lang="en-US" sz="907" dirty="0"/>
          </a:p>
        </p:txBody>
      </p:sp>
      <p:sp>
        <p:nvSpPr>
          <p:cNvPr id="63" name="Shape 61"/>
          <p:cNvSpPr/>
          <p:nvPr/>
        </p:nvSpPr>
        <p:spPr>
          <a:xfrm>
            <a:off x="6821805" y="4992423"/>
            <a:ext cx="1557814" cy="9525"/>
          </a:xfrm>
          <a:prstGeom prst="rect">
            <a:avLst/>
          </a:prstGeom>
          <a:solidFill>
            <a:srgbClr val="2A3350"/>
          </a:solidFill>
          <a:ln/>
        </p:spPr>
      </p:sp>
      <p:sp>
        <p:nvSpPr>
          <p:cNvPr id="64" name="Text 62"/>
          <p:cNvSpPr/>
          <p:nvPr/>
        </p:nvSpPr>
        <p:spPr>
          <a:xfrm>
            <a:off x="6889538" y="4775994"/>
            <a:ext cx="14985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Bekova, S. KAZ</a:t>
            </a:r>
            <a:endParaRPr lang="en-US" sz="907" dirty="0"/>
          </a:p>
        </p:txBody>
      </p:sp>
      <p:sp>
        <p:nvSpPr>
          <p:cNvPr id="65" name="Shape 63"/>
          <p:cNvSpPr/>
          <p:nvPr/>
        </p:nvSpPr>
        <p:spPr>
          <a:xfrm>
            <a:off x="8379619" y="4992423"/>
            <a:ext cx="662146" cy="9525"/>
          </a:xfrm>
          <a:prstGeom prst="rect">
            <a:avLst/>
          </a:prstGeom>
          <a:solidFill>
            <a:srgbClr val="2A3350"/>
          </a:solidFill>
          <a:ln/>
        </p:spPr>
      </p:sp>
      <p:sp>
        <p:nvSpPr>
          <p:cNvPr id="66" name="Text 64"/>
          <p:cNvSpPr/>
          <p:nvPr/>
        </p:nvSpPr>
        <p:spPr>
          <a:xfrm>
            <a:off x="8447352" y="4775994"/>
            <a:ext cx="602880"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Mat 3</a:t>
            </a:r>
            <a:endParaRPr lang="en-US" sz="907" dirty="0"/>
          </a:p>
        </p:txBody>
      </p:sp>
      <p:sp>
        <p:nvSpPr>
          <p:cNvPr id="67" name="Shape 65"/>
          <p:cNvSpPr/>
          <p:nvPr/>
        </p:nvSpPr>
        <p:spPr>
          <a:xfrm>
            <a:off x="9041765" y="4992423"/>
            <a:ext cx="1657033" cy="9525"/>
          </a:xfrm>
          <a:prstGeom prst="rect">
            <a:avLst/>
          </a:prstGeom>
          <a:solidFill>
            <a:srgbClr val="2A3350"/>
          </a:solidFill>
          <a:ln/>
        </p:spPr>
      </p:sp>
      <p:sp>
        <p:nvSpPr>
          <p:cNvPr id="68" name="Text 66"/>
          <p:cNvSpPr/>
          <p:nvPr/>
        </p:nvSpPr>
        <p:spPr>
          <a:xfrm>
            <a:off x="9109498" y="4775994"/>
            <a:ext cx="1597766"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Karimova, Nilufar</a:t>
            </a:r>
            <a:endParaRPr lang="en-US" sz="907" dirty="0"/>
          </a:p>
        </p:txBody>
      </p:sp>
      <p:sp>
        <p:nvSpPr>
          <p:cNvPr id="69" name="Shape 67"/>
          <p:cNvSpPr/>
          <p:nvPr/>
        </p:nvSpPr>
        <p:spPr>
          <a:xfrm>
            <a:off x="1378744" y="4999196"/>
            <a:ext cx="9320054" cy="284162"/>
          </a:xfrm>
          <a:prstGeom prst="rect">
            <a:avLst/>
          </a:prstGeom>
          <a:solidFill>
            <a:srgbClr val="FFFFFF">
              <a:alpha val="2000"/>
            </a:srgbClr>
          </a:solidFill>
          <a:ln/>
        </p:spPr>
      </p:sp>
      <p:sp>
        <p:nvSpPr>
          <p:cNvPr id="70" name="Shape 68"/>
          <p:cNvSpPr/>
          <p:nvPr/>
        </p:nvSpPr>
        <p:spPr>
          <a:xfrm>
            <a:off x="1378744" y="5276585"/>
            <a:ext cx="407352" cy="9525"/>
          </a:xfrm>
          <a:prstGeom prst="rect">
            <a:avLst/>
          </a:prstGeom>
          <a:solidFill>
            <a:srgbClr val="2A3350"/>
          </a:solidFill>
          <a:ln/>
        </p:spPr>
      </p:sp>
      <p:sp>
        <p:nvSpPr>
          <p:cNvPr id="71" name="Text 69"/>
          <p:cNvSpPr/>
          <p:nvPr/>
        </p:nvSpPr>
        <p:spPr>
          <a:xfrm>
            <a:off x="1446477" y="5060156"/>
            <a:ext cx="348086"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41</a:t>
            </a:r>
            <a:endParaRPr lang="en-US" sz="907" dirty="0"/>
          </a:p>
        </p:txBody>
      </p:sp>
      <p:sp>
        <p:nvSpPr>
          <p:cNvPr id="72" name="Shape 70"/>
          <p:cNvSpPr/>
          <p:nvPr/>
        </p:nvSpPr>
        <p:spPr>
          <a:xfrm>
            <a:off x="1786096" y="5276585"/>
            <a:ext cx="1936115" cy="9525"/>
          </a:xfrm>
          <a:prstGeom prst="rect">
            <a:avLst/>
          </a:prstGeom>
          <a:solidFill>
            <a:srgbClr val="2A3350"/>
          </a:solidFill>
          <a:ln/>
        </p:spPr>
      </p:sp>
      <p:sp>
        <p:nvSpPr>
          <p:cNvPr id="73" name="Text 71"/>
          <p:cNvSpPr/>
          <p:nvPr/>
        </p:nvSpPr>
        <p:spPr>
          <a:xfrm>
            <a:off x="1853830" y="5060156"/>
            <a:ext cx="187684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−60 kg Senior Men</a:t>
            </a:r>
            <a:endParaRPr lang="en-US" sz="907" dirty="0"/>
          </a:p>
        </p:txBody>
      </p:sp>
      <p:sp>
        <p:nvSpPr>
          <p:cNvPr id="74" name="Shape 72"/>
          <p:cNvSpPr/>
          <p:nvPr/>
        </p:nvSpPr>
        <p:spPr>
          <a:xfrm>
            <a:off x="3722211" y="5276585"/>
            <a:ext cx="1234281" cy="9525"/>
          </a:xfrm>
          <a:prstGeom prst="rect">
            <a:avLst/>
          </a:prstGeom>
          <a:solidFill>
            <a:srgbClr val="2A3350"/>
          </a:solidFill>
          <a:ln/>
        </p:spPr>
      </p:sp>
      <p:sp>
        <p:nvSpPr>
          <p:cNvPr id="75" name="Text 73"/>
          <p:cNvSpPr/>
          <p:nvPr/>
        </p:nvSpPr>
        <p:spPr>
          <a:xfrm>
            <a:off x="3789944" y="5060156"/>
            <a:ext cx="117501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Quarter-final</a:t>
            </a:r>
            <a:endParaRPr lang="en-US" sz="907" dirty="0"/>
          </a:p>
        </p:txBody>
      </p:sp>
      <p:sp>
        <p:nvSpPr>
          <p:cNvPr id="76" name="Shape 74"/>
          <p:cNvSpPr/>
          <p:nvPr/>
        </p:nvSpPr>
        <p:spPr>
          <a:xfrm>
            <a:off x="4956334" y="5276585"/>
            <a:ext cx="1865471" cy="9525"/>
          </a:xfrm>
          <a:prstGeom prst="rect">
            <a:avLst/>
          </a:prstGeom>
          <a:solidFill>
            <a:srgbClr val="2A3350"/>
          </a:solidFill>
          <a:ln/>
        </p:spPr>
      </p:sp>
      <p:sp>
        <p:nvSpPr>
          <p:cNvPr id="77" name="Text 75"/>
          <p:cNvSpPr/>
          <p:nvPr/>
        </p:nvSpPr>
        <p:spPr>
          <a:xfrm>
            <a:off x="5024067" y="5060156"/>
            <a:ext cx="180620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3B82F6"/>
                </a:solidFill>
                <a:latin typeface="Arial" pitchFamily="34" charset="0"/>
                <a:ea typeface="Arial" pitchFamily="34" charset="-122"/>
                <a:cs typeface="Arial" pitchFamily="34" charset="-120"/>
              </a:rPr>
              <a:t>Abdullaev, T. UZB</a:t>
            </a:r>
            <a:endParaRPr lang="en-US" sz="907" dirty="0"/>
          </a:p>
        </p:txBody>
      </p:sp>
      <p:sp>
        <p:nvSpPr>
          <p:cNvPr id="78" name="Shape 76"/>
          <p:cNvSpPr/>
          <p:nvPr/>
        </p:nvSpPr>
        <p:spPr>
          <a:xfrm>
            <a:off x="6821805" y="5276585"/>
            <a:ext cx="1557814" cy="9525"/>
          </a:xfrm>
          <a:prstGeom prst="rect">
            <a:avLst/>
          </a:prstGeom>
          <a:solidFill>
            <a:srgbClr val="2A3350"/>
          </a:solidFill>
          <a:ln/>
        </p:spPr>
      </p:sp>
      <p:sp>
        <p:nvSpPr>
          <p:cNvPr id="79" name="Text 77"/>
          <p:cNvSpPr/>
          <p:nvPr/>
        </p:nvSpPr>
        <p:spPr>
          <a:xfrm>
            <a:off x="6889538" y="5060156"/>
            <a:ext cx="14985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22C55E"/>
                </a:solidFill>
                <a:latin typeface="Arial" pitchFamily="34" charset="0"/>
                <a:ea typeface="Arial" pitchFamily="34" charset="-122"/>
                <a:cs typeface="Arial" pitchFamily="34" charset="-120"/>
              </a:rPr>
              <a:t>Serikov, D. KAZ</a:t>
            </a:r>
            <a:endParaRPr lang="en-US" sz="907" dirty="0"/>
          </a:p>
        </p:txBody>
      </p:sp>
      <p:sp>
        <p:nvSpPr>
          <p:cNvPr id="80" name="Shape 78"/>
          <p:cNvSpPr/>
          <p:nvPr/>
        </p:nvSpPr>
        <p:spPr>
          <a:xfrm>
            <a:off x="8379619" y="5276585"/>
            <a:ext cx="662146" cy="9525"/>
          </a:xfrm>
          <a:prstGeom prst="rect">
            <a:avLst/>
          </a:prstGeom>
          <a:solidFill>
            <a:srgbClr val="2A3350"/>
          </a:solidFill>
          <a:ln/>
        </p:spPr>
      </p:sp>
      <p:sp>
        <p:nvSpPr>
          <p:cNvPr id="81" name="Text 79"/>
          <p:cNvSpPr/>
          <p:nvPr/>
        </p:nvSpPr>
        <p:spPr>
          <a:xfrm>
            <a:off x="8447352" y="5060156"/>
            <a:ext cx="602880"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Mat 2</a:t>
            </a:r>
            <a:endParaRPr lang="en-US" sz="907" dirty="0"/>
          </a:p>
        </p:txBody>
      </p:sp>
      <p:sp>
        <p:nvSpPr>
          <p:cNvPr id="82" name="Shape 80"/>
          <p:cNvSpPr/>
          <p:nvPr/>
        </p:nvSpPr>
        <p:spPr>
          <a:xfrm>
            <a:off x="9041765" y="5276585"/>
            <a:ext cx="1657033" cy="9525"/>
          </a:xfrm>
          <a:prstGeom prst="rect">
            <a:avLst/>
          </a:prstGeom>
          <a:solidFill>
            <a:srgbClr val="2A3350"/>
          </a:solidFill>
          <a:ln/>
        </p:spPr>
      </p:sp>
      <p:sp>
        <p:nvSpPr>
          <p:cNvPr id="83" name="Shape 81"/>
          <p:cNvSpPr/>
          <p:nvPr/>
        </p:nvSpPr>
        <p:spPr>
          <a:xfrm>
            <a:off x="1378744" y="5560748"/>
            <a:ext cx="407352" cy="9525"/>
          </a:xfrm>
          <a:prstGeom prst="rect">
            <a:avLst/>
          </a:prstGeom>
          <a:solidFill>
            <a:srgbClr val="2A3350"/>
          </a:solidFill>
          <a:ln/>
        </p:spPr>
      </p:sp>
      <p:sp>
        <p:nvSpPr>
          <p:cNvPr id="84" name="Text 82"/>
          <p:cNvSpPr/>
          <p:nvPr/>
        </p:nvSpPr>
        <p:spPr>
          <a:xfrm>
            <a:off x="1446477" y="5344319"/>
            <a:ext cx="348086"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42</a:t>
            </a:r>
            <a:endParaRPr lang="en-US" sz="907" dirty="0"/>
          </a:p>
        </p:txBody>
      </p:sp>
      <p:sp>
        <p:nvSpPr>
          <p:cNvPr id="85" name="Shape 83"/>
          <p:cNvSpPr/>
          <p:nvPr/>
        </p:nvSpPr>
        <p:spPr>
          <a:xfrm>
            <a:off x="1786096" y="5560748"/>
            <a:ext cx="1936115" cy="9525"/>
          </a:xfrm>
          <a:prstGeom prst="rect">
            <a:avLst/>
          </a:prstGeom>
          <a:solidFill>
            <a:srgbClr val="2A3350"/>
          </a:solidFill>
          <a:ln/>
        </p:spPr>
      </p:sp>
      <p:sp>
        <p:nvSpPr>
          <p:cNvPr id="86" name="Text 84"/>
          <p:cNvSpPr/>
          <p:nvPr/>
        </p:nvSpPr>
        <p:spPr>
          <a:xfrm>
            <a:off x="1853830" y="5344319"/>
            <a:ext cx="187684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−66 kg Senior Men</a:t>
            </a:r>
            <a:endParaRPr lang="en-US" sz="907" dirty="0"/>
          </a:p>
        </p:txBody>
      </p:sp>
      <p:sp>
        <p:nvSpPr>
          <p:cNvPr id="87" name="Shape 85"/>
          <p:cNvSpPr/>
          <p:nvPr/>
        </p:nvSpPr>
        <p:spPr>
          <a:xfrm>
            <a:off x="3722211" y="5560748"/>
            <a:ext cx="1234281" cy="9525"/>
          </a:xfrm>
          <a:prstGeom prst="rect">
            <a:avLst/>
          </a:prstGeom>
          <a:solidFill>
            <a:srgbClr val="2A3350"/>
          </a:solidFill>
          <a:ln/>
        </p:spPr>
      </p:sp>
      <p:sp>
        <p:nvSpPr>
          <p:cNvPr id="88" name="Text 86"/>
          <p:cNvSpPr/>
          <p:nvPr/>
        </p:nvSpPr>
        <p:spPr>
          <a:xfrm>
            <a:off x="3789944" y="5344319"/>
            <a:ext cx="117501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Quarter-final</a:t>
            </a:r>
            <a:endParaRPr lang="en-US" sz="907" dirty="0"/>
          </a:p>
        </p:txBody>
      </p:sp>
      <p:sp>
        <p:nvSpPr>
          <p:cNvPr id="89" name="Shape 87"/>
          <p:cNvSpPr/>
          <p:nvPr/>
        </p:nvSpPr>
        <p:spPr>
          <a:xfrm>
            <a:off x="4956334" y="5560748"/>
            <a:ext cx="1865471" cy="9525"/>
          </a:xfrm>
          <a:prstGeom prst="rect">
            <a:avLst/>
          </a:prstGeom>
          <a:solidFill>
            <a:srgbClr val="2A3350"/>
          </a:solidFill>
          <a:ln/>
        </p:spPr>
      </p:sp>
      <p:sp>
        <p:nvSpPr>
          <p:cNvPr id="90" name="Text 88"/>
          <p:cNvSpPr/>
          <p:nvPr/>
        </p:nvSpPr>
        <p:spPr>
          <a:xfrm>
            <a:off x="5024067" y="5344319"/>
            <a:ext cx="180620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3B82F6"/>
                </a:solidFill>
                <a:latin typeface="Arial" pitchFamily="34" charset="0"/>
                <a:ea typeface="Arial" pitchFamily="34" charset="-122"/>
                <a:cs typeface="Arial" pitchFamily="34" charset="-120"/>
              </a:rPr>
              <a:t>Choi, J. KOR</a:t>
            </a:r>
            <a:endParaRPr lang="en-US" sz="907" dirty="0"/>
          </a:p>
        </p:txBody>
      </p:sp>
      <p:sp>
        <p:nvSpPr>
          <p:cNvPr id="91" name="Shape 89"/>
          <p:cNvSpPr/>
          <p:nvPr/>
        </p:nvSpPr>
        <p:spPr>
          <a:xfrm>
            <a:off x="6821805" y="5560748"/>
            <a:ext cx="1557814" cy="9525"/>
          </a:xfrm>
          <a:prstGeom prst="rect">
            <a:avLst/>
          </a:prstGeom>
          <a:solidFill>
            <a:srgbClr val="2A3350"/>
          </a:solidFill>
          <a:ln/>
        </p:spPr>
      </p:sp>
      <p:sp>
        <p:nvSpPr>
          <p:cNvPr id="92" name="Text 90"/>
          <p:cNvSpPr/>
          <p:nvPr/>
        </p:nvSpPr>
        <p:spPr>
          <a:xfrm>
            <a:off x="6889538" y="5344319"/>
            <a:ext cx="14985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22C55E"/>
                </a:solidFill>
                <a:latin typeface="Arial" pitchFamily="34" charset="0"/>
                <a:ea typeface="Arial" pitchFamily="34" charset="-122"/>
                <a:cs typeface="Arial" pitchFamily="34" charset="-120"/>
              </a:rPr>
              <a:t>Kadyrov, A. KGZ</a:t>
            </a:r>
            <a:endParaRPr lang="en-US" sz="907" dirty="0"/>
          </a:p>
        </p:txBody>
      </p:sp>
      <p:sp>
        <p:nvSpPr>
          <p:cNvPr id="93" name="Shape 91"/>
          <p:cNvSpPr/>
          <p:nvPr/>
        </p:nvSpPr>
        <p:spPr>
          <a:xfrm>
            <a:off x="8379619" y="5560748"/>
            <a:ext cx="662146" cy="9525"/>
          </a:xfrm>
          <a:prstGeom prst="rect">
            <a:avLst/>
          </a:prstGeom>
          <a:solidFill>
            <a:srgbClr val="2A3350"/>
          </a:solidFill>
          <a:ln/>
        </p:spPr>
      </p:sp>
      <p:sp>
        <p:nvSpPr>
          <p:cNvPr id="94" name="Text 92"/>
          <p:cNvSpPr/>
          <p:nvPr/>
        </p:nvSpPr>
        <p:spPr>
          <a:xfrm>
            <a:off x="8447352" y="5344319"/>
            <a:ext cx="602880"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Mat 1</a:t>
            </a:r>
            <a:endParaRPr lang="en-US" sz="907" dirty="0"/>
          </a:p>
        </p:txBody>
      </p:sp>
      <p:sp>
        <p:nvSpPr>
          <p:cNvPr id="95" name="Shape 93"/>
          <p:cNvSpPr/>
          <p:nvPr/>
        </p:nvSpPr>
        <p:spPr>
          <a:xfrm>
            <a:off x="9041765" y="5560748"/>
            <a:ext cx="1657033" cy="9525"/>
          </a:xfrm>
          <a:prstGeom prst="rect">
            <a:avLst/>
          </a:prstGeom>
          <a:solidFill>
            <a:srgbClr val="2A3350"/>
          </a:solidFill>
          <a:ln/>
        </p:spPr>
      </p:sp>
      <p:sp>
        <p:nvSpPr>
          <p:cNvPr id="96" name="Shape 94"/>
          <p:cNvSpPr/>
          <p:nvPr/>
        </p:nvSpPr>
        <p:spPr>
          <a:xfrm>
            <a:off x="1378744" y="5567363"/>
            <a:ext cx="9320054" cy="284162"/>
          </a:xfrm>
          <a:prstGeom prst="rect">
            <a:avLst/>
          </a:prstGeom>
          <a:solidFill>
            <a:srgbClr val="FFFFFF">
              <a:alpha val="2000"/>
            </a:srgbClr>
          </a:solidFill>
          <a:ln/>
        </p:spPr>
      </p:sp>
      <p:sp>
        <p:nvSpPr>
          <p:cNvPr id="97" name="Shape 95"/>
          <p:cNvSpPr/>
          <p:nvPr/>
        </p:nvSpPr>
        <p:spPr>
          <a:xfrm>
            <a:off x="1378744" y="5844752"/>
            <a:ext cx="407352" cy="9525"/>
          </a:xfrm>
          <a:prstGeom prst="rect">
            <a:avLst/>
          </a:prstGeom>
          <a:solidFill>
            <a:srgbClr val="2A3350"/>
          </a:solidFill>
          <a:ln/>
        </p:spPr>
      </p:sp>
      <p:sp>
        <p:nvSpPr>
          <p:cNvPr id="98" name="Text 96"/>
          <p:cNvSpPr/>
          <p:nvPr/>
        </p:nvSpPr>
        <p:spPr>
          <a:xfrm>
            <a:off x="1446477" y="5628322"/>
            <a:ext cx="348086"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43</a:t>
            </a:r>
            <a:endParaRPr lang="en-US" sz="907" dirty="0"/>
          </a:p>
        </p:txBody>
      </p:sp>
      <p:sp>
        <p:nvSpPr>
          <p:cNvPr id="99" name="Shape 97"/>
          <p:cNvSpPr/>
          <p:nvPr/>
        </p:nvSpPr>
        <p:spPr>
          <a:xfrm>
            <a:off x="1786096" y="5844752"/>
            <a:ext cx="1936115" cy="9525"/>
          </a:xfrm>
          <a:prstGeom prst="rect">
            <a:avLst/>
          </a:prstGeom>
          <a:solidFill>
            <a:srgbClr val="2A3350"/>
          </a:solidFill>
          <a:ln/>
        </p:spPr>
      </p:sp>
      <p:sp>
        <p:nvSpPr>
          <p:cNvPr id="100" name="Text 98"/>
          <p:cNvSpPr/>
          <p:nvPr/>
        </p:nvSpPr>
        <p:spPr>
          <a:xfrm>
            <a:off x="1853830" y="5628322"/>
            <a:ext cx="187684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−52 kg Senior Women</a:t>
            </a:r>
            <a:endParaRPr lang="en-US" sz="907" dirty="0"/>
          </a:p>
        </p:txBody>
      </p:sp>
      <p:sp>
        <p:nvSpPr>
          <p:cNvPr id="101" name="Shape 99"/>
          <p:cNvSpPr/>
          <p:nvPr/>
        </p:nvSpPr>
        <p:spPr>
          <a:xfrm>
            <a:off x="3722211" y="5844752"/>
            <a:ext cx="1234281" cy="9525"/>
          </a:xfrm>
          <a:prstGeom prst="rect">
            <a:avLst/>
          </a:prstGeom>
          <a:solidFill>
            <a:srgbClr val="2A3350"/>
          </a:solidFill>
          <a:ln/>
        </p:spPr>
      </p:sp>
      <p:sp>
        <p:nvSpPr>
          <p:cNvPr id="102" name="Text 100"/>
          <p:cNvSpPr/>
          <p:nvPr/>
        </p:nvSpPr>
        <p:spPr>
          <a:xfrm>
            <a:off x="3789944" y="5628322"/>
            <a:ext cx="117501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Semi-final</a:t>
            </a:r>
            <a:endParaRPr lang="en-US" sz="907" dirty="0"/>
          </a:p>
        </p:txBody>
      </p:sp>
      <p:sp>
        <p:nvSpPr>
          <p:cNvPr id="103" name="Shape 101"/>
          <p:cNvSpPr/>
          <p:nvPr/>
        </p:nvSpPr>
        <p:spPr>
          <a:xfrm>
            <a:off x="4956334" y="5844752"/>
            <a:ext cx="1865471" cy="9525"/>
          </a:xfrm>
          <a:prstGeom prst="rect">
            <a:avLst/>
          </a:prstGeom>
          <a:solidFill>
            <a:srgbClr val="2A3350"/>
          </a:solidFill>
          <a:ln/>
        </p:spPr>
      </p:sp>
      <p:sp>
        <p:nvSpPr>
          <p:cNvPr id="104" name="Text 102"/>
          <p:cNvSpPr/>
          <p:nvPr/>
        </p:nvSpPr>
        <p:spPr>
          <a:xfrm>
            <a:off x="5024067" y="5628322"/>
            <a:ext cx="180620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3B82F6"/>
                </a:solidFill>
                <a:latin typeface="Arial" pitchFamily="34" charset="0"/>
                <a:ea typeface="Arial" pitchFamily="34" charset="-122"/>
                <a:cs typeface="Arial" pitchFamily="34" charset="-120"/>
              </a:rPr>
              <a:t>Toktogulova, A. KGZ</a:t>
            </a:r>
            <a:endParaRPr lang="en-US" sz="907" dirty="0"/>
          </a:p>
        </p:txBody>
      </p:sp>
      <p:sp>
        <p:nvSpPr>
          <p:cNvPr id="105" name="Shape 103"/>
          <p:cNvSpPr/>
          <p:nvPr/>
        </p:nvSpPr>
        <p:spPr>
          <a:xfrm>
            <a:off x="6821805" y="5844752"/>
            <a:ext cx="1557814" cy="9525"/>
          </a:xfrm>
          <a:prstGeom prst="rect">
            <a:avLst/>
          </a:prstGeom>
          <a:solidFill>
            <a:srgbClr val="2A3350"/>
          </a:solidFill>
          <a:ln/>
        </p:spPr>
      </p:sp>
      <p:sp>
        <p:nvSpPr>
          <p:cNvPr id="106" name="Text 104"/>
          <p:cNvSpPr/>
          <p:nvPr/>
        </p:nvSpPr>
        <p:spPr>
          <a:xfrm>
            <a:off x="6889538" y="5628322"/>
            <a:ext cx="14985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22C55E"/>
                </a:solidFill>
                <a:latin typeface="Arial" pitchFamily="34" charset="0"/>
                <a:ea typeface="Arial" pitchFamily="34" charset="-122"/>
                <a:cs typeface="Arial" pitchFamily="34" charset="-120"/>
              </a:rPr>
              <a:t>Erkinova, D. UZB</a:t>
            </a:r>
            <a:endParaRPr lang="en-US" sz="907" dirty="0"/>
          </a:p>
        </p:txBody>
      </p:sp>
      <p:sp>
        <p:nvSpPr>
          <p:cNvPr id="107" name="Shape 105"/>
          <p:cNvSpPr/>
          <p:nvPr/>
        </p:nvSpPr>
        <p:spPr>
          <a:xfrm>
            <a:off x="8379619" y="5844752"/>
            <a:ext cx="662146" cy="9525"/>
          </a:xfrm>
          <a:prstGeom prst="rect">
            <a:avLst/>
          </a:prstGeom>
          <a:solidFill>
            <a:srgbClr val="2A3350"/>
          </a:solidFill>
          <a:ln/>
        </p:spPr>
      </p:sp>
      <p:sp>
        <p:nvSpPr>
          <p:cNvPr id="108" name="Text 106"/>
          <p:cNvSpPr/>
          <p:nvPr/>
        </p:nvSpPr>
        <p:spPr>
          <a:xfrm>
            <a:off x="8447352" y="5628322"/>
            <a:ext cx="602880"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Mat 3</a:t>
            </a:r>
            <a:endParaRPr lang="en-US" sz="907" dirty="0"/>
          </a:p>
        </p:txBody>
      </p:sp>
      <p:sp>
        <p:nvSpPr>
          <p:cNvPr id="109" name="Shape 107"/>
          <p:cNvSpPr/>
          <p:nvPr/>
        </p:nvSpPr>
        <p:spPr>
          <a:xfrm>
            <a:off x="9041765" y="5844752"/>
            <a:ext cx="1657033" cy="9525"/>
          </a:xfrm>
          <a:prstGeom prst="rect">
            <a:avLst/>
          </a:prstGeom>
          <a:solidFill>
            <a:srgbClr val="2A3350"/>
          </a:solidFill>
          <a:ln/>
        </p:spPr>
      </p:sp>
      <p:sp>
        <p:nvSpPr>
          <p:cNvPr id="110" name="Shape 108"/>
          <p:cNvSpPr/>
          <p:nvPr/>
        </p:nvSpPr>
        <p:spPr>
          <a:xfrm>
            <a:off x="1378744" y="6128914"/>
            <a:ext cx="407352" cy="9525"/>
          </a:xfrm>
          <a:prstGeom prst="rect">
            <a:avLst/>
          </a:prstGeom>
          <a:solidFill>
            <a:srgbClr val="2A3350"/>
          </a:solidFill>
          <a:ln/>
        </p:spPr>
      </p:sp>
      <p:sp>
        <p:nvSpPr>
          <p:cNvPr id="111" name="Text 109"/>
          <p:cNvSpPr/>
          <p:nvPr/>
        </p:nvSpPr>
        <p:spPr>
          <a:xfrm>
            <a:off x="1446477" y="5912485"/>
            <a:ext cx="348086"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44</a:t>
            </a:r>
            <a:endParaRPr lang="en-US" sz="907" dirty="0"/>
          </a:p>
        </p:txBody>
      </p:sp>
      <p:sp>
        <p:nvSpPr>
          <p:cNvPr id="112" name="Shape 110"/>
          <p:cNvSpPr/>
          <p:nvPr/>
        </p:nvSpPr>
        <p:spPr>
          <a:xfrm>
            <a:off x="1786096" y="6128914"/>
            <a:ext cx="1936115" cy="9525"/>
          </a:xfrm>
          <a:prstGeom prst="rect">
            <a:avLst/>
          </a:prstGeom>
          <a:solidFill>
            <a:srgbClr val="2A3350"/>
          </a:solidFill>
          <a:ln/>
        </p:spPr>
      </p:sp>
      <p:sp>
        <p:nvSpPr>
          <p:cNvPr id="113" name="Text 111"/>
          <p:cNvSpPr/>
          <p:nvPr/>
        </p:nvSpPr>
        <p:spPr>
          <a:xfrm>
            <a:off x="1853830" y="5912485"/>
            <a:ext cx="187684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−73 kg Senior Men</a:t>
            </a:r>
            <a:endParaRPr lang="en-US" sz="907" dirty="0"/>
          </a:p>
        </p:txBody>
      </p:sp>
      <p:sp>
        <p:nvSpPr>
          <p:cNvPr id="114" name="Shape 112"/>
          <p:cNvSpPr/>
          <p:nvPr/>
        </p:nvSpPr>
        <p:spPr>
          <a:xfrm>
            <a:off x="3722211" y="6128914"/>
            <a:ext cx="1234281" cy="9525"/>
          </a:xfrm>
          <a:prstGeom prst="rect">
            <a:avLst/>
          </a:prstGeom>
          <a:solidFill>
            <a:srgbClr val="2A3350"/>
          </a:solidFill>
          <a:ln/>
        </p:spPr>
      </p:sp>
      <p:sp>
        <p:nvSpPr>
          <p:cNvPr id="115" name="Text 113"/>
          <p:cNvSpPr/>
          <p:nvPr/>
        </p:nvSpPr>
        <p:spPr>
          <a:xfrm>
            <a:off x="3789944" y="5912485"/>
            <a:ext cx="117501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Quarter-final</a:t>
            </a:r>
            <a:endParaRPr lang="en-US" sz="907" dirty="0"/>
          </a:p>
        </p:txBody>
      </p:sp>
      <p:sp>
        <p:nvSpPr>
          <p:cNvPr id="116" name="Shape 114"/>
          <p:cNvSpPr/>
          <p:nvPr/>
        </p:nvSpPr>
        <p:spPr>
          <a:xfrm>
            <a:off x="4956334" y="6128914"/>
            <a:ext cx="1865471" cy="9525"/>
          </a:xfrm>
          <a:prstGeom prst="rect">
            <a:avLst/>
          </a:prstGeom>
          <a:solidFill>
            <a:srgbClr val="2A3350"/>
          </a:solidFill>
          <a:ln/>
        </p:spPr>
      </p:sp>
      <p:sp>
        <p:nvSpPr>
          <p:cNvPr id="117" name="Text 115"/>
          <p:cNvSpPr/>
          <p:nvPr/>
        </p:nvSpPr>
        <p:spPr>
          <a:xfrm>
            <a:off x="5024067" y="5912485"/>
            <a:ext cx="180620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3B82F6"/>
                </a:solidFill>
                <a:latin typeface="Arial" pitchFamily="34" charset="0"/>
                <a:ea typeface="Arial" pitchFamily="34" charset="-122"/>
                <a:cs typeface="Arial" pitchFamily="34" charset="-120"/>
              </a:rPr>
              <a:t>Nazarov, B. TKM</a:t>
            </a:r>
            <a:endParaRPr lang="en-US" sz="907" dirty="0"/>
          </a:p>
        </p:txBody>
      </p:sp>
      <p:sp>
        <p:nvSpPr>
          <p:cNvPr id="118" name="Shape 116"/>
          <p:cNvSpPr/>
          <p:nvPr/>
        </p:nvSpPr>
        <p:spPr>
          <a:xfrm>
            <a:off x="6821805" y="6128914"/>
            <a:ext cx="1557814" cy="9525"/>
          </a:xfrm>
          <a:prstGeom prst="rect">
            <a:avLst/>
          </a:prstGeom>
          <a:solidFill>
            <a:srgbClr val="2A3350"/>
          </a:solidFill>
          <a:ln/>
        </p:spPr>
      </p:sp>
      <p:sp>
        <p:nvSpPr>
          <p:cNvPr id="119" name="Text 117"/>
          <p:cNvSpPr/>
          <p:nvPr/>
        </p:nvSpPr>
        <p:spPr>
          <a:xfrm>
            <a:off x="6889538" y="5912485"/>
            <a:ext cx="14985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22C55E"/>
                </a:solidFill>
                <a:latin typeface="Arial" pitchFamily="34" charset="0"/>
                <a:ea typeface="Arial" pitchFamily="34" charset="-122"/>
                <a:cs typeface="Arial" pitchFamily="34" charset="-120"/>
              </a:rPr>
              <a:t>Hassan, M. IRI</a:t>
            </a:r>
            <a:endParaRPr lang="en-US" sz="907" dirty="0"/>
          </a:p>
        </p:txBody>
      </p:sp>
      <p:sp>
        <p:nvSpPr>
          <p:cNvPr id="120" name="Shape 118"/>
          <p:cNvSpPr/>
          <p:nvPr/>
        </p:nvSpPr>
        <p:spPr>
          <a:xfrm>
            <a:off x="8379619" y="6128914"/>
            <a:ext cx="662146" cy="9525"/>
          </a:xfrm>
          <a:prstGeom prst="rect">
            <a:avLst/>
          </a:prstGeom>
          <a:solidFill>
            <a:srgbClr val="2A3350"/>
          </a:solidFill>
          <a:ln/>
        </p:spPr>
      </p:sp>
      <p:sp>
        <p:nvSpPr>
          <p:cNvPr id="121" name="Text 119"/>
          <p:cNvSpPr/>
          <p:nvPr/>
        </p:nvSpPr>
        <p:spPr>
          <a:xfrm>
            <a:off x="8447352" y="5912485"/>
            <a:ext cx="602880"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a:t>
            </a:r>
            <a:endParaRPr lang="en-US" sz="907" dirty="0"/>
          </a:p>
        </p:txBody>
      </p:sp>
      <p:sp>
        <p:nvSpPr>
          <p:cNvPr id="122" name="Shape 120"/>
          <p:cNvSpPr/>
          <p:nvPr/>
        </p:nvSpPr>
        <p:spPr>
          <a:xfrm>
            <a:off x="9041765" y="6128914"/>
            <a:ext cx="1657033" cy="9525"/>
          </a:xfrm>
          <a:prstGeom prst="rect">
            <a:avLst/>
          </a:prstGeom>
          <a:solidFill>
            <a:srgbClr val="2A3350"/>
          </a:solidFill>
          <a:ln/>
        </p:spPr>
      </p:sp>
      <p:sp>
        <p:nvSpPr>
          <p:cNvPr id="123" name="Shape 121"/>
          <p:cNvSpPr/>
          <p:nvPr/>
        </p:nvSpPr>
        <p:spPr>
          <a:xfrm>
            <a:off x="1378744" y="6135688"/>
            <a:ext cx="9320054" cy="284162"/>
          </a:xfrm>
          <a:prstGeom prst="rect">
            <a:avLst/>
          </a:prstGeom>
          <a:solidFill>
            <a:srgbClr val="FFFFFF">
              <a:alpha val="2000"/>
            </a:srgbClr>
          </a:solidFill>
          <a:ln/>
        </p:spPr>
      </p:sp>
      <p:sp>
        <p:nvSpPr>
          <p:cNvPr id="124" name="Shape 122"/>
          <p:cNvSpPr/>
          <p:nvPr/>
        </p:nvSpPr>
        <p:spPr>
          <a:xfrm>
            <a:off x="1378744" y="6413077"/>
            <a:ext cx="407352" cy="9525"/>
          </a:xfrm>
          <a:prstGeom prst="rect">
            <a:avLst/>
          </a:prstGeom>
          <a:solidFill>
            <a:srgbClr val="2A3350"/>
          </a:solidFill>
          <a:ln/>
        </p:spPr>
      </p:sp>
      <p:sp>
        <p:nvSpPr>
          <p:cNvPr id="125" name="Text 123"/>
          <p:cNvSpPr/>
          <p:nvPr/>
        </p:nvSpPr>
        <p:spPr>
          <a:xfrm>
            <a:off x="1446477" y="6196648"/>
            <a:ext cx="348086"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45</a:t>
            </a:r>
            <a:endParaRPr lang="en-US" sz="907" dirty="0"/>
          </a:p>
        </p:txBody>
      </p:sp>
      <p:sp>
        <p:nvSpPr>
          <p:cNvPr id="126" name="Shape 124"/>
          <p:cNvSpPr/>
          <p:nvPr/>
        </p:nvSpPr>
        <p:spPr>
          <a:xfrm>
            <a:off x="1786096" y="6413077"/>
            <a:ext cx="1936115" cy="9525"/>
          </a:xfrm>
          <a:prstGeom prst="rect">
            <a:avLst/>
          </a:prstGeom>
          <a:solidFill>
            <a:srgbClr val="2A3350"/>
          </a:solidFill>
          <a:ln/>
        </p:spPr>
      </p:sp>
      <p:sp>
        <p:nvSpPr>
          <p:cNvPr id="127" name="Text 125"/>
          <p:cNvSpPr/>
          <p:nvPr/>
        </p:nvSpPr>
        <p:spPr>
          <a:xfrm>
            <a:off x="1853830" y="6196648"/>
            <a:ext cx="187684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−60 kg Senior Men</a:t>
            </a:r>
            <a:endParaRPr lang="en-US" sz="907" dirty="0"/>
          </a:p>
        </p:txBody>
      </p:sp>
      <p:sp>
        <p:nvSpPr>
          <p:cNvPr id="128" name="Shape 126"/>
          <p:cNvSpPr/>
          <p:nvPr/>
        </p:nvSpPr>
        <p:spPr>
          <a:xfrm>
            <a:off x="3722211" y="6413077"/>
            <a:ext cx="1234281" cy="9525"/>
          </a:xfrm>
          <a:prstGeom prst="rect">
            <a:avLst/>
          </a:prstGeom>
          <a:solidFill>
            <a:srgbClr val="2A3350"/>
          </a:solidFill>
          <a:ln/>
        </p:spPr>
      </p:sp>
      <p:sp>
        <p:nvSpPr>
          <p:cNvPr id="129" name="Text 127"/>
          <p:cNvSpPr/>
          <p:nvPr/>
        </p:nvSpPr>
        <p:spPr>
          <a:xfrm>
            <a:off x="3789944" y="6196648"/>
            <a:ext cx="117501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Semi-final</a:t>
            </a:r>
            <a:endParaRPr lang="en-US" sz="907" dirty="0"/>
          </a:p>
        </p:txBody>
      </p:sp>
      <p:sp>
        <p:nvSpPr>
          <p:cNvPr id="130" name="Shape 128"/>
          <p:cNvSpPr/>
          <p:nvPr/>
        </p:nvSpPr>
        <p:spPr>
          <a:xfrm>
            <a:off x="4956334" y="6413077"/>
            <a:ext cx="1865471" cy="9525"/>
          </a:xfrm>
          <a:prstGeom prst="rect">
            <a:avLst/>
          </a:prstGeom>
          <a:solidFill>
            <a:srgbClr val="2A3350"/>
          </a:solidFill>
          <a:ln/>
        </p:spPr>
      </p:sp>
      <p:sp>
        <p:nvSpPr>
          <p:cNvPr id="131" name="Text 129"/>
          <p:cNvSpPr/>
          <p:nvPr/>
        </p:nvSpPr>
        <p:spPr>
          <a:xfrm>
            <a:off x="5024067" y="6196648"/>
            <a:ext cx="180620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3B82F6"/>
                </a:solidFill>
                <a:latin typeface="Arial" pitchFamily="34" charset="0"/>
                <a:ea typeface="Arial" pitchFamily="34" charset="-122"/>
                <a:cs typeface="Arial" pitchFamily="34" charset="-120"/>
              </a:rPr>
              <a:t>Abdullaev, T. UZB</a:t>
            </a:r>
            <a:endParaRPr lang="en-US" sz="907" dirty="0"/>
          </a:p>
        </p:txBody>
      </p:sp>
      <p:sp>
        <p:nvSpPr>
          <p:cNvPr id="132" name="Shape 130"/>
          <p:cNvSpPr/>
          <p:nvPr/>
        </p:nvSpPr>
        <p:spPr>
          <a:xfrm>
            <a:off x="6821805" y="6413077"/>
            <a:ext cx="1557814" cy="9525"/>
          </a:xfrm>
          <a:prstGeom prst="rect">
            <a:avLst/>
          </a:prstGeom>
          <a:solidFill>
            <a:srgbClr val="2A3350"/>
          </a:solidFill>
          <a:ln/>
        </p:spPr>
      </p:sp>
      <p:sp>
        <p:nvSpPr>
          <p:cNvPr id="133" name="Text 131"/>
          <p:cNvSpPr/>
          <p:nvPr/>
        </p:nvSpPr>
        <p:spPr>
          <a:xfrm>
            <a:off x="6889538" y="6196648"/>
            <a:ext cx="14985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22C55E"/>
                </a:solidFill>
                <a:latin typeface="Arial" pitchFamily="34" charset="0"/>
                <a:ea typeface="Arial" pitchFamily="34" charset="-122"/>
                <a:cs typeface="Arial" pitchFamily="34" charset="-120"/>
              </a:rPr>
              <a:t>Choi, J. KOR</a:t>
            </a:r>
            <a:endParaRPr lang="en-US" sz="907" dirty="0"/>
          </a:p>
        </p:txBody>
      </p:sp>
      <p:sp>
        <p:nvSpPr>
          <p:cNvPr id="134" name="Shape 132"/>
          <p:cNvSpPr/>
          <p:nvPr/>
        </p:nvSpPr>
        <p:spPr>
          <a:xfrm>
            <a:off x="8379619" y="6413077"/>
            <a:ext cx="662146" cy="9525"/>
          </a:xfrm>
          <a:prstGeom prst="rect">
            <a:avLst/>
          </a:prstGeom>
          <a:solidFill>
            <a:srgbClr val="2A3350"/>
          </a:solidFill>
          <a:ln/>
        </p:spPr>
      </p:sp>
      <p:sp>
        <p:nvSpPr>
          <p:cNvPr id="135" name="Text 133"/>
          <p:cNvSpPr/>
          <p:nvPr/>
        </p:nvSpPr>
        <p:spPr>
          <a:xfrm>
            <a:off x="8447352" y="6196648"/>
            <a:ext cx="602880"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a:t>
            </a:r>
            <a:endParaRPr lang="en-US" sz="907" dirty="0"/>
          </a:p>
        </p:txBody>
      </p:sp>
      <p:sp>
        <p:nvSpPr>
          <p:cNvPr id="136" name="Shape 134"/>
          <p:cNvSpPr/>
          <p:nvPr/>
        </p:nvSpPr>
        <p:spPr>
          <a:xfrm>
            <a:off x="9041765" y="6413077"/>
            <a:ext cx="1657033" cy="9525"/>
          </a:xfrm>
          <a:prstGeom prst="rect">
            <a:avLst/>
          </a:prstGeom>
          <a:solidFill>
            <a:srgbClr val="2A3350"/>
          </a:solidFill>
          <a:ln/>
        </p:spPr>
      </p:sp>
      <p:sp>
        <p:nvSpPr>
          <p:cNvPr id="137" name="Text 135"/>
          <p:cNvSpPr/>
          <p:nvPr/>
        </p:nvSpPr>
        <p:spPr>
          <a:xfrm>
            <a:off x="1378744" y="8424439"/>
            <a:ext cx="9599655" cy="156951"/>
          </a:xfrm>
          <a:prstGeom prst="rect">
            <a:avLst/>
          </a:prstGeom>
          <a:noFill/>
          <a:ln/>
        </p:spPr>
        <p:txBody>
          <a:bodyPr wrap="square" lIns="25400" tIns="25400" rIns="25400" bIns="25400" rtlCol="0" anchor="t">
            <a:normAutofit/>
          </a:bodyPr>
          <a:lstStyle/>
          <a:p>
            <a:pPr algn="l" indent="0" marL="0">
              <a:lnSpc>
                <a:spcPct val="117000"/>
              </a:lnSpc>
              <a:buNone/>
            </a:pPr>
            <a:r>
              <a:rPr lang="en-US" sz="693" dirty="0">
                <a:solidFill>
                  <a:srgbClr val="8F9EC4"/>
                </a:solidFill>
                <a:latin typeface="Arial" pitchFamily="34" charset="0"/>
                <a:ea typeface="Arial" pitchFamily="34" charset="-122"/>
                <a:cs typeface="Arial" pitchFamily="34" charset="-120"/>
              </a:rPr>
              <a:t>Updated 14:22:07 · refreshes automatically</a:t>
            </a:r>
            <a:endParaRPr lang="en-US" sz="693" dirty="0"/>
          </a:p>
        </p:txBody>
      </p:sp>
      <p:sp>
        <p:nvSpPr>
          <p:cNvPr id="138" name="Text 136"/>
          <p:cNvSpPr/>
          <p:nvPr/>
        </p:nvSpPr>
        <p:spPr>
          <a:xfrm>
            <a:off x="11353800" y="32004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Round-major, lightest first</a:t>
            </a:r>
            <a:endParaRPr lang="en-US" sz="2550" dirty="0"/>
          </a:p>
        </p:txBody>
      </p:sp>
      <p:sp>
        <p:nvSpPr>
          <p:cNvPr id="139" name="Text 137"/>
          <p:cNvSpPr/>
          <p:nvPr/>
        </p:nvSpPr>
        <p:spPr>
          <a:xfrm>
            <a:off x="11353800" y="3696811"/>
            <a:ext cx="596493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Every first-round bout across all classes, then every second round — so classes progress together, and an athlete's own bouts fall apart naturally. Classes are ordered by kilograms, not by text.</a:t>
            </a:r>
            <a:endParaRPr lang="en-US" sz="2100" dirty="0"/>
          </a:p>
        </p:txBody>
      </p:sp>
      <p:sp>
        <p:nvSpPr>
          <p:cNvPr id="140" name="Text 138"/>
          <p:cNvSpPr/>
          <p:nvPr/>
        </p:nvSpPr>
        <p:spPr>
          <a:xfrm>
            <a:off x="11353800" y="61722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Two guarantees, both tested</a:t>
            </a:r>
            <a:endParaRPr lang="en-US" sz="2550" dirty="0"/>
          </a:p>
        </p:txBody>
      </p:sp>
      <p:sp>
        <p:nvSpPr>
          <p:cNvPr id="141" name="Text 139"/>
          <p:cNvSpPr/>
          <p:nvPr/>
        </p:nvSpPr>
        <p:spPr>
          <a:xfrm>
            <a:off x="11353800" y="6668612"/>
            <a:ext cx="596493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A bout is always numbered after both bouts that feed it, with a minimum gap of three between them. Where a draw is too small to give that rest, the shortfall is reported so organisers can schedule a break.</a:t>
            </a:r>
            <a:endParaRPr lang="en-US" sz="2100" dirty="0"/>
          </a:p>
        </p:txBody>
      </p:sp>
      <p:pic>
        <p:nvPicPr>
          <p:cNvPr id="142"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02 · THE RULES</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Match calls</a:t>
            </a:r>
            <a:endParaRPr lang="en-US" sz="4800" dirty="0"/>
          </a:p>
        </p:txBody>
      </p:sp>
      <p:sp>
        <p:nvSpPr>
          <p:cNvPr id="4" name="Shape 2"/>
          <p:cNvSpPr/>
          <p:nvPr/>
        </p:nvSpPr>
        <p:spPr>
          <a:xfrm>
            <a:off x="1143000" y="3848100"/>
            <a:ext cx="1801178" cy="19050"/>
          </a:xfrm>
          <a:prstGeom prst="rect">
            <a:avLst/>
          </a:prstGeom>
          <a:solidFill>
            <a:srgbClr val="201E1D">
              <a:alpha val="40000"/>
            </a:srgbClr>
          </a:solidFill>
          <a:ln/>
        </p:spPr>
      </p:sp>
      <p:sp>
        <p:nvSpPr>
          <p:cNvPr id="5" name="Text 3"/>
          <p:cNvSpPr/>
          <p:nvPr/>
        </p:nvSpPr>
        <p:spPr>
          <a:xfrm>
            <a:off x="1143000" y="3200400"/>
            <a:ext cx="1648778" cy="685800"/>
          </a:xfrm>
          <a:prstGeom prst="rect">
            <a:avLst/>
          </a:prstGeom>
          <a:noFill/>
          <a:ln/>
        </p:spPr>
        <p:txBody>
          <a:bodyPr wrap="square" lIns="25400" tIns="25400" rIns="25400" bIns="25400" rtlCol="0" anchor="ctr">
            <a:normAutofit/>
          </a:bodyPr>
          <a:lstStyle/>
          <a:p>
            <a:pPr algn="l" indent="0" marL="0">
              <a:lnSpc>
                <a:spcPct val="107143"/>
              </a:lnSpc>
              <a:buNone/>
            </a:pPr>
            <a:r>
              <a:rPr lang="en-US" sz="1800" b="1" spc="144" kern="0" dirty="0">
                <a:solidFill>
                  <a:srgbClr val="201E1D">
                    <a:alpha val="60000"/>
                  </a:srgbClr>
                </a:solidFill>
                <a:latin typeface="Arial" pitchFamily="34" charset="0"/>
                <a:ea typeface="Arial" pitchFamily="34" charset="-122"/>
                <a:cs typeface="Arial" pitchFamily="34" charset="-120"/>
              </a:rPr>
              <a:t>CALL</a:t>
            </a:r>
            <a:endParaRPr lang="en-US" sz="1800" dirty="0"/>
          </a:p>
        </p:txBody>
      </p:sp>
      <p:sp>
        <p:nvSpPr>
          <p:cNvPr id="6" name="Shape 4"/>
          <p:cNvSpPr/>
          <p:nvPr/>
        </p:nvSpPr>
        <p:spPr>
          <a:xfrm>
            <a:off x="2944178" y="3848100"/>
            <a:ext cx="13057823" cy="19050"/>
          </a:xfrm>
          <a:prstGeom prst="rect">
            <a:avLst/>
          </a:prstGeom>
          <a:solidFill>
            <a:srgbClr val="201E1D">
              <a:alpha val="40000"/>
            </a:srgbClr>
          </a:solidFill>
          <a:ln/>
        </p:spPr>
      </p:sp>
      <p:sp>
        <p:nvSpPr>
          <p:cNvPr id="7" name="Text 5"/>
          <p:cNvSpPr/>
          <p:nvPr/>
        </p:nvSpPr>
        <p:spPr>
          <a:xfrm>
            <a:off x="3172778" y="3200400"/>
            <a:ext cx="13220957" cy="685800"/>
          </a:xfrm>
          <a:prstGeom prst="rect">
            <a:avLst/>
          </a:prstGeom>
          <a:noFill/>
          <a:ln/>
        </p:spPr>
        <p:txBody>
          <a:bodyPr wrap="square" lIns="25400" tIns="25400" rIns="25400" bIns="25400" rtlCol="0" anchor="ctr">
            <a:normAutofit/>
          </a:bodyPr>
          <a:lstStyle/>
          <a:p>
            <a:pPr algn="l" indent="0" marL="0">
              <a:lnSpc>
                <a:spcPct val="107143"/>
              </a:lnSpc>
              <a:buNone/>
            </a:pPr>
            <a:r>
              <a:rPr lang="en-US" sz="1800" b="1" spc="144" kern="0" dirty="0">
                <a:solidFill>
                  <a:srgbClr val="201E1D">
                    <a:alpha val="60000"/>
                  </a:srgbClr>
                </a:solidFill>
                <a:latin typeface="Arial" pitchFamily="34" charset="0"/>
                <a:ea typeface="Arial" pitchFamily="34" charset="-122"/>
                <a:cs typeface="Arial" pitchFamily="34" charset="-120"/>
              </a:rPr>
              <a:t>EFFECT</a:t>
            </a:r>
            <a:endParaRPr lang="en-US" sz="1800" dirty="0"/>
          </a:p>
        </p:txBody>
      </p:sp>
      <p:sp>
        <p:nvSpPr>
          <p:cNvPr id="8" name="Shape 6"/>
          <p:cNvSpPr/>
          <p:nvPr/>
        </p:nvSpPr>
        <p:spPr>
          <a:xfrm>
            <a:off x="1143000" y="4524375"/>
            <a:ext cx="1801178" cy="9525"/>
          </a:xfrm>
          <a:prstGeom prst="rect">
            <a:avLst/>
          </a:prstGeom>
          <a:solidFill>
            <a:srgbClr val="201E1D">
              <a:alpha val="40000"/>
            </a:srgbClr>
          </a:solidFill>
          <a:ln/>
        </p:spPr>
      </p:sp>
      <p:sp>
        <p:nvSpPr>
          <p:cNvPr id="9" name="Text 7"/>
          <p:cNvSpPr/>
          <p:nvPr/>
        </p:nvSpPr>
        <p:spPr>
          <a:xfrm>
            <a:off x="1143000" y="3867150"/>
            <a:ext cx="164877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Khalol</a:t>
            </a:r>
            <a:endParaRPr lang="en-US" sz="2175" dirty="0"/>
          </a:p>
        </p:txBody>
      </p:sp>
      <p:sp>
        <p:nvSpPr>
          <p:cNvPr id="10" name="Shape 8"/>
          <p:cNvSpPr/>
          <p:nvPr/>
        </p:nvSpPr>
        <p:spPr>
          <a:xfrm>
            <a:off x="2944178" y="4524375"/>
            <a:ext cx="13057823" cy="9525"/>
          </a:xfrm>
          <a:prstGeom prst="rect">
            <a:avLst/>
          </a:prstGeom>
          <a:solidFill>
            <a:srgbClr val="201E1D">
              <a:alpha val="40000"/>
            </a:srgbClr>
          </a:solidFill>
          <a:ln/>
        </p:spPr>
      </p:sp>
      <p:sp>
        <p:nvSpPr>
          <p:cNvPr id="11" name="Text 9"/>
          <p:cNvSpPr/>
          <p:nvPr/>
        </p:nvSpPr>
        <p:spPr>
          <a:xfrm>
            <a:off x="3172778" y="3867150"/>
            <a:ext cx="13220957"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Ends the contest</a:t>
            </a:r>
            <a:endParaRPr lang="en-US" sz="2175" dirty="0"/>
          </a:p>
        </p:txBody>
      </p:sp>
      <p:sp>
        <p:nvSpPr>
          <p:cNvPr id="12" name="Shape 10"/>
          <p:cNvSpPr/>
          <p:nvPr/>
        </p:nvSpPr>
        <p:spPr>
          <a:xfrm>
            <a:off x="1143000" y="5191125"/>
            <a:ext cx="1801178" cy="9525"/>
          </a:xfrm>
          <a:prstGeom prst="rect">
            <a:avLst/>
          </a:prstGeom>
          <a:solidFill>
            <a:srgbClr val="201E1D">
              <a:alpha val="40000"/>
            </a:srgbClr>
          </a:solidFill>
          <a:ln/>
        </p:spPr>
      </p:sp>
      <p:sp>
        <p:nvSpPr>
          <p:cNvPr id="13" name="Text 11"/>
          <p:cNvSpPr/>
          <p:nvPr/>
        </p:nvSpPr>
        <p:spPr>
          <a:xfrm>
            <a:off x="1143000" y="4533900"/>
            <a:ext cx="164877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Yonbosh</a:t>
            </a:r>
            <a:endParaRPr lang="en-US" sz="2175" dirty="0"/>
          </a:p>
        </p:txBody>
      </p:sp>
      <p:sp>
        <p:nvSpPr>
          <p:cNvPr id="14" name="Shape 12"/>
          <p:cNvSpPr/>
          <p:nvPr/>
        </p:nvSpPr>
        <p:spPr>
          <a:xfrm>
            <a:off x="2944178" y="5191125"/>
            <a:ext cx="13057823" cy="9525"/>
          </a:xfrm>
          <a:prstGeom prst="rect">
            <a:avLst/>
          </a:prstGeom>
          <a:solidFill>
            <a:srgbClr val="201E1D">
              <a:alpha val="40000"/>
            </a:srgbClr>
          </a:solidFill>
          <a:ln/>
        </p:spPr>
      </p:sp>
      <p:sp>
        <p:nvSpPr>
          <p:cNvPr id="15" name="Text 13"/>
          <p:cNvSpPr/>
          <p:nvPr/>
        </p:nvSpPr>
        <p:spPr>
          <a:xfrm>
            <a:off x="3172778" y="4533900"/>
            <a:ext cx="13220957"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Half a score; two make a khalol, however each was reached</a:t>
            </a:r>
            <a:endParaRPr lang="en-US" sz="2175" dirty="0"/>
          </a:p>
        </p:txBody>
      </p:sp>
      <p:sp>
        <p:nvSpPr>
          <p:cNvPr id="16" name="Shape 14"/>
          <p:cNvSpPr/>
          <p:nvPr/>
        </p:nvSpPr>
        <p:spPr>
          <a:xfrm>
            <a:off x="1143000" y="5857875"/>
            <a:ext cx="1801178" cy="9525"/>
          </a:xfrm>
          <a:prstGeom prst="rect">
            <a:avLst/>
          </a:prstGeom>
          <a:solidFill>
            <a:srgbClr val="201E1D">
              <a:alpha val="40000"/>
            </a:srgbClr>
          </a:solidFill>
          <a:ln/>
        </p:spPr>
      </p:sp>
      <p:sp>
        <p:nvSpPr>
          <p:cNvPr id="17" name="Text 15"/>
          <p:cNvSpPr/>
          <p:nvPr/>
        </p:nvSpPr>
        <p:spPr>
          <a:xfrm>
            <a:off x="1143000" y="5200650"/>
            <a:ext cx="164877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Chala</a:t>
            </a:r>
            <a:endParaRPr lang="en-US" sz="2175" dirty="0"/>
          </a:p>
        </p:txBody>
      </p:sp>
      <p:sp>
        <p:nvSpPr>
          <p:cNvPr id="18" name="Shape 16"/>
          <p:cNvSpPr/>
          <p:nvPr/>
        </p:nvSpPr>
        <p:spPr>
          <a:xfrm>
            <a:off x="2944178" y="5857875"/>
            <a:ext cx="13057823" cy="9525"/>
          </a:xfrm>
          <a:prstGeom prst="rect">
            <a:avLst/>
          </a:prstGeom>
          <a:solidFill>
            <a:srgbClr val="201E1D">
              <a:alpha val="40000"/>
            </a:srgbClr>
          </a:solidFill>
          <a:ln/>
        </p:spPr>
      </p:sp>
      <p:sp>
        <p:nvSpPr>
          <p:cNvPr id="19" name="Text 17"/>
          <p:cNvSpPr/>
          <p:nvPr/>
        </p:nvSpPr>
        <p:spPr>
          <a:xfrm>
            <a:off x="3172778" y="5200650"/>
            <a:ext cx="13220957"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The smallest score, and it never accumulates</a:t>
            </a:r>
            <a:endParaRPr lang="en-US" sz="2175" dirty="0"/>
          </a:p>
        </p:txBody>
      </p:sp>
      <p:sp>
        <p:nvSpPr>
          <p:cNvPr id="20" name="Shape 18"/>
          <p:cNvSpPr/>
          <p:nvPr/>
        </p:nvSpPr>
        <p:spPr>
          <a:xfrm>
            <a:off x="1143000" y="6524625"/>
            <a:ext cx="1801178" cy="9525"/>
          </a:xfrm>
          <a:prstGeom prst="rect">
            <a:avLst/>
          </a:prstGeom>
          <a:solidFill>
            <a:srgbClr val="201E1D">
              <a:alpha val="40000"/>
            </a:srgbClr>
          </a:solidFill>
          <a:ln/>
        </p:spPr>
      </p:sp>
      <p:sp>
        <p:nvSpPr>
          <p:cNvPr id="21" name="Text 19"/>
          <p:cNvSpPr/>
          <p:nvPr/>
        </p:nvSpPr>
        <p:spPr>
          <a:xfrm>
            <a:off x="1143000" y="5867400"/>
            <a:ext cx="164877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Tanbeh</a:t>
            </a:r>
            <a:endParaRPr lang="en-US" sz="2175" dirty="0"/>
          </a:p>
        </p:txBody>
      </p:sp>
      <p:sp>
        <p:nvSpPr>
          <p:cNvPr id="22" name="Shape 20"/>
          <p:cNvSpPr/>
          <p:nvPr/>
        </p:nvSpPr>
        <p:spPr>
          <a:xfrm>
            <a:off x="2944178" y="6524625"/>
            <a:ext cx="13057823" cy="9525"/>
          </a:xfrm>
          <a:prstGeom prst="rect">
            <a:avLst/>
          </a:prstGeom>
          <a:solidFill>
            <a:srgbClr val="201E1D">
              <a:alpha val="40000"/>
            </a:srgbClr>
          </a:solidFill>
          <a:ln/>
        </p:spPr>
      </p:sp>
      <p:sp>
        <p:nvSpPr>
          <p:cNvPr id="23" name="Text 21"/>
          <p:cNvSpPr/>
          <p:nvPr/>
        </p:nvSpPr>
        <p:spPr>
          <a:xfrm>
            <a:off x="3172778" y="5867400"/>
            <a:ext cx="13220957"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The opponent is given a chala</a:t>
            </a:r>
            <a:endParaRPr lang="en-US" sz="2175" dirty="0"/>
          </a:p>
        </p:txBody>
      </p:sp>
      <p:sp>
        <p:nvSpPr>
          <p:cNvPr id="24" name="Shape 22"/>
          <p:cNvSpPr/>
          <p:nvPr/>
        </p:nvSpPr>
        <p:spPr>
          <a:xfrm>
            <a:off x="1143000" y="7191375"/>
            <a:ext cx="1801178" cy="9525"/>
          </a:xfrm>
          <a:prstGeom prst="rect">
            <a:avLst/>
          </a:prstGeom>
          <a:solidFill>
            <a:srgbClr val="201E1D">
              <a:alpha val="40000"/>
            </a:srgbClr>
          </a:solidFill>
          <a:ln/>
        </p:spPr>
      </p:sp>
      <p:sp>
        <p:nvSpPr>
          <p:cNvPr id="25" name="Text 23"/>
          <p:cNvSpPr/>
          <p:nvPr/>
        </p:nvSpPr>
        <p:spPr>
          <a:xfrm>
            <a:off x="1143000" y="6534150"/>
            <a:ext cx="164877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Dakki</a:t>
            </a:r>
            <a:endParaRPr lang="en-US" sz="2175" dirty="0"/>
          </a:p>
        </p:txBody>
      </p:sp>
      <p:sp>
        <p:nvSpPr>
          <p:cNvPr id="26" name="Shape 24"/>
          <p:cNvSpPr/>
          <p:nvPr/>
        </p:nvSpPr>
        <p:spPr>
          <a:xfrm>
            <a:off x="2944178" y="7191375"/>
            <a:ext cx="13057823" cy="9525"/>
          </a:xfrm>
          <a:prstGeom prst="rect">
            <a:avLst/>
          </a:prstGeom>
          <a:solidFill>
            <a:srgbClr val="201E1D">
              <a:alpha val="40000"/>
            </a:srgbClr>
          </a:solidFill>
          <a:ln/>
        </p:spPr>
      </p:sp>
      <p:sp>
        <p:nvSpPr>
          <p:cNvPr id="27" name="Text 25"/>
          <p:cNvSpPr/>
          <p:nvPr/>
        </p:nvSpPr>
        <p:spPr>
          <a:xfrm>
            <a:off x="3172778" y="6534150"/>
            <a:ext cx="13220957"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The opponent is given a yonbosh; the superseded tanbeh’s chala is taken back</a:t>
            </a:r>
            <a:endParaRPr lang="en-US" sz="2175" dirty="0"/>
          </a:p>
        </p:txBody>
      </p:sp>
      <p:sp>
        <p:nvSpPr>
          <p:cNvPr id="28" name="Shape 26"/>
          <p:cNvSpPr/>
          <p:nvPr/>
        </p:nvSpPr>
        <p:spPr>
          <a:xfrm>
            <a:off x="1143000" y="7858125"/>
            <a:ext cx="1801178" cy="9525"/>
          </a:xfrm>
          <a:prstGeom prst="rect">
            <a:avLst/>
          </a:prstGeom>
          <a:solidFill>
            <a:srgbClr val="201E1D">
              <a:alpha val="40000"/>
            </a:srgbClr>
          </a:solidFill>
          <a:ln/>
        </p:spPr>
      </p:sp>
      <p:sp>
        <p:nvSpPr>
          <p:cNvPr id="29" name="Text 27"/>
          <p:cNvSpPr/>
          <p:nvPr/>
        </p:nvSpPr>
        <p:spPr>
          <a:xfrm>
            <a:off x="1143000" y="7200900"/>
            <a:ext cx="164877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Girrom</a:t>
            </a:r>
            <a:endParaRPr lang="en-US" sz="2175" dirty="0"/>
          </a:p>
        </p:txBody>
      </p:sp>
      <p:sp>
        <p:nvSpPr>
          <p:cNvPr id="30" name="Shape 28"/>
          <p:cNvSpPr/>
          <p:nvPr/>
        </p:nvSpPr>
        <p:spPr>
          <a:xfrm>
            <a:off x="2944178" y="7858125"/>
            <a:ext cx="13057823" cy="9525"/>
          </a:xfrm>
          <a:prstGeom prst="rect">
            <a:avLst/>
          </a:prstGeom>
          <a:solidFill>
            <a:srgbClr val="201E1D">
              <a:alpha val="40000"/>
            </a:srgbClr>
          </a:solidFill>
          <a:ln/>
        </p:spPr>
      </p:sp>
      <p:sp>
        <p:nvSpPr>
          <p:cNvPr id="31" name="Text 29"/>
          <p:cNvSpPr/>
          <p:nvPr/>
        </p:nvSpPr>
        <p:spPr>
          <a:xfrm>
            <a:off x="3172778" y="7200900"/>
            <a:ext cx="13220957"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The contest is awarded to the opponent on the spot</a:t>
            </a:r>
            <a:endParaRPr lang="en-US" sz="2175" dirty="0"/>
          </a:p>
        </p:txBody>
      </p:sp>
      <p:sp>
        <p:nvSpPr>
          <p:cNvPr id="32" name="Shape 30"/>
          <p:cNvSpPr/>
          <p:nvPr/>
        </p:nvSpPr>
        <p:spPr>
          <a:xfrm>
            <a:off x="1143000" y="8524875"/>
            <a:ext cx="1801178" cy="9525"/>
          </a:xfrm>
          <a:prstGeom prst="rect">
            <a:avLst/>
          </a:prstGeom>
          <a:solidFill>
            <a:srgbClr val="201E1D">
              <a:alpha val="40000"/>
            </a:srgbClr>
          </a:solidFill>
          <a:ln/>
        </p:spPr>
      </p:sp>
      <p:sp>
        <p:nvSpPr>
          <p:cNvPr id="33" name="Text 31"/>
          <p:cNvSpPr/>
          <p:nvPr/>
        </p:nvSpPr>
        <p:spPr>
          <a:xfrm>
            <a:off x="1143000" y="7867650"/>
            <a:ext cx="1648778"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Madichal</a:t>
            </a:r>
            <a:endParaRPr lang="en-US" sz="2175" dirty="0"/>
          </a:p>
        </p:txBody>
      </p:sp>
      <p:sp>
        <p:nvSpPr>
          <p:cNvPr id="34" name="Shape 32"/>
          <p:cNvSpPr/>
          <p:nvPr/>
        </p:nvSpPr>
        <p:spPr>
          <a:xfrm>
            <a:off x="2944178" y="8524875"/>
            <a:ext cx="13057823" cy="9525"/>
          </a:xfrm>
          <a:prstGeom prst="rect">
            <a:avLst/>
          </a:prstGeom>
          <a:solidFill>
            <a:srgbClr val="201E1D">
              <a:alpha val="40000"/>
            </a:srgbClr>
          </a:solidFill>
          <a:ln/>
        </p:spPr>
      </p:sp>
      <p:sp>
        <p:nvSpPr>
          <p:cNvPr id="35" name="Text 33"/>
          <p:cNvSpPr/>
          <p:nvPr/>
        </p:nvSpPr>
        <p:spPr>
          <a:xfrm>
            <a:off x="3172778" y="7867650"/>
            <a:ext cx="13220957" cy="695325"/>
          </a:xfrm>
          <a:prstGeom prst="rect">
            <a:avLst/>
          </a:prstGeom>
          <a:noFill/>
          <a:ln/>
        </p:spPr>
        <p:txBody>
          <a:bodyPr wrap="square" lIns="25400" tIns="25400" rIns="25400" bIns="25400" rtlCol="0" anchor="ctr">
            <a:normAutofit/>
          </a:bodyPr>
          <a:lstStyle/>
          <a:p>
            <a:pPr algn="l" indent="0" marL="0">
              <a:lnSpc>
                <a:spcPct val="106618"/>
              </a:lnSpc>
              <a:buNone/>
            </a:pPr>
            <a:r>
              <a:rPr lang="en-US" sz="2175" dirty="0">
                <a:solidFill>
                  <a:srgbClr val="201E1D"/>
                </a:solidFill>
                <a:latin typeface="Arial" pitchFamily="34" charset="0"/>
                <a:ea typeface="Arial" pitchFamily="34" charset="-122"/>
                <a:cs typeface="Arial" pitchFamily="34" charset="-120"/>
              </a:rPr>
              <a:t>Transfers nothing; the third one loses the contest</a:t>
            </a:r>
            <a:endParaRPr lang="en-US" sz="2175" dirty="0"/>
          </a:p>
        </p:txBody>
      </p:sp>
      <p:pic>
        <p:nvPicPr>
          <p:cNvPr id="36"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02 · THE RULES</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On the mat</a:t>
            </a:r>
            <a:endParaRPr lang="en-US" sz="4800" dirty="0"/>
          </a:p>
        </p:txBody>
      </p:sp>
      <p:sp>
        <p:nvSpPr>
          <p:cNvPr id="4" name="Shape 2"/>
          <p:cNvSpPr/>
          <p:nvPr/>
        </p:nvSpPr>
        <p:spPr>
          <a:xfrm>
            <a:off x="1143000" y="3200400"/>
            <a:ext cx="9753600" cy="5486400"/>
          </a:xfrm>
          <a:prstGeom prst="rect">
            <a:avLst/>
          </a:prstGeom>
          <a:solidFill>
            <a:srgbClr val="F6F8F7"/>
          </a:solidFill>
          <a:ln w="19050">
            <a:solidFill>
              <a:srgbClr val="201E1D">
                <a:alpha val="40000"/>
              </a:srgbClr>
            </a:solidFill>
            <a:prstDash val="solid"/>
          </a:ln>
        </p:spPr>
      </p:sp>
      <p:sp>
        <p:nvSpPr>
          <p:cNvPr id="5" name="Shape 3"/>
          <p:cNvSpPr/>
          <p:nvPr/>
        </p:nvSpPr>
        <p:spPr>
          <a:xfrm>
            <a:off x="1162050" y="3219450"/>
            <a:ext cx="9753600" cy="5486400"/>
          </a:xfrm>
          <a:prstGeom prst="rect">
            <a:avLst/>
          </a:prstGeom>
          <a:solidFill>
            <a:srgbClr val="F6F8F7"/>
          </a:solidFill>
          <a:ln/>
        </p:spPr>
      </p:sp>
      <p:sp>
        <p:nvSpPr>
          <p:cNvPr id="6" name="Shape 4"/>
          <p:cNvSpPr/>
          <p:nvPr/>
        </p:nvSpPr>
        <p:spPr>
          <a:xfrm>
            <a:off x="1162050" y="3219450"/>
            <a:ext cx="1788160" cy="5486400"/>
          </a:xfrm>
          <a:custGeom>
            <a:avLst/>
            <a:gdLst/>
            <a:ahLst/>
            <a:cxnLst/>
            <a:rect l="l" t="t" r="r" b="b"/>
            <a:pathLst>
              <a:path w="1788160" h="5486400">
                <a:moveTo>
                  <a:pt x="0" y="0"/>
                </a:moveTo>
                <a:lnTo>
                  <a:pt x="1666240" y="0"/>
                </a:lnTo>
                <a:arcTo hR="121920" wR="121920" stAng="16200000" swAng="5400000"/>
                <a:lnTo>
                  <a:pt x="1788160" y="5364480"/>
                </a:lnTo>
                <a:arcTo hR="121920" wR="121920" stAng="0" swAng="5400000"/>
                <a:lnTo>
                  <a:pt x="0" y="5486400"/>
                </a:lnTo>
                <a:lnTo>
                  <a:pt x="0" y="0"/>
                </a:lnTo>
                <a:close/>
              </a:path>
            </a:pathLst>
          </a:custGeom>
          <a:solidFill>
            <a:srgbClr val="DCEBE2"/>
          </a:solidFill>
          <a:ln/>
        </p:spPr>
      </p:sp>
      <p:sp>
        <p:nvSpPr>
          <p:cNvPr id="7" name="Shape 5"/>
          <p:cNvSpPr/>
          <p:nvPr/>
        </p:nvSpPr>
        <p:spPr>
          <a:xfrm>
            <a:off x="2943437" y="3219450"/>
            <a:ext cx="9525" cy="5486400"/>
          </a:xfrm>
          <a:prstGeom prst="rect">
            <a:avLst/>
          </a:prstGeom>
          <a:solidFill>
            <a:srgbClr val="C4D9CB"/>
          </a:solidFill>
          <a:ln/>
        </p:spPr>
      </p:sp>
      <p:sp>
        <p:nvSpPr>
          <p:cNvPr id="8" name="Shape 6"/>
          <p:cNvSpPr/>
          <p:nvPr/>
        </p:nvSpPr>
        <p:spPr>
          <a:xfrm>
            <a:off x="1311116" y="3382010"/>
            <a:ext cx="284480" cy="284480"/>
          </a:xfrm>
          <a:prstGeom prst="roundRect">
            <a:avLst>
              <a:gd name="adj" fmla="val 28571"/>
            </a:avLst>
          </a:prstGeom>
          <a:solidFill>
            <a:srgbClr val="FFFFFF"/>
          </a:solidFill>
          <a:ln/>
          <a:effectLst>
            <a:outerShdw sx="100000" sy="100000" kx="0" ky="0" algn="bl" rotWithShape="0" blurRad="19050" dist="9525" dir="5400000">
              <a:srgbClr val="10211D">
                <a:alpha val="6000"/>
              </a:srgbClr>
            </a:outerShdw>
          </a:effectLst>
        </p:spPr>
      </p:sp>
      <p:sp>
        <p:nvSpPr>
          <p:cNvPr id="9" name="Text 7"/>
          <p:cNvSpPr/>
          <p:nvPr/>
        </p:nvSpPr>
        <p:spPr>
          <a:xfrm>
            <a:off x="1306830" y="3415824"/>
            <a:ext cx="292894" cy="254794"/>
          </a:xfrm>
          <a:prstGeom prst="rect">
            <a:avLst/>
          </a:prstGeom>
          <a:noFill/>
          <a:ln/>
        </p:spPr>
        <p:txBody>
          <a:bodyPr wrap="square" lIns="25400" tIns="25400" rIns="25400" bIns="25400" rtlCol="0" anchor="ctr">
            <a:normAutofit/>
          </a:bodyPr>
          <a:lstStyle/>
          <a:p>
            <a:pPr algn="ctr" indent="0" marL="0">
              <a:lnSpc>
                <a:spcPct val="131154"/>
              </a:lnSpc>
              <a:buNone/>
            </a:pPr>
            <a:r>
              <a:rPr lang="en-US" sz="587" b="1" dirty="0">
                <a:solidFill>
                  <a:srgbClr val="046830"/>
                </a:solidFill>
                <a:latin typeface="Arial" pitchFamily="34" charset="0"/>
                <a:ea typeface="Arial" pitchFamily="34" charset="-122"/>
                <a:cs typeface="Arial" pitchFamily="34" charset="-120"/>
              </a:rPr>
              <a:t>IKA</a:t>
            </a:r>
            <a:endParaRPr lang="en-US" sz="587" dirty="0"/>
          </a:p>
        </p:txBody>
      </p:sp>
      <p:sp>
        <p:nvSpPr>
          <p:cNvPr id="10" name="Text 8"/>
          <p:cNvSpPr/>
          <p:nvPr/>
        </p:nvSpPr>
        <p:spPr>
          <a:xfrm>
            <a:off x="1663224" y="3404553"/>
            <a:ext cx="1203008" cy="156686"/>
          </a:xfrm>
          <a:prstGeom prst="rect">
            <a:avLst/>
          </a:prstGeom>
          <a:noFill/>
          <a:ln/>
        </p:spPr>
        <p:txBody>
          <a:bodyPr wrap="square" lIns="25400" tIns="25400" rIns="25400" bIns="25400" rtlCol="0" anchor="t">
            <a:normAutofit/>
          </a:bodyPr>
          <a:lstStyle/>
          <a:p>
            <a:pPr algn="l" indent="0" marL="0">
              <a:lnSpc>
                <a:spcPct val="109375"/>
              </a:lnSpc>
              <a:buNone/>
            </a:pPr>
            <a:r>
              <a:rPr lang="en-US" sz="747" b="1" dirty="0">
                <a:solidFill>
                  <a:srgbClr val="12211A"/>
                </a:solidFill>
                <a:latin typeface="Arial" pitchFamily="34" charset="0"/>
                <a:ea typeface="Arial" pitchFamily="34" charset="-122"/>
                <a:cs typeface="Arial" pitchFamily="34" charset="-120"/>
              </a:rPr>
              <a:t>IKA Manager</a:t>
            </a:r>
            <a:endParaRPr lang="en-US" sz="747" dirty="0"/>
          </a:p>
        </p:txBody>
      </p:sp>
      <p:sp>
        <p:nvSpPr>
          <p:cNvPr id="11" name="Text 9"/>
          <p:cNvSpPr/>
          <p:nvPr/>
        </p:nvSpPr>
        <p:spPr>
          <a:xfrm>
            <a:off x="1663224" y="3523139"/>
            <a:ext cx="1203008" cy="158750"/>
          </a:xfrm>
          <a:prstGeom prst="rect">
            <a:avLst/>
          </a:prstGeom>
          <a:noFill/>
          <a:ln/>
        </p:spPr>
        <p:txBody>
          <a:bodyPr wrap="square" lIns="25400" tIns="25400" rIns="25400" bIns="25400" rtlCol="0" anchor="t">
            <a:normAutofit/>
          </a:bodyPr>
          <a:lstStyle/>
          <a:p>
            <a:pPr algn="l" indent="0" marL="0">
              <a:lnSpc>
                <a:spcPct val="127262"/>
              </a:lnSpc>
              <a:buNone/>
            </a:pPr>
            <a:r>
              <a:rPr lang="en-US" sz="613" dirty="0">
                <a:solidFill>
                  <a:srgbClr val="4F6559"/>
                </a:solidFill>
                <a:latin typeface="Arial" pitchFamily="34" charset="0"/>
                <a:ea typeface="Arial" pitchFamily="34" charset="-122"/>
                <a:cs typeface="Arial" pitchFamily="34" charset="-120"/>
              </a:rPr>
              <a:t>International Kurash Association</a:t>
            </a:r>
            <a:endParaRPr lang="en-US" sz="613" dirty="0"/>
          </a:p>
        </p:txBody>
      </p:sp>
      <p:sp>
        <p:nvSpPr>
          <p:cNvPr id="12" name="Text 10"/>
          <p:cNvSpPr/>
          <p:nvPr/>
        </p:nvSpPr>
        <p:spPr>
          <a:xfrm>
            <a:off x="1351703" y="3856143"/>
            <a:ext cx="1478227" cy="153564"/>
          </a:xfrm>
          <a:prstGeom prst="rect">
            <a:avLst/>
          </a:prstGeom>
          <a:noFill/>
          <a:ln/>
        </p:spPr>
        <p:txBody>
          <a:bodyPr wrap="square" lIns="25400" tIns="25400" rIns="25400" bIns="25400" rtlCol="0" anchor="t">
            <a:normAutofit/>
          </a:bodyPr>
          <a:lstStyle/>
          <a:p>
            <a:pPr algn="l" indent="0" marL="0">
              <a:lnSpc>
                <a:spcPct val="131154"/>
              </a:lnSpc>
              <a:buNone/>
            </a:pPr>
            <a:r>
              <a:rPr lang="en-US" sz="587" b="1" spc="29" kern="0" dirty="0">
                <a:solidFill>
                  <a:srgbClr val="4F6559"/>
                </a:solidFill>
                <a:latin typeface="Arial" pitchFamily="34" charset="0"/>
                <a:ea typeface="Arial" pitchFamily="34" charset="-122"/>
                <a:cs typeface="Arial" pitchFamily="34" charset="-120"/>
              </a:rPr>
              <a:t>PLATFORM</a:t>
            </a:r>
            <a:endParaRPr lang="en-US" sz="587" dirty="0"/>
          </a:p>
        </p:txBody>
      </p:sp>
      <p:sp>
        <p:nvSpPr>
          <p:cNvPr id="13" name="Text 11"/>
          <p:cNvSpPr/>
          <p:nvPr/>
        </p:nvSpPr>
        <p:spPr>
          <a:xfrm>
            <a:off x="1351756" y="4107021"/>
            <a:ext cx="530225"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Dashboard</a:t>
            </a:r>
            <a:endParaRPr lang="en-US" sz="720" dirty="0"/>
          </a:p>
        </p:txBody>
      </p:sp>
      <p:sp>
        <p:nvSpPr>
          <p:cNvPr id="14" name="Text 12"/>
          <p:cNvSpPr/>
          <p:nvPr/>
        </p:nvSpPr>
        <p:spPr>
          <a:xfrm>
            <a:off x="1351756" y="4411504"/>
            <a:ext cx="710406"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Championships</a:t>
            </a:r>
            <a:endParaRPr lang="en-US" sz="720" dirty="0"/>
          </a:p>
        </p:txBody>
      </p:sp>
      <p:sp>
        <p:nvSpPr>
          <p:cNvPr id="15" name="Text 13"/>
          <p:cNvSpPr/>
          <p:nvPr/>
        </p:nvSpPr>
        <p:spPr>
          <a:xfrm>
            <a:off x="1351756" y="4715828"/>
            <a:ext cx="391001"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Archive</a:t>
            </a:r>
            <a:endParaRPr lang="en-US" sz="720" dirty="0"/>
          </a:p>
        </p:txBody>
      </p:sp>
      <p:sp>
        <p:nvSpPr>
          <p:cNvPr id="16" name="Text 14"/>
          <p:cNvSpPr/>
          <p:nvPr/>
        </p:nvSpPr>
        <p:spPr>
          <a:xfrm>
            <a:off x="1351756" y="5020469"/>
            <a:ext cx="796290"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Draws to present</a:t>
            </a:r>
            <a:endParaRPr lang="en-US" sz="720" dirty="0"/>
          </a:p>
        </p:txBody>
      </p:sp>
      <p:sp>
        <p:nvSpPr>
          <p:cNvPr id="17" name="Shape 15"/>
          <p:cNvSpPr/>
          <p:nvPr/>
        </p:nvSpPr>
        <p:spPr>
          <a:xfrm>
            <a:off x="2603341" y="5020151"/>
            <a:ext cx="150336" cy="142557"/>
          </a:xfrm>
          <a:prstGeom prst="ellipse">
            <a:avLst/>
          </a:prstGeom>
          <a:solidFill>
            <a:srgbClr val="019A44">
              <a:alpha val="16000"/>
            </a:srgbClr>
          </a:solidFill>
          <a:ln/>
        </p:spPr>
      </p:sp>
      <p:sp>
        <p:nvSpPr>
          <p:cNvPr id="18" name="Text 16"/>
          <p:cNvSpPr/>
          <p:nvPr/>
        </p:nvSpPr>
        <p:spPr>
          <a:xfrm>
            <a:off x="2657528" y="5033698"/>
            <a:ext cx="118163" cy="153564"/>
          </a:xfrm>
          <a:prstGeom prst="rect">
            <a:avLst/>
          </a:prstGeom>
          <a:noFill/>
          <a:ln/>
        </p:spPr>
        <p:txBody>
          <a:bodyPr wrap="square" lIns="25400" tIns="25400" rIns="25400" bIns="25400" rtlCol="0" anchor="t">
            <a:normAutofit/>
          </a:bodyPr>
          <a:lstStyle/>
          <a:p>
            <a:pPr algn="l" indent="0" marL="0">
              <a:lnSpc>
                <a:spcPct val="131154"/>
              </a:lnSpc>
              <a:buNone/>
            </a:pPr>
            <a:r>
              <a:rPr lang="en-US" sz="587" b="1" dirty="0">
                <a:solidFill>
                  <a:srgbClr val="04331A"/>
                </a:solidFill>
                <a:latin typeface="Arial" pitchFamily="34" charset="0"/>
                <a:ea typeface="Arial" pitchFamily="34" charset="-122"/>
                <a:cs typeface="Arial" pitchFamily="34" charset="-120"/>
              </a:rPr>
              <a:t>4</a:t>
            </a:r>
            <a:endParaRPr lang="en-US" sz="587" dirty="0"/>
          </a:p>
        </p:txBody>
      </p:sp>
      <p:sp>
        <p:nvSpPr>
          <p:cNvPr id="19" name="Text 17"/>
          <p:cNvSpPr/>
          <p:nvPr/>
        </p:nvSpPr>
        <p:spPr>
          <a:xfrm>
            <a:off x="1351703" y="5325216"/>
            <a:ext cx="1478227" cy="153564"/>
          </a:xfrm>
          <a:prstGeom prst="rect">
            <a:avLst/>
          </a:prstGeom>
          <a:noFill/>
          <a:ln/>
        </p:spPr>
        <p:txBody>
          <a:bodyPr wrap="square" lIns="25400" tIns="25400" rIns="25400" bIns="25400" rtlCol="0" anchor="t">
            <a:normAutofit/>
          </a:bodyPr>
          <a:lstStyle/>
          <a:p>
            <a:pPr algn="l" indent="0" marL="0">
              <a:lnSpc>
                <a:spcPct val="131154"/>
              </a:lnSpc>
              <a:buNone/>
            </a:pPr>
            <a:r>
              <a:rPr lang="en-US" sz="587" b="1" spc="29" kern="0" dirty="0">
                <a:solidFill>
                  <a:srgbClr val="4F6559"/>
                </a:solidFill>
                <a:latin typeface="Arial" pitchFamily="34" charset="0"/>
                <a:ea typeface="Arial" pitchFamily="34" charset="-122"/>
                <a:cs typeface="Arial" pitchFamily="34" charset="-120"/>
              </a:rPr>
              <a:t>ASIAN KURASH CHAMPIONSHIP 20…</a:t>
            </a:r>
            <a:endParaRPr lang="en-US" sz="587" dirty="0"/>
          </a:p>
        </p:txBody>
      </p:sp>
      <p:sp>
        <p:nvSpPr>
          <p:cNvPr id="20" name="Text 18"/>
          <p:cNvSpPr/>
          <p:nvPr/>
        </p:nvSpPr>
        <p:spPr>
          <a:xfrm>
            <a:off x="1351756" y="5576253"/>
            <a:ext cx="529590"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Categories</a:t>
            </a:r>
            <a:endParaRPr lang="en-US" sz="720" dirty="0"/>
          </a:p>
        </p:txBody>
      </p:sp>
      <p:sp>
        <p:nvSpPr>
          <p:cNvPr id="21" name="Text 19"/>
          <p:cNvSpPr/>
          <p:nvPr/>
        </p:nvSpPr>
        <p:spPr>
          <a:xfrm>
            <a:off x="1351756" y="5880576"/>
            <a:ext cx="931862"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Athlete Registration</a:t>
            </a:r>
            <a:endParaRPr lang="en-US" sz="720" dirty="0"/>
          </a:p>
        </p:txBody>
      </p:sp>
      <p:sp>
        <p:nvSpPr>
          <p:cNvPr id="22" name="Text 20"/>
          <p:cNvSpPr/>
          <p:nvPr/>
        </p:nvSpPr>
        <p:spPr>
          <a:xfrm>
            <a:off x="1351756" y="6184900"/>
            <a:ext cx="685165"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Weigh-in Form</a:t>
            </a:r>
            <a:endParaRPr lang="en-US" sz="720" dirty="0"/>
          </a:p>
        </p:txBody>
      </p:sp>
      <p:sp>
        <p:nvSpPr>
          <p:cNvPr id="23" name="Text 21"/>
          <p:cNvSpPr/>
          <p:nvPr/>
        </p:nvSpPr>
        <p:spPr>
          <a:xfrm>
            <a:off x="1351756" y="6489224"/>
            <a:ext cx="789622"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Entries and Draw</a:t>
            </a:r>
            <a:endParaRPr lang="en-US" sz="720" dirty="0"/>
          </a:p>
        </p:txBody>
      </p:sp>
      <p:sp>
        <p:nvSpPr>
          <p:cNvPr id="24" name="Text 22"/>
          <p:cNvSpPr/>
          <p:nvPr/>
        </p:nvSpPr>
        <p:spPr>
          <a:xfrm>
            <a:off x="1351756" y="6793548"/>
            <a:ext cx="398780"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Bracket</a:t>
            </a:r>
            <a:endParaRPr lang="en-US" sz="720" dirty="0"/>
          </a:p>
        </p:txBody>
      </p:sp>
      <p:sp>
        <p:nvSpPr>
          <p:cNvPr id="25" name="Text 23"/>
          <p:cNvSpPr/>
          <p:nvPr/>
        </p:nvSpPr>
        <p:spPr>
          <a:xfrm>
            <a:off x="1351756" y="7098030"/>
            <a:ext cx="562769"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Fight Order</a:t>
            </a:r>
            <a:endParaRPr lang="en-US" sz="720" dirty="0"/>
          </a:p>
        </p:txBody>
      </p:sp>
      <p:sp>
        <p:nvSpPr>
          <p:cNvPr id="26" name="Shape 24"/>
          <p:cNvSpPr/>
          <p:nvPr/>
        </p:nvSpPr>
        <p:spPr>
          <a:xfrm>
            <a:off x="1243330" y="7334567"/>
            <a:ext cx="1618774" cy="277177"/>
          </a:xfrm>
          <a:prstGeom prst="roundRect">
            <a:avLst>
              <a:gd name="adj" fmla="val 50000"/>
            </a:avLst>
          </a:prstGeom>
          <a:solidFill>
            <a:srgbClr val="019A44">
              <a:alpha val="16000"/>
            </a:srgbClr>
          </a:solidFill>
          <a:ln/>
        </p:spPr>
      </p:sp>
      <p:sp>
        <p:nvSpPr>
          <p:cNvPr id="27" name="Text 25"/>
          <p:cNvSpPr/>
          <p:nvPr/>
        </p:nvSpPr>
        <p:spPr>
          <a:xfrm>
            <a:off x="1351756" y="7402354"/>
            <a:ext cx="286385"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b="1" dirty="0">
                <a:solidFill>
                  <a:srgbClr val="04331A"/>
                </a:solidFill>
                <a:latin typeface="Arial" pitchFamily="34" charset="0"/>
                <a:ea typeface="Arial" pitchFamily="34" charset="-122"/>
                <a:cs typeface="Arial" pitchFamily="34" charset="-120"/>
              </a:rPr>
              <a:t>Mats</a:t>
            </a:r>
            <a:endParaRPr lang="en-US" sz="720" dirty="0"/>
          </a:p>
        </p:txBody>
      </p:sp>
      <p:sp>
        <p:nvSpPr>
          <p:cNvPr id="28" name="Text 26"/>
          <p:cNvSpPr/>
          <p:nvPr/>
        </p:nvSpPr>
        <p:spPr>
          <a:xfrm>
            <a:off x="1351756" y="7706677"/>
            <a:ext cx="882174" cy="179864"/>
          </a:xfrm>
          <a:prstGeom prst="rect">
            <a:avLst/>
          </a:prstGeom>
          <a:noFill/>
          <a:ln/>
        </p:spPr>
        <p:txBody>
          <a:bodyPr wrap="square" lIns="25400" tIns="25400" rIns="25400" bIns="25400" rtlCol="0" anchor="t">
            <a:normAutofit/>
          </a:bodyPr>
          <a:lstStyle/>
          <a:p>
            <a:pPr algn="l" indent="0" marL="0">
              <a:lnSpc>
                <a:spcPct val="130833"/>
              </a:lnSpc>
              <a:buNone/>
            </a:pPr>
            <a:r>
              <a:rPr lang="en-US" sz="720" dirty="0">
                <a:solidFill>
                  <a:srgbClr val="12211A"/>
                </a:solidFill>
                <a:latin typeface="Arial" pitchFamily="34" charset="0"/>
                <a:ea typeface="Arial" pitchFamily="34" charset="-122"/>
                <a:cs typeface="Arial" pitchFamily="34" charset="-120"/>
              </a:rPr>
              <a:t>Results and Medals</a:t>
            </a:r>
            <a:endParaRPr lang="en-US" sz="720" dirty="0"/>
          </a:p>
        </p:txBody>
      </p:sp>
      <p:sp>
        <p:nvSpPr>
          <p:cNvPr id="29" name="Shape 27"/>
          <p:cNvSpPr/>
          <p:nvPr/>
        </p:nvSpPr>
        <p:spPr>
          <a:xfrm>
            <a:off x="1351756" y="8008937"/>
            <a:ext cx="108426" cy="108426"/>
          </a:xfrm>
          <a:prstGeom prst="ellipse">
            <a:avLst/>
          </a:prstGeom>
          <a:ln w="6773">
            <a:solidFill>
              <a:srgbClr val="4F6559"/>
            </a:solidFill>
            <a:prstDash val="solid"/>
          </a:ln>
        </p:spPr>
      </p:sp>
      <p:sp>
        <p:nvSpPr>
          <p:cNvPr id="30" name="Text 28"/>
          <p:cNvSpPr/>
          <p:nvPr/>
        </p:nvSpPr>
        <p:spPr>
          <a:xfrm>
            <a:off x="1320430" y="8015711"/>
            <a:ext cx="171080" cy="132980"/>
          </a:xfrm>
          <a:prstGeom prst="rect">
            <a:avLst/>
          </a:prstGeom>
          <a:noFill/>
          <a:ln/>
        </p:spPr>
        <p:txBody>
          <a:bodyPr wrap="square" lIns="25400" tIns="25400" rIns="25400" bIns="25400" rtlCol="0" anchor="ctr">
            <a:normAutofit/>
          </a:bodyPr>
          <a:lstStyle/>
          <a:p>
            <a:pPr algn="ctr" indent="0" marL="0">
              <a:lnSpc>
                <a:spcPct val="119231"/>
              </a:lnSpc>
              <a:buNone/>
            </a:pPr>
            <a:r>
              <a:rPr lang="en-US" sz="533" b="1" dirty="0">
                <a:solidFill>
                  <a:srgbClr val="4F6559"/>
                </a:solidFill>
                <a:latin typeface="Arial" pitchFamily="34" charset="0"/>
                <a:ea typeface="Arial" pitchFamily="34" charset="-122"/>
                <a:cs typeface="Arial" pitchFamily="34" charset="-120"/>
              </a:rPr>
              <a:t>?</a:t>
            </a:r>
            <a:endParaRPr lang="en-US" sz="533" dirty="0"/>
          </a:p>
        </p:txBody>
      </p:sp>
      <p:sp>
        <p:nvSpPr>
          <p:cNvPr id="31" name="Text 29"/>
          <p:cNvSpPr/>
          <p:nvPr/>
        </p:nvSpPr>
        <p:spPr>
          <a:xfrm>
            <a:off x="1514316" y="7997507"/>
            <a:ext cx="257651" cy="169386"/>
          </a:xfrm>
          <a:prstGeom prst="rect">
            <a:avLst/>
          </a:prstGeom>
          <a:noFill/>
          <a:ln/>
        </p:spPr>
        <p:txBody>
          <a:bodyPr wrap="square" lIns="25400" tIns="25400" rIns="25400" bIns="25400" rtlCol="0" anchor="t">
            <a:normAutofit/>
          </a:bodyPr>
          <a:lstStyle/>
          <a:p>
            <a:pPr algn="l" indent="0" marL="0">
              <a:lnSpc>
                <a:spcPct val="129222"/>
              </a:lnSpc>
              <a:buNone/>
            </a:pPr>
            <a:r>
              <a:rPr lang="en-US" sz="667" dirty="0">
                <a:solidFill>
                  <a:srgbClr val="4F6559"/>
                </a:solidFill>
                <a:latin typeface="Arial" pitchFamily="34" charset="0"/>
                <a:ea typeface="Arial" pitchFamily="34" charset="-122"/>
                <a:cs typeface="Arial" pitchFamily="34" charset="-120"/>
              </a:rPr>
              <a:t>Help</a:t>
            </a:r>
            <a:endParaRPr lang="en-US" sz="667" dirty="0"/>
          </a:p>
        </p:txBody>
      </p:sp>
      <p:sp>
        <p:nvSpPr>
          <p:cNvPr id="32" name="Shape 30"/>
          <p:cNvSpPr/>
          <p:nvPr/>
        </p:nvSpPr>
        <p:spPr>
          <a:xfrm>
            <a:off x="1243330" y="8264207"/>
            <a:ext cx="1618774" cy="397669"/>
          </a:xfrm>
          <a:prstGeom prst="roundRect">
            <a:avLst>
              <a:gd name="adj" fmla="val 20439"/>
            </a:avLst>
          </a:prstGeom>
          <a:solidFill>
            <a:srgbClr val="FFFFFF"/>
          </a:solidFill>
          <a:ln/>
          <a:effectLst>
            <a:outerShdw sx="100000" sy="100000" kx="0" ky="0" algn="bl" rotWithShape="0" blurRad="19050" dist="9525" dir="5400000">
              <a:srgbClr val="10211D">
                <a:alpha val="6000"/>
              </a:srgbClr>
            </a:outerShdw>
          </a:effectLst>
        </p:spPr>
      </p:sp>
      <p:sp>
        <p:nvSpPr>
          <p:cNvPr id="33" name="Shape 31"/>
          <p:cNvSpPr/>
          <p:nvPr/>
        </p:nvSpPr>
        <p:spPr>
          <a:xfrm>
            <a:off x="1324610" y="8354695"/>
            <a:ext cx="216694" cy="216694"/>
          </a:xfrm>
          <a:prstGeom prst="ellipse">
            <a:avLst/>
          </a:prstGeom>
          <a:solidFill>
            <a:srgbClr val="019A44"/>
          </a:solidFill>
          <a:ln/>
        </p:spPr>
      </p:sp>
      <p:sp>
        <p:nvSpPr>
          <p:cNvPr id="34" name="Text 32"/>
          <p:cNvSpPr/>
          <p:nvPr/>
        </p:nvSpPr>
        <p:spPr>
          <a:xfrm>
            <a:off x="1286510" y="8354695"/>
            <a:ext cx="292894" cy="254794"/>
          </a:xfrm>
          <a:prstGeom prst="rect">
            <a:avLst/>
          </a:prstGeom>
          <a:noFill/>
          <a:ln/>
        </p:spPr>
        <p:txBody>
          <a:bodyPr wrap="square" lIns="25400" tIns="25400" rIns="25400" bIns="25400" rtlCol="0" anchor="ctr">
            <a:normAutofit/>
          </a:bodyPr>
          <a:lstStyle/>
          <a:p>
            <a:pPr algn="ctr" indent="0" marL="0">
              <a:lnSpc>
                <a:spcPct val="134333"/>
              </a:lnSpc>
              <a:buNone/>
            </a:pPr>
            <a:r>
              <a:rPr lang="en-US" sz="693" b="1" dirty="0">
                <a:solidFill>
                  <a:srgbClr val="FFFFFF"/>
                </a:solidFill>
                <a:latin typeface="Arial" pitchFamily="34" charset="0"/>
                <a:ea typeface="Arial" pitchFamily="34" charset="-122"/>
                <a:cs typeface="Arial" pitchFamily="34" charset="-120"/>
              </a:rPr>
              <a:t>A</a:t>
            </a:r>
            <a:endParaRPr lang="en-US" sz="693" dirty="0"/>
          </a:p>
        </p:txBody>
      </p:sp>
      <p:sp>
        <p:nvSpPr>
          <p:cNvPr id="35" name="Text 33"/>
          <p:cNvSpPr/>
          <p:nvPr/>
        </p:nvSpPr>
        <p:spPr>
          <a:xfrm>
            <a:off x="1609090" y="8345488"/>
            <a:ext cx="624681" cy="152400"/>
          </a:xfrm>
          <a:prstGeom prst="rect">
            <a:avLst/>
          </a:prstGeom>
          <a:noFill/>
          <a:ln/>
        </p:spPr>
        <p:txBody>
          <a:bodyPr wrap="square" lIns="25400" tIns="25400" rIns="25400" bIns="25400" rtlCol="0" anchor="t">
            <a:normAutofit/>
          </a:bodyPr>
          <a:lstStyle/>
          <a:p>
            <a:pPr algn="l" indent="0" marL="0">
              <a:lnSpc>
                <a:spcPct val="105521"/>
              </a:lnSpc>
              <a:buNone/>
            </a:pPr>
            <a:r>
              <a:rPr lang="en-US" sz="720" b="1" dirty="0">
                <a:solidFill>
                  <a:srgbClr val="12211A"/>
                </a:solidFill>
                <a:latin typeface="Arial" pitchFamily="34" charset="0"/>
                <a:ea typeface="Arial" pitchFamily="34" charset="-122"/>
                <a:cs typeface="Arial" pitchFamily="34" charset="-120"/>
              </a:rPr>
              <a:t>Aziz Karimov</a:t>
            </a:r>
            <a:endParaRPr lang="en-US" sz="720" dirty="0"/>
          </a:p>
        </p:txBody>
      </p:sp>
      <p:sp>
        <p:nvSpPr>
          <p:cNvPr id="36" name="Text 34"/>
          <p:cNvSpPr/>
          <p:nvPr/>
        </p:nvSpPr>
        <p:spPr>
          <a:xfrm>
            <a:off x="1609090" y="8459788"/>
            <a:ext cx="624681" cy="158750"/>
          </a:xfrm>
          <a:prstGeom prst="rect">
            <a:avLst/>
          </a:prstGeom>
          <a:noFill/>
          <a:ln/>
        </p:spPr>
        <p:txBody>
          <a:bodyPr wrap="square" lIns="25400" tIns="25400" rIns="25400" bIns="25400" rtlCol="0" anchor="t">
            <a:normAutofit/>
          </a:bodyPr>
          <a:lstStyle/>
          <a:p>
            <a:pPr algn="l" indent="0" marL="0">
              <a:lnSpc>
                <a:spcPct val="127262"/>
              </a:lnSpc>
              <a:buNone/>
            </a:pPr>
            <a:r>
              <a:rPr lang="en-US" sz="613" dirty="0">
                <a:solidFill>
                  <a:srgbClr val="4F6559"/>
                </a:solidFill>
                <a:latin typeface="Arial" pitchFamily="34" charset="0"/>
                <a:ea typeface="Arial" pitchFamily="34" charset="-122"/>
                <a:cs typeface="Arial" pitchFamily="34" charset="-120"/>
              </a:rPr>
              <a:t>Admin</a:t>
            </a:r>
            <a:endParaRPr lang="en-US" sz="613" dirty="0"/>
          </a:p>
        </p:txBody>
      </p:sp>
      <p:sp>
        <p:nvSpPr>
          <p:cNvPr id="37" name="Text 35"/>
          <p:cNvSpPr/>
          <p:nvPr/>
        </p:nvSpPr>
        <p:spPr>
          <a:xfrm>
            <a:off x="3072130" y="3327876"/>
            <a:ext cx="675957"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Championships</a:t>
            </a:r>
            <a:endParaRPr lang="en-US" sz="693" dirty="0"/>
          </a:p>
        </p:txBody>
      </p:sp>
      <p:sp>
        <p:nvSpPr>
          <p:cNvPr id="38" name="Text 36"/>
          <p:cNvSpPr/>
          <p:nvPr/>
        </p:nvSpPr>
        <p:spPr>
          <a:xfrm>
            <a:off x="3726021" y="3327876"/>
            <a:ext cx="114300"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a:t>
            </a:r>
            <a:endParaRPr lang="en-US" sz="693" dirty="0"/>
          </a:p>
        </p:txBody>
      </p:sp>
      <p:sp>
        <p:nvSpPr>
          <p:cNvPr id="39" name="Text 37"/>
          <p:cNvSpPr/>
          <p:nvPr/>
        </p:nvSpPr>
        <p:spPr>
          <a:xfrm>
            <a:off x="3805079" y="3327876"/>
            <a:ext cx="1435418"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Asian Kurash Championship 2026</a:t>
            </a:r>
            <a:endParaRPr lang="en-US" sz="693" dirty="0"/>
          </a:p>
        </p:txBody>
      </p:sp>
      <p:sp>
        <p:nvSpPr>
          <p:cNvPr id="40" name="Text 38"/>
          <p:cNvSpPr/>
          <p:nvPr/>
        </p:nvSpPr>
        <p:spPr>
          <a:xfrm>
            <a:off x="5164138" y="3327876"/>
            <a:ext cx="114300"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a:t>
            </a:r>
            <a:endParaRPr lang="en-US" sz="693" dirty="0"/>
          </a:p>
        </p:txBody>
      </p:sp>
      <p:sp>
        <p:nvSpPr>
          <p:cNvPr id="41" name="Text 39"/>
          <p:cNvSpPr/>
          <p:nvPr/>
        </p:nvSpPr>
        <p:spPr>
          <a:xfrm>
            <a:off x="5243036" y="3327876"/>
            <a:ext cx="270986"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Mats</a:t>
            </a:r>
            <a:endParaRPr lang="en-US" sz="693" dirty="0"/>
          </a:p>
        </p:txBody>
      </p:sp>
      <p:sp>
        <p:nvSpPr>
          <p:cNvPr id="42" name="Text 40"/>
          <p:cNvSpPr/>
          <p:nvPr/>
        </p:nvSpPr>
        <p:spPr>
          <a:xfrm>
            <a:off x="5491956" y="3327876"/>
            <a:ext cx="114300"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65726C"/>
                </a:solidFill>
                <a:latin typeface="Arial" pitchFamily="34" charset="0"/>
                <a:ea typeface="Arial" pitchFamily="34" charset="-122"/>
                <a:cs typeface="Arial" pitchFamily="34" charset="-120"/>
              </a:rPr>
              <a:t>›</a:t>
            </a:r>
            <a:endParaRPr lang="en-US" sz="693" dirty="0"/>
          </a:p>
        </p:txBody>
      </p:sp>
      <p:sp>
        <p:nvSpPr>
          <p:cNvPr id="43" name="Text 41"/>
          <p:cNvSpPr/>
          <p:nvPr/>
        </p:nvSpPr>
        <p:spPr>
          <a:xfrm>
            <a:off x="5570855" y="3327876"/>
            <a:ext cx="308451"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b="1" dirty="0">
                <a:solidFill>
                  <a:srgbClr val="16211D"/>
                </a:solidFill>
                <a:latin typeface="Arial" pitchFamily="34" charset="0"/>
                <a:ea typeface="Arial" pitchFamily="34" charset="-122"/>
                <a:cs typeface="Arial" pitchFamily="34" charset="-120"/>
              </a:rPr>
              <a:t>Mat 2</a:t>
            </a:r>
            <a:endParaRPr lang="en-US" sz="693" dirty="0"/>
          </a:p>
        </p:txBody>
      </p:sp>
      <p:sp>
        <p:nvSpPr>
          <p:cNvPr id="44" name="Shape 42"/>
          <p:cNvSpPr/>
          <p:nvPr/>
        </p:nvSpPr>
        <p:spPr>
          <a:xfrm>
            <a:off x="3017996" y="3559175"/>
            <a:ext cx="1403032" cy="180181"/>
          </a:xfrm>
          <a:prstGeom prst="roundRect">
            <a:avLst>
              <a:gd name="adj" fmla="val 50000"/>
            </a:avLst>
          </a:prstGeom>
          <a:solidFill>
            <a:srgbClr val="F6F8F7"/>
          </a:solidFill>
          <a:ln/>
        </p:spPr>
      </p:sp>
      <p:sp>
        <p:nvSpPr>
          <p:cNvPr id="45" name="Text 43"/>
          <p:cNvSpPr/>
          <p:nvPr/>
        </p:nvSpPr>
        <p:spPr>
          <a:xfrm>
            <a:off x="3099276" y="3586269"/>
            <a:ext cx="1316672" cy="164094"/>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65726C"/>
                </a:solidFill>
                <a:latin typeface="Arial" pitchFamily="34" charset="0"/>
                <a:ea typeface="Arial" pitchFamily="34" charset="-122"/>
                <a:cs typeface="Arial" pitchFamily="34" charset="-120"/>
              </a:rPr>
              <a:t>Asian Kurash Championship 2026</a:t>
            </a:r>
            <a:endParaRPr lang="en-US" sz="640" dirty="0"/>
          </a:p>
        </p:txBody>
      </p:sp>
      <p:sp>
        <p:nvSpPr>
          <p:cNvPr id="46" name="Text 44"/>
          <p:cNvSpPr/>
          <p:nvPr/>
        </p:nvSpPr>
        <p:spPr>
          <a:xfrm>
            <a:off x="3017996" y="3806984"/>
            <a:ext cx="8523621" cy="281940"/>
          </a:xfrm>
          <a:prstGeom prst="rect">
            <a:avLst/>
          </a:prstGeom>
          <a:noFill/>
          <a:ln/>
        </p:spPr>
        <p:txBody>
          <a:bodyPr wrap="square" lIns="25400" tIns="25400" rIns="25400" bIns="25400" rtlCol="0" anchor="t">
            <a:normAutofit/>
          </a:bodyPr>
          <a:lstStyle/>
          <a:p>
            <a:pPr algn="l" indent="0" marL="0">
              <a:lnSpc>
                <a:spcPct val="102857"/>
              </a:lnSpc>
              <a:buNone/>
            </a:pPr>
            <a:r>
              <a:rPr lang="en-US" sz="1600" b="1" spc="-32" kern="0" dirty="0">
                <a:solidFill>
                  <a:srgbClr val="16211D"/>
                </a:solidFill>
                <a:latin typeface="Arial" pitchFamily="34" charset="0"/>
                <a:ea typeface="Arial" pitchFamily="34" charset="-122"/>
                <a:cs typeface="Arial" pitchFamily="34" charset="-120"/>
              </a:rPr>
              <a:t>Mat 2</a:t>
            </a:r>
            <a:endParaRPr lang="en-US" sz="1600" dirty="0"/>
          </a:p>
        </p:txBody>
      </p:sp>
      <p:sp>
        <p:nvSpPr>
          <p:cNvPr id="47" name="Text 45"/>
          <p:cNvSpPr/>
          <p:nvPr/>
        </p:nvSpPr>
        <p:spPr>
          <a:xfrm>
            <a:off x="3017996" y="4091464"/>
            <a:ext cx="8523621" cy="190341"/>
          </a:xfrm>
          <a:prstGeom prst="rect">
            <a:avLst/>
          </a:prstGeom>
          <a:noFill/>
          <a:ln/>
        </p:spPr>
        <p:txBody>
          <a:bodyPr wrap="square" lIns="25400" tIns="25400" rIns="25400" bIns="25400" rtlCol="0" anchor="t">
            <a:normAutofit/>
          </a:bodyPr>
          <a:lstStyle/>
          <a:p>
            <a:pPr algn="l" indent="0" marL="0">
              <a:lnSpc>
                <a:spcPct val="124815"/>
              </a:lnSpc>
              <a:buNone/>
            </a:pPr>
            <a:r>
              <a:rPr lang="en-US" sz="773" dirty="0">
                <a:solidFill>
                  <a:srgbClr val="65726C"/>
                </a:solidFill>
                <a:latin typeface="Arial" pitchFamily="34" charset="0"/>
                <a:ea typeface="Arial" pitchFamily="34" charset="-122"/>
                <a:cs typeface="Arial" pitchFamily="34" charset="-120"/>
              </a:rPr>
              <a:t>Khalol ends the contest. Two yonbosh make a khalol. Chala never adds up to one.</a:t>
            </a:r>
            <a:endParaRPr lang="en-US" sz="773" dirty="0"/>
          </a:p>
        </p:txBody>
      </p:sp>
      <p:sp>
        <p:nvSpPr>
          <p:cNvPr id="48" name="Shape 46"/>
          <p:cNvSpPr/>
          <p:nvPr/>
        </p:nvSpPr>
        <p:spPr>
          <a:xfrm>
            <a:off x="3017996" y="4352131"/>
            <a:ext cx="7748746" cy="2767330"/>
          </a:xfrm>
          <a:prstGeom prst="roundRect">
            <a:avLst>
              <a:gd name="adj" fmla="val 4406"/>
            </a:avLst>
          </a:prstGeom>
          <a:solidFill>
            <a:srgbClr val="FFFFFF"/>
          </a:solidFill>
          <a:ln/>
          <a:effectLst>
            <a:outerShdw sx="100000" sy="100000" kx="0" ky="0" algn="bl" rotWithShape="0" blurRad="152400" dist="38100" dir="5400000">
              <a:srgbClr val="10211D">
                <a:alpha val="7000"/>
              </a:srgbClr>
            </a:outerShdw>
          </a:effectLst>
        </p:spPr>
      </p:sp>
      <p:sp>
        <p:nvSpPr>
          <p:cNvPr id="49" name="Text 47"/>
          <p:cNvSpPr/>
          <p:nvPr/>
        </p:nvSpPr>
        <p:spPr>
          <a:xfrm>
            <a:off x="3180556" y="4487545"/>
            <a:ext cx="1873552" cy="189865"/>
          </a:xfrm>
          <a:prstGeom prst="rect">
            <a:avLst/>
          </a:prstGeom>
          <a:noFill/>
          <a:ln/>
        </p:spPr>
        <p:txBody>
          <a:bodyPr wrap="square" lIns="25400" tIns="25400" rIns="25400" bIns="25400" rtlCol="0" anchor="t">
            <a:normAutofit/>
          </a:bodyPr>
          <a:lstStyle/>
          <a:p>
            <a:pPr algn="l" indent="0" marL="0">
              <a:lnSpc>
                <a:spcPct val="93333"/>
              </a:lnSpc>
              <a:buNone/>
            </a:pPr>
            <a:r>
              <a:rPr lang="en-US" sz="1067" b="1" spc="-21" kern="0" dirty="0">
                <a:solidFill>
                  <a:srgbClr val="16211D"/>
                </a:solidFill>
                <a:latin typeface="Arial" pitchFamily="34" charset="0"/>
                <a:ea typeface="Arial" pitchFamily="34" charset="-122"/>
                <a:cs typeface="Arial" pitchFamily="34" charset="-120"/>
              </a:rPr>
              <a:t>Fight 41 · −60 kg Senior Men</a:t>
            </a:r>
            <a:endParaRPr lang="en-US" sz="1067" dirty="0"/>
          </a:p>
        </p:txBody>
      </p:sp>
      <p:sp>
        <p:nvSpPr>
          <p:cNvPr id="50" name="Text 48"/>
          <p:cNvSpPr/>
          <p:nvPr/>
        </p:nvSpPr>
        <p:spPr>
          <a:xfrm>
            <a:off x="3180556" y="4666297"/>
            <a:ext cx="1873552"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16211D">
                    <a:alpha val="55000"/>
                  </a:srgbClr>
                </a:solidFill>
                <a:latin typeface="Arial" pitchFamily="34" charset="0"/>
                <a:ea typeface="Arial" pitchFamily="34" charset="-122"/>
                <a:cs typeface="Arial" pitchFamily="34" charset="-120"/>
              </a:rPr>
              <a:t>Quarter-final</a:t>
            </a:r>
            <a:endParaRPr lang="en-US" sz="693" dirty="0"/>
          </a:p>
        </p:txBody>
      </p:sp>
      <p:sp>
        <p:nvSpPr>
          <p:cNvPr id="51" name="Shape 49"/>
          <p:cNvSpPr/>
          <p:nvPr/>
        </p:nvSpPr>
        <p:spPr>
          <a:xfrm>
            <a:off x="9108440" y="4494371"/>
            <a:ext cx="586740" cy="180181"/>
          </a:xfrm>
          <a:prstGeom prst="roundRect">
            <a:avLst>
              <a:gd name="adj" fmla="val 50000"/>
            </a:avLst>
          </a:prstGeom>
          <a:solidFill>
            <a:srgbClr val="E9F7EE"/>
          </a:solidFill>
          <a:ln/>
        </p:spPr>
      </p:sp>
      <p:sp>
        <p:nvSpPr>
          <p:cNvPr id="52" name="Text 50"/>
          <p:cNvSpPr/>
          <p:nvPr/>
        </p:nvSpPr>
        <p:spPr>
          <a:xfrm>
            <a:off x="9189720" y="4521465"/>
            <a:ext cx="500380" cy="164094"/>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046830"/>
                </a:solidFill>
                <a:latin typeface="Arial" pitchFamily="34" charset="0"/>
                <a:ea typeface="Arial" pitchFamily="34" charset="-122"/>
                <a:cs typeface="Arial" pitchFamily="34" charset="-120"/>
              </a:rPr>
              <a:t>On the mat</a:t>
            </a:r>
            <a:endParaRPr lang="en-US" sz="640" dirty="0"/>
          </a:p>
        </p:txBody>
      </p:sp>
      <p:sp>
        <p:nvSpPr>
          <p:cNvPr id="53" name="Text 51"/>
          <p:cNvSpPr/>
          <p:nvPr/>
        </p:nvSpPr>
        <p:spPr>
          <a:xfrm>
            <a:off x="9844247" y="4521412"/>
            <a:ext cx="754698" cy="164042"/>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65726C"/>
                </a:solidFill>
                <a:latin typeface="Arial" pitchFamily="34" charset="0"/>
                <a:ea typeface="Arial" pitchFamily="34" charset="-122"/>
                <a:cs typeface="Arial" pitchFamily="34" charset="-120"/>
              </a:rPr>
              <a:t>Take back last call</a:t>
            </a:r>
            <a:endParaRPr lang="en-US" sz="640" dirty="0"/>
          </a:p>
        </p:txBody>
      </p:sp>
      <p:sp>
        <p:nvSpPr>
          <p:cNvPr id="54" name="Shape 52"/>
          <p:cNvSpPr/>
          <p:nvPr/>
        </p:nvSpPr>
        <p:spPr>
          <a:xfrm>
            <a:off x="3017996" y="4911249"/>
            <a:ext cx="7748746" cy="9525"/>
          </a:xfrm>
          <a:prstGeom prst="rect">
            <a:avLst/>
          </a:prstGeom>
          <a:solidFill>
            <a:srgbClr val="E4EAE7"/>
          </a:solidFill>
          <a:ln/>
        </p:spPr>
      </p:sp>
      <p:sp>
        <p:nvSpPr>
          <p:cNvPr id="55" name="Shape 53"/>
          <p:cNvSpPr/>
          <p:nvPr/>
        </p:nvSpPr>
        <p:spPr>
          <a:xfrm>
            <a:off x="3017996" y="4917916"/>
            <a:ext cx="7748746" cy="2383473"/>
          </a:xfrm>
          <a:prstGeom prst="rect">
            <a:avLst/>
          </a:prstGeom>
          <a:solidFill>
            <a:srgbClr val="E4EAE7"/>
          </a:solidFill>
          <a:ln/>
        </p:spPr>
      </p:sp>
      <p:sp>
        <p:nvSpPr>
          <p:cNvPr id="56" name="Shape 54"/>
          <p:cNvSpPr/>
          <p:nvPr/>
        </p:nvSpPr>
        <p:spPr>
          <a:xfrm>
            <a:off x="3017996" y="4917916"/>
            <a:ext cx="3054826" cy="2383473"/>
          </a:xfrm>
          <a:prstGeom prst="rect">
            <a:avLst/>
          </a:prstGeom>
          <a:solidFill>
            <a:srgbClr val="1A9FD8">
              <a:alpha val="10000"/>
            </a:srgbClr>
          </a:solidFill>
          <a:ln/>
        </p:spPr>
      </p:sp>
      <p:sp>
        <p:nvSpPr>
          <p:cNvPr id="57" name="Shape 55"/>
          <p:cNvSpPr/>
          <p:nvPr/>
        </p:nvSpPr>
        <p:spPr>
          <a:xfrm>
            <a:off x="3153410" y="5082540"/>
            <a:ext cx="54134" cy="135414"/>
          </a:xfrm>
          <a:prstGeom prst="rect">
            <a:avLst/>
          </a:prstGeom>
          <a:solidFill>
            <a:srgbClr val="1A9FD8"/>
          </a:solidFill>
          <a:ln/>
        </p:spPr>
      </p:sp>
      <p:sp>
        <p:nvSpPr>
          <p:cNvPr id="58" name="Text 56"/>
          <p:cNvSpPr/>
          <p:nvPr/>
        </p:nvSpPr>
        <p:spPr>
          <a:xfrm>
            <a:off x="3261836" y="5086033"/>
            <a:ext cx="1016317" cy="166846"/>
          </a:xfrm>
          <a:prstGeom prst="rect">
            <a:avLst/>
          </a:prstGeom>
          <a:noFill/>
          <a:ln/>
        </p:spPr>
        <p:txBody>
          <a:bodyPr wrap="square" lIns="0" tIns="0" rIns="0" bIns="0" rtlCol="0" anchor="t">
            <a:normAutofit/>
          </a:bodyPr>
          <a:lstStyle/>
          <a:p>
            <a:pPr algn="l" indent="0" marL="0">
              <a:lnSpc>
                <a:spcPct val="130526"/>
              </a:lnSpc>
              <a:buNone/>
            </a:pPr>
            <a:r>
              <a:rPr lang="en-US" sz="853" b="1" spc="85" kern="0" dirty="0">
                <a:solidFill>
                  <a:srgbClr val="086690"/>
                </a:solidFill>
                <a:latin typeface="Arial" pitchFamily="34" charset="0"/>
                <a:ea typeface="Arial" pitchFamily="34" charset="-122"/>
                <a:cs typeface="Arial" pitchFamily="34" charset="-120"/>
              </a:rPr>
              <a:t>YAKHTAK BLUE</a:t>
            </a:r>
            <a:endParaRPr lang="en-US" sz="853" dirty="0"/>
          </a:p>
        </p:txBody>
      </p:sp>
      <p:sp>
        <p:nvSpPr>
          <p:cNvPr id="59" name="Shape 57"/>
          <p:cNvSpPr/>
          <p:nvPr/>
        </p:nvSpPr>
        <p:spPr>
          <a:xfrm>
            <a:off x="5438299" y="5053489"/>
            <a:ext cx="498951" cy="193675"/>
          </a:xfrm>
          <a:prstGeom prst="roundRect">
            <a:avLst>
              <a:gd name="adj" fmla="val 50000"/>
            </a:avLst>
          </a:prstGeom>
          <a:solidFill>
            <a:srgbClr val="086690"/>
          </a:solidFill>
          <a:ln w="6773">
            <a:solidFill>
              <a:srgbClr val="086690"/>
            </a:solidFill>
            <a:prstDash val="solid"/>
          </a:ln>
        </p:spPr>
      </p:sp>
      <p:sp>
        <p:nvSpPr>
          <p:cNvPr id="60" name="Text 58"/>
          <p:cNvSpPr/>
          <p:nvPr/>
        </p:nvSpPr>
        <p:spPr>
          <a:xfrm>
            <a:off x="5519579" y="5087355"/>
            <a:ext cx="412591" cy="164042"/>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FFFFFF"/>
                </a:solidFill>
                <a:latin typeface="Arial" pitchFamily="34" charset="0"/>
                <a:ea typeface="Arial" pitchFamily="34" charset="-122"/>
                <a:cs typeface="Arial" pitchFamily="34" charset="-120"/>
              </a:rPr>
              <a:t>Win Blue</a:t>
            </a:r>
            <a:endParaRPr lang="en-US" sz="640" dirty="0"/>
          </a:p>
        </p:txBody>
      </p:sp>
      <p:sp>
        <p:nvSpPr>
          <p:cNvPr id="61" name="Text 59"/>
          <p:cNvSpPr/>
          <p:nvPr/>
        </p:nvSpPr>
        <p:spPr>
          <a:xfrm>
            <a:off x="3153410" y="5355590"/>
            <a:ext cx="3062224" cy="290036"/>
          </a:xfrm>
          <a:prstGeom prst="rect">
            <a:avLst/>
          </a:prstGeom>
          <a:noFill/>
          <a:ln/>
        </p:spPr>
        <p:txBody>
          <a:bodyPr wrap="square" lIns="25400" tIns="25400" rIns="25400" bIns="25400" rtlCol="0" anchor="t">
            <a:normAutofit/>
          </a:bodyPr>
          <a:lstStyle/>
          <a:p>
            <a:pPr algn="l" indent="0" marL="0">
              <a:lnSpc>
                <a:spcPct val="132857"/>
              </a:lnSpc>
              <a:buNone/>
            </a:pPr>
            <a:r>
              <a:rPr lang="en-US" sz="1280" b="1" dirty="0">
                <a:solidFill>
                  <a:srgbClr val="16211D"/>
                </a:solidFill>
                <a:latin typeface="Arial" pitchFamily="34" charset="0"/>
                <a:ea typeface="Arial" pitchFamily="34" charset="-122"/>
                <a:cs typeface="Arial" pitchFamily="34" charset="-120"/>
              </a:rPr>
              <a:t>Abdullaev, Timur</a:t>
            </a:r>
            <a:endParaRPr lang="en-US" sz="1280" dirty="0"/>
          </a:p>
        </p:txBody>
      </p:sp>
      <p:sp>
        <p:nvSpPr>
          <p:cNvPr id="62" name="Text 60"/>
          <p:cNvSpPr/>
          <p:nvPr/>
        </p:nvSpPr>
        <p:spPr>
          <a:xfrm>
            <a:off x="3153410" y="5634672"/>
            <a:ext cx="3062224"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16211D">
                    <a:alpha val="55000"/>
                  </a:srgbClr>
                </a:solidFill>
                <a:latin typeface="Arial" pitchFamily="34" charset="0"/>
                <a:ea typeface="Arial" pitchFamily="34" charset="-122"/>
                <a:cs typeface="Arial" pitchFamily="34" charset="-120"/>
              </a:rPr>
              <a:t>UZB · draw 3</a:t>
            </a:r>
            <a:endParaRPr lang="en-US" sz="693" dirty="0"/>
          </a:p>
        </p:txBody>
      </p:sp>
      <p:sp>
        <p:nvSpPr>
          <p:cNvPr id="63" name="Shape 61"/>
          <p:cNvSpPr/>
          <p:nvPr/>
        </p:nvSpPr>
        <p:spPr>
          <a:xfrm>
            <a:off x="3153410" y="5879465"/>
            <a:ext cx="418783" cy="661353"/>
          </a:xfrm>
          <a:prstGeom prst="roundRect">
            <a:avLst>
              <a:gd name="adj" fmla="val 19409"/>
            </a:avLst>
          </a:prstGeom>
          <a:solidFill>
            <a:srgbClr val="C98A00">
              <a:alpha val="10000"/>
            </a:srgbClr>
          </a:solidFill>
          <a:ln w="6773">
            <a:solidFill>
              <a:srgbClr val="C98A00">
                <a:alpha val="45000"/>
              </a:srgbClr>
            </a:solidFill>
            <a:prstDash val="solid"/>
          </a:ln>
        </p:spPr>
      </p:sp>
      <p:sp>
        <p:nvSpPr>
          <p:cNvPr id="64" name="Text 62"/>
          <p:cNvSpPr/>
          <p:nvPr/>
        </p:nvSpPr>
        <p:spPr>
          <a:xfrm>
            <a:off x="3162776"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855A00"/>
                </a:solidFill>
                <a:latin typeface="Arial" pitchFamily="34" charset="0"/>
                <a:ea typeface="Arial" pitchFamily="34" charset="-122"/>
                <a:cs typeface="Arial" pitchFamily="34" charset="-120"/>
              </a:rPr>
              <a:t>1</a:t>
            </a:r>
            <a:endParaRPr lang="en-US" sz="1600" dirty="0"/>
          </a:p>
        </p:txBody>
      </p:sp>
      <p:sp>
        <p:nvSpPr>
          <p:cNvPr id="65" name="Text 63"/>
          <p:cNvSpPr/>
          <p:nvPr/>
        </p:nvSpPr>
        <p:spPr>
          <a:xfrm>
            <a:off x="3162776"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Y</a:t>
            </a:r>
            <a:endParaRPr lang="en-US" sz="587" dirty="0"/>
          </a:p>
        </p:txBody>
      </p:sp>
      <p:sp>
        <p:nvSpPr>
          <p:cNvPr id="66" name="Shape 64"/>
          <p:cNvSpPr/>
          <p:nvPr/>
        </p:nvSpPr>
        <p:spPr>
          <a:xfrm>
            <a:off x="3200876" y="6313329"/>
            <a:ext cx="324009" cy="166688"/>
          </a:xfrm>
          <a:prstGeom prst="roundRect">
            <a:avLst>
              <a:gd name="adj" fmla="val 24381"/>
            </a:avLst>
          </a:prstGeom>
          <a:ln w="6773">
            <a:solidFill>
              <a:srgbClr val="16211D">
                <a:alpha val="12000"/>
              </a:srgbClr>
            </a:solidFill>
            <a:prstDash val="solid"/>
          </a:ln>
        </p:spPr>
      </p:sp>
      <p:sp>
        <p:nvSpPr>
          <p:cNvPr id="67" name="Text 65"/>
          <p:cNvSpPr/>
          <p:nvPr/>
        </p:nvSpPr>
        <p:spPr>
          <a:xfrm>
            <a:off x="3169549"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68" name="Shape 66"/>
          <p:cNvSpPr/>
          <p:nvPr/>
        </p:nvSpPr>
        <p:spPr>
          <a:xfrm>
            <a:off x="3626485" y="5879465"/>
            <a:ext cx="418782" cy="661353"/>
          </a:xfrm>
          <a:prstGeom prst="roundRect">
            <a:avLst>
              <a:gd name="adj" fmla="val 19409"/>
            </a:avLst>
          </a:prstGeom>
          <a:solidFill>
            <a:srgbClr val="C98A00">
              <a:alpha val="10000"/>
            </a:srgbClr>
          </a:solidFill>
          <a:ln w="6773">
            <a:solidFill>
              <a:srgbClr val="C98A00">
                <a:alpha val="45000"/>
              </a:srgbClr>
            </a:solidFill>
            <a:prstDash val="solid"/>
          </a:ln>
        </p:spPr>
      </p:sp>
      <p:sp>
        <p:nvSpPr>
          <p:cNvPr id="69" name="Text 67"/>
          <p:cNvSpPr/>
          <p:nvPr/>
        </p:nvSpPr>
        <p:spPr>
          <a:xfrm>
            <a:off x="3635693"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855A00"/>
                </a:solidFill>
                <a:latin typeface="Arial" pitchFamily="34" charset="0"/>
                <a:ea typeface="Arial" pitchFamily="34" charset="-122"/>
                <a:cs typeface="Arial" pitchFamily="34" charset="-120"/>
              </a:rPr>
              <a:t>2</a:t>
            </a:r>
            <a:endParaRPr lang="en-US" sz="1600" dirty="0"/>
          </a:p>
        </p:txBody>
      </p:sp>
      <p:sp>
        <p:nvSpPr>
          <p:cNvPr id="70" name="Text 68"/>
          <p:cNvSpPr/>
          <p:nvPr/>
        </p:nvSpPr>
        <p:spPr>
          <a:xfrm>
            <a:off x="3635693"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C</a:t>
            </a:r>
            <a:endParaRPr lang="en-US" sz="587" dirty="0"/>
          </a:p>
        </p:txBody>
      </p:sp>
      <p:sp>
        <p:nvSpPr>
          <p:cNvPr id="71" name="Shape 69"/>
          <p:cNvSpPr/>
          <p:nvPr/>
        </p:nvSpPr>
        <p:spPr>
          <a:xfrm>
            <a:off x="3673793" y="6313329"/>
            <a:ext cx="324009" cy="166688"/>
          </a:xfrm>
          <a:prstGeom prst="roundRect">
            <a:avLst>
              <a:gd name="adj" fmla="val 24381"/>
            </a:avLst>
          </a:prstGeom>
          <a:ln w="6773">
            <a:solidFill>
              <a:srgbClr val="16211D">
                <a:alpha val="12000"/>
              </a:srgbClr>
            </a:solidFill>
            <a:prstDash val="solid"/>
          </a:ln>
        </p:spPr>
      </p:sp>
      <p:sp>
        <p:nvSpPr>
          <p:cNvPr id="72" name="Text 70"/>
          <p:cNvSpPr/>
          <p:nvPr/>
        </p:nvSpPr>
        <p:spPr>
          <a:xfrm>
            <a:off x="3642466"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73" name="Shape 71"/>
          <p:cNvSpPr/>
          <p:nvPr/>
        </p:nvSpPr>
        <p:spPr>
          <a:xfrm>
            <a:off x="4099401" y="5879465"/>
            <a:ext cx="418783" cy="661353"/>
          </a:xfrm>
          <a:prstGeom prst="roundRect">
            <a:avLst>
              <a:gd name="adj" fmla="val 19409"/>
            </a:avLst>
          </a:prstGeom>
          <a:solidFill>
            <a:srgbClr val="FFFFFF">
              <a:alpha val="60000"/>
            </a:srgbClr>
          </a:solidFill>
          <a:ln w="6773">
            <a:solidFill>
              <a:srgbClr val="16211D">
                <a:alpha val="12000"/>
              </a:srgbClr>
            </a:solidFill>
            <a:prstDash val="solid"/>
          </a:ln>
        </p:spPr>
      </p:sp>
      <p:sp>
        <p:nvSpPr>
          <p:cNvPr id="74" name="Text 72"/>
          <p:cNvSpPr/>
          <p:nvPr/>
        </p:nvSpPr>
        <p:spPr>
          <a:xfrm>
            <a:off x="4108768"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16211D">
                    <a:alpha val="30000"/>
                  </a:srgbClr>
                </a:solidFill>
                <a:latin typeface="Arial" pitchFamily="34" charset="0"/>
                <a:ea typeface="Arial" pitchFamily="34" charset="-122"/>
                <a:cs typeface="Arial" pitchFamily="34" charset="-120"/>
              </a:rPr>
              <a:t>0</a:t>
            </a:r>
            <a:endParaRPr lang="en-US" sz="1600" dirty="0"/>
          </a:p>
        </p:txBody>
      </p:sp>
      <p:sp>
        <p:nvSpPr>
          <p:cNvPr id="75" name="Text 73"/>
          <p:cNvSpPr/>
          <p:nvPr/>
        </p:nvSpPr>
        <p:spPr>
          <a:xfrm>
            <a:off x="4108768"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G</a:t>
            </a:r>
            <a:endParaRPr lang="en-US" sz="587" dirty="0"/>
          </a:p>
        </p:txBody>
      </p:sp>
      <p:sp>
        <p:nvSpPr>
          <p:cNvPr id="76" name="Shape 74"/>
          <p:cNvSpPr/>
          <p:nvPr/>
        </p:nvSpPr>
        <p:spPr>
          <a:xfrm>
            <a:off x="4146868" y="6313329"/>
            <a:ext cx="324009" cy="166688"/>
          </a:xfrm>
          <a:prstGeom prst="roundRect">
            <a:avLst>
              <a:gd name="adj" fmla="val 24381"/>
            </a:avLst>
          </a:prstGeom>
          <a:ln w="6773">
            <a:solidFill>
              <a:srgbClr val="16211D">
                <a:alpha val="12000"/>
              </a:srgbClr>
            </a:solidFill>
            <a:prstDash val="solid"/>
          </a:ln>
        </p:spPr>
      </p:sp>
      <p:sp>
        <p:nvSpPr>
          <p:cNvPr id="77" name="Text 75"/>
          <p:cNvSpPr/>
          <p:nvPr/>
        </p:nvSpPr>
        <p:spPr>
          <a:xfrm>
            <a:off x="4115541"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78" name="Shape 76"/>
          <p:cNvSpPr/>
          <p:nvPr/>
        </p:nvSpPr>
        <p:spPr>
          <a:xfrm>
            <a:off x="4572476" y="5879465"/>
            <a:ext cx="418782" cy="661353"/>
          </a:xfrm>
          <a:prstGeom prst="roundRect">
            <a:avLst>
              <a:gd name="adj" fmla="val 19409"/>
            </a:avLst>
          </a:prstGeom>
          <a:solidFill>
            <a:srgbClr val="FFFFFF">
              <a:alpha val="60000"/>
            </a:srgbClr>
          </a:solidFill>
          <a:ln w="6773">
            <a:solidFill>
              <a:srgbClr val="16211D">
                <a:alpha val="12000"/>
              </a:srgbClr>
            </a:solidFill>
            <a:prstDash val="solid"/>
          </a:ln>
        </p:spPr>
      </p:sp>
      <p:sp>
        <p:nvSpPr>
          <p:cNvPr id="79" name="Text 77"/>
          <p:cNvSpPr/>
          <p:nvPr/>
        </p:nvSpPr>
        <p:spPr>
          <a:xfrm>
            <a:off x="4581684"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16211D">
                    <a:alpha val="30000"/>
                  </a:srgbClr>
                </a:solidFill>
                <a:latin typeface="Arial" pitchFamily="34" charset="0"/>
                <a:ea typeface="Arial" pitchFamily="34" charset="-122"/>
                <a:cs typeface="Arial" pitchFamily="34" charset="-120"/>
              </a:rPr>
              <a:t>0</a:t>
            </a:r>
            <a:endParaRPr lang="en-US" sz="1600" dirty="0"/>
          </a:p>
        </p:txBody>
      </p:sp>
      <p:sp>
        <p:nvSpPr>
          <p:cNvPr id="80" name="Text 78"/>
          <p:cNvSpPr/>
          <p:nvPr/>
        </p:nvSpPr>
        <p:spPr>
          <a:xfrm>
            <a:off x="4581684"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D</a:t>
            </a:r>
            <a:endParaRPr lang="en-US" sz="587" dirty="0"/>
          </a:p>
        </p:txBody>
      </p:sp>
      <p:sp>
        <p:nvSpPr>
          <p:cNvPr id="81" name="Shape 79"/>
          <p:cNvSpPr/>
          <p:nvPr/>
        </p:nvSpPr>
        <p:spPr>
          <a:xfrm>
            <a:off x="4619784" y="6313329"/>
            <a:ext cx="324009" cy="166688"/>
          </a:xfrm>
          <a:prstGeom prst="roundRect">
            <a:avLst>
              <a:gd name="adj" fmla="val 24381"/>
            </a:avLst>
          </a:prstGeom>
          <a:ln w="6773">
            <a:solidFill>
              <a:srgbClr val="16211D">
                <a:alpha val="12000"/>
              </a:srgbClr>
            </a:solidFill>
            <a:prstDash val="solid"/>
          </a:ln>
        </p:spPr>
      </p:sp>
      <p:sp>
        <p:nvSpPr>
          <p:cNvPr id="82" name="Text 80"/>
          <p:cNvSpPr/>
          <p:nvPr/>
        </p:nvSpPr>
        <p:spPr>
          <a:xfrm>
            <a:off x="4588457"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83" name="Shape 81"/>
          <p:cNvSpPr/>
          <p:nvPr/>
        </p:nvSpPr>
        <p:spPr>
          <a:xfrm>
            <a:off x="5045393" y="5879465"/>
            <a:ext cx="418783" cy="661353"/>
          </a:xfrm>
          <a:prstGeom prst="roundRect">
            <a:avLst>
              <a:gd name="adj" fmla="val 19409"/>
            </a:avLst>
          </a:prstGeom>
          <a:solidFill>
            <a:srgbClr val="D7263D">
              <a:alpha val="10000"/>
            </a:srgbClr>
          </a:solidFill>
          <a:ln w="6773">
            <a:solidFill>
              <a:srgbClr val="D7263D">
                <a:alpha val="45000"/>
              </a:srgbClr>
            </a:solidFill>
            <a:prstDash val="solid"/>
          </a:ln>
        </p:spPr>
      </p:sp>
      <p:sp>
        <p:nvSpPr>
          <p:cNvPr id="84" name="Text 82"/>
          <p:cNvSpPr/>
          <p:nvPr/>
        </p:nvSpPr>
        <p:spPr>
          <a:xfrm>
            <a:off x="5054759"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8F1626"/>
                </a:solidFill>
                <a:latin typeface="Arial" pitchFamily="34" charset="0"/>
                <a:ea typeface="Arial" pitchFamily="34" charset="-122"/>
                <a:cs typeface="Arial" pitchFamily="34" charset="-120"/>
              </a:rPr>
              <a:t>1</a:t>
            </a:r>
            <a:endParaRPr lang="en-US" sz="1600" dirty="0"/>
          </a:p>
        </p:txBody>
      </p:sp>
      <p:sp>
        <p:nvSpPr>
          <p:cNvPr id="85" name="Text 83"/>
          <p:cNvSpPr/>
          <p:nvPr/>
        </p:nvSpPr>
        <p:spPr>
          <a:xfrm>
            <a:off x="5054759"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T</a:t>
            </a:r>
            <a:endParaRPr lang="en-US" sz="587" dirty="0"/>
          </a:p>
        </p:txBody>
      </p:sp>
      <p:sp>
        <p:nvSpPr>
          <p:cNvPr id="86" name="Shape 84"/>
          <p:cNvSpPr/>
          <p:nvPr/>
        </p:nvSpPr>
        <p:spPr>
          <a:xfrm>
            <a:off x="5092859" y="6313329"/>
            <a:ext cx="324009" cy="166688"/>
          </a:xfrm>
          <a:prstGeom prst="roundRect">
            <a:avLst>
              <a:gd name="adj" fmla="val 24381"/>
            </a:avLst>
          </a:prstGeom>
          <a:ln w="6773">
            <a:solidFill>
              <a:srgbClr val="16211D">
                <a:alpha val="12000"/>
              </a:srgbClr>
            </a:solidFill>
            <a:prstDash val="solid"/>
          </a:ln>
        </p:spPr>
      </p:sp>
      <p:sp>
        <p:nvSpPr>
          <p:cNvPr id="87" name="Text 85"/>
          <p:cNvSpPr/>
          <p:nvPr/>
        </p:nvSpPr>
        <p:spPr>
          <a:xfrm>
            <a:off x="5061532"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88" name="Shape 86"/>
          <p:cNvSpPr/>
          <p:nvPr/>
        </p:nvSpPr>
        <p:spPr>
          <a:xfrm>
            <a:off x="5518468" y="5879465"/>
            <a:ext cx="418782" cy="661353"/>
          </a:xfrm>
          <a:prstGeom prst="roundRect">
            <a:avLst>
              <a:gd name="adj" fmla="val 19409"/>
            </a:avLst>
          </a:prstGeom>
          <a:solidFill>
            <a:srgbClr val="FFFFFF">
              <a:alpha val="60000"/>
            </a:srgbClr>
          </a:solidFill>
          <a:ln w="6773">
            <a:solidFill>
              <a:srgbClr val="16211D">
                <a:alpha val="12000"/>
              </a:srgbClr>
            </a:solidFill>
            <a:prstDash val="solid"/>
          </a:ln>
        </p:spPr>
      </p:sp>
      <p:sp>
        <p:nvSpPr>
          <p:cNvPr id="89" name="Text 87"/>
          <p:cNvSpPr/>
          <p:nvPr/>
        </p:nvSpPr>
        <p:spPr>
          <a:xfrm>
            <a:off x="5527675"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16211D">
                    <a:alpha val="30000"/>
                  </a:srgbClr>
                </a:solidFill>
                <a:latin typeface="Arial" pitchFamily="34" charset="0"/>
                <a:ea typeface="Arial" pitchFamily="34" charset="-122"/>
                <a:cs typeface="Arial" pitchFamily="34" charset="-120"/>
              </a:rPr>
              <a:t>0</a:t>
            </a:r>
            <a:endParaRPr lang="en-US" sz="1600" dirty="0"/>
          </a:p>
        </p:txBody>
      </p:sp>
      <p:sp>
        <p:nvSpPr>
          <p:cNvPr id="90" name="Text 88"/>
          <p:cNvSpPr/>
          <p:nvPr/>
        </p:nvSpPr>
        <p:spPr>
          <a:xfrm>
            <a:off x="5527675"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M</a:t>
            </a:r>
            <a:endParaRPr lang="en-US" sz="587" dirty="0"/>
          </a:p>
        </p:txBody>
      </p:sp>
      <p:sp>
        <p:nvSpPr>
          <p:cNvPr id="91" name="Shape 89"/>
          <p:cNvSpPr/>
          <p:nvPr/>
        </p:nvSpPr>
        <p:spPr>
          <a:xfrm>
            <a:off x="5565775" y="6313329"/>
            <a:ext cx="324009" cy="166688"/>
          </a:xfrm>
          <a:prstGeom prst="roundRect">
            <a:avLst>
              <a:gd name="adj" fmla="val 24381"/>
            </a:avLst>
          </a:prstGeom>
          <a:ln w="6773">
            <a:solidFill>
              <a:srgbClr val="16211D">
                <a:alpha val="12000"/>
              </a:srgbClr>
            </a:solidFill>
            <a:prstDash val="solid"/>
          </a:ln>
        </p:spPr>
      </p:sp>
      <p:sp>
        <p:nvSpPr>
          <p:cNvPr id="92" name="Text 90"/>
          <p:cNvSpPr/>
          <p:nvPr/>
        </p:nvSpPr>
        <p:spPr>
          <a:xfrm>
            <a:off x="5534448"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93" name="Shape 91"/>
          <p:cNvSpPr/>
          <p:nvPr/>
        </p:nvSpPr>
        <p:spPr>
          <a:xfrm>
            <a:off x="3153410" y="6649244"/>
            <a:ext cx="462439" cy="231299"/>
          </a:xfrm>
          <a:prstGeom prst="roundRect">
            <a:avLst>
              <a:gd name="adj" fmla="val 50000"/>
            </a:avLst>
          </a:prstGeom>
          <a:solidFill>
            <a:srgbClr val="019A44"/>
          </a:solidFill>
          <a:ln w="6773">
            <a:solidFill>
              <a:srgbClr val="019A44"/>
            </a:solidFill>
            <a:prstDash val="solid"/>
          </a:ln>
        </p:spPr>
      </p:sp>
      <p:sp>
        <p:nvSpPr>
          <p:cNvPr id="94" name="Text 92"/>
          <p:cNvSpPr/>
          <p:nvPr/>
        </p:nvSpPr>
        <p:spPr>
          <a:xfrm>
            <a:off x="3255010" y="6696657"/>
            <a:ext cx="335439"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Khalol</a:t>
            </a:r>
            <a:endParaRPr lang="en-US" sz="693" dirty="0"/>
          </a:p>
        </p:txBody>
      </p:sp>
      <p:sp>
        <p:nvSpPr>
          <p:cNvPr id="95" name="Shape 93"/>
          <p:cNvSpPr/>
          <p:nvPr/>
        </p:nvSpPr>
        <p:spPr>
          <a:xfrm>
            <a:off x="3669982" y="6649244"/>
            <a:ext cx="554673" cy="231299"/>
          </a:xfrm>
          <a:prstGeom prst="roundRect">
            <a:avLst>
              <a:gd name="adj" fmla="val 50000"/>
            </a:avLst>
          </a:prstGeom>
          <a:solidFill>
            <a:srgbClr val="FFFFFF"/>
          </a:solidFill>
          <a:ln w="6773">
            <a:solidFill>
              <a:srgbClr val="E4EAE7"/>
            </a:solidFill>
            <a:prstDash val="solid"/>
          </a:ln>
        </p:spPr>
      </p:sp>
      <p:sp>
        <p:nvSpPr>
          <p:cNvPr id="96" name="Text 94"/>
          <p:cNvSpPr/>
          <p:nvPr/>
        </p:nvSpPr>
        <p:spPr>
          <a:xfrm>
            <a:off x="3771582" y="6696657"/>
            <a:ext cx="427673"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16211D"/>
                </a:solidFill>
                <a:latin typeface="Arial" pitchFamily="34" charset="0"/>
                <a:ea typeface="Arial" pitchFamily="34" charset="-122"/>
                <a:cs typeface="Arial" pitchFamily="34" charset="-120"/>
              </a:rPr>
              <a:t>Yonbosh</a:t>
            </a:r>
            <a:endParaRPr lang="en-US" sz="693" dirty="0"/>
          </a:p>
        </p:txBody>
      </p:sp>
      <p:sp>
        <p:nvSpPr>
          <p:cNvPr id="97" name="Shape 95"/>
          <p:cNvSpPr/>
          <p:nvPr/>
        </p:nvSpPr>
        <p:spPr>
          <a:xfrm>
            <a:off x="4278948" y="6649244"/>
            <a:ext cx="430054" cy="231299"/>
          </a:xfrm>
          <a:prstGeom prst="roundRect">
            <a:avLst>
              <a:gd name="adj" fmla="val 50000"/>
            </a:avLst>
          </a:prstGeom>
          <a:solidFill>
            <a:srgbClr val="FFFFFF"/>
          </a:solidFill>
          <a:ln w="6773">
            <a:solidFill>
              <a:srgbClr val="E4EAE7"/>
            </a:solidFill>
            <a:prstDash val="solid"/>
          </a:ln>
        </p:spPr>
      </p:sp>
      <p:sp>
        <p:nvSpPr>
          <p:cNvPr id="98" name="Text 96"/>
          <p:cNvSpPr/>
          <p:nvPr/>
        </p:nvSpPr>
        <p:spPr>
          <a:xfrm>
            <a:off x="4380548" y="6696657"/>
            <a:ext cx="303054"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16211D"/>
                </a:solidFill>
                <a:latin typeface="Arial" pitchFamily="34" charset="0"/>
                <a:ea typeface="Arial" pitchFamily="34" charset="-122"/>
                <a:cs typeface="Arial" pitchFamily="34" charset="-120"/>
              </a:rPr>
              <a:t>Chala</a:t>
            </a:r>
            <a:endParaRPr lang="en-US" sz="693" dirty="0"/>
          </a:p>
        </p:txBody>
      </p:sp>
      <p:sp>
        <p:nvSpPr>
          <p:cNvPr id="99" name="Shape 97"/>
          <p:cNvSpPr/>
          <p:nvPr/>
        </p:nvSpPr>
        <p:spPr>
          <a:xfrm>
            <a:off x="3153410" y="6934676"/>
            <a:ext cx="503237" cy="231299"/>
          </a:xfrm>
          <a:prstGeom prst="roundRect">
            <a:avLst>
              <a:gd name="adj" fmla="val 50000"/>
            </a:avLst>
          </a:prstGeom>
          <a:solidFill>
            <a:srgbClr val="D7263D"/>
          </a:solidFill>
          <a:ln w="6773">
            <a:solidFill>
              <a:srgbClr val="D7263D"/>
            </a:solidFill>
            <a:prstDash val="solid"/>
          </a:ln>
        </p:spPr>
      </p:sp>
      <p:sp>
        <p:nvSpPr>
          <p:cNvPr id="100" name="Text 98"/>
          <p:cNvSpPr/>
          <p:nvPr/>
        </p:nvSpPr>
        <p:spPr>
          <a:xfrm>
            <a:off x="3255010" y="6982089"/>
            <a:ext cx="376237"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Tanbeh</a:t>
            </a:r>
            <a:endParaRPr lang="en-US" sz="693" dirty="0"/>
          </a:p>
        </p:txBody>
      </p:sp>
      <p:sp>
        <p:nvSpPr>
          <p:cNvPr id="101" name="Shape 99"/>
          <p:cNvSpPr/>
          <p:nvPr/>
        </p:nvSpPr>
        <p:spPr>
          <a:xfrm>
            <a:off x="3710781" y="6934676"/>
            <a:ext cx="433546" cy="231299"/>
          </a:xfrm>
          <a:prstGeom prst="roundRect">
            <a:avLst>
              <a:gd name="adj" fmla="val 50000"/>
            </a:avLst>
          </a:prstGeom>
          <a:solidFill>
            <a:srgbClr val="D7263D"/>
          </a:solidFill>
          <a:ln w="6773">
            <a:solidFill>
              <a:srgbClr val="D7263D"/>
            </a:solidFill>
            <a:prstDash val="solid"/>
          </a:ln>
        </p:spPr>
      </p:sp>
      <p:sp>
        <p:nvSpPr>
          <p:cNvPr id="102" name="Text 100"/>
          <p:cNvSpPr/>
          <p:nvPr/>
        </p:nvSpPr>
        <p:spPr>
          <a:xfrm>
            <a:off x="3812381" y="6982089"/>
            <a:ext cx="306546"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Dakki</a:t>
            </a:r>
            <a:endParaRPr lang="en-US" sz="693" dirty="0"/>
          </a:p>
        </p:txBody>
      </p:sp>
      <p:sp>
        <p:nvSpPr>
          <p:cNvPr id="103" name="Shape 101"/>
          <p:cNvSpPr/>
          <p:nvPr/>
        </p:nvSpPr>
        <p:spPr>
          <a:xfrm>
            <a:off x="4198461" y="6934676"/>
            <a:ext cx="486251" cy="231299"/>
          </a:xfrm>
          <a:prstGeom prst="roundRect">
            <a:avLst>
              <a:gd name="adj" fmla="val 50000"/>
            </a:avLst>
          </a:prstGeom>
          <a:solidFill>
            <a:srgbClr val="D7263D"/>
          </a:solidFill>
          <a:ln w="6773">
            <a:solidFill>
              <a:srgbClr val="D7263D"/>
            </a:solidFill>
            <a:prstDash val="solid"/>
          </a:ln>
        </p:spPr>
      </p:sp>
      <p:sp>
        <p:nvSpPr>
          <p:cNvPr id="104" name="Text 102"/>
          <p:cNvSpPr/>
          <p:nvPr/>
        </p:nvSpPr>
        <p:spPr>
          <a:xfrm>
            <a:off x="4300061" y="6982089"/>
            <a:ext cx="359251"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Girrom</a:t>
            </a:r>
            <a:endParaRPr lang="en-US" sz="693" dirty="0"/>
          </a:p>
        </p:txBody>
      </p:sp>
      <p:sp>
        <p:nvSpPr>
          <p:cNvPr id="105" name="Shape 103"/>
          <p:cNvSpPr/>
          <p:nvPr/>
        </p:nvSpPr>
        <p:spPr>
          <a:xfrm>
            <a:off x="4739005" y="6934676"/>
            <a:ext cx="570706" cy="231299"/>
          </a:xfrm>
          <a:prstGeom prst="roundRect">
            <a:avLst>
              <a:gd name="adj" fmla="val 50000"/>
            </a:avLst>
          </a:prstGeom>
          <a:solidFill>
            <a:srgbClr val="D7263D"/>
          </a:solidFill>
          <a:ln w="6773">
            <a:solidFill>
              <a:srgbClr val="D7263D"/>
            </a:solidFill>
            <a:prstDash val="solid"/>
          </a:ln>
        </p:spPr>
      </p:sp>
      <p:sp>
        <p:nvSpPr>
          <p:cNvPr id="106" name="Text 104"/>
          <p:cNvSpPr/>
          <p:nvPr/>
        </p:nvSpPr>
        <p:spPr>
          <a:xfrm>
            <a:off x="4840605" y="6982089"/>
            <a:ext cx="443706"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Madichal</a:t>
            </a:r>
            <a:endParaRPr lang="en-US" sz="693" dirty="0"/>
          </a:p>
        </p:txBody>
      </p:sp>
      <p:sp>
        <p:nvSpPr>
          <p:cNvPr id="107" name="Shape 105"/>
          <p:cNvSpPr/>
          <p:nvPr/>
        </p:nvSpPr>
        <p:spPr>
          <a:xfrm>
            <a:off x="6079490" y="4917916"/>
            <a:ext cx="1625600" cy="2383473"/>
          </a:xfrm>
          <a:prstGeom prst="rect">
            <a:avLst/>
          </a:prstGeom>
          <a:solidFill>
            <a:srgbClr val="FFFFFF"/>
          </a:solidFill>
          <a:ln/>
        </p:spPr>
      </p:sp>
      <p:sp>
        <p:nvSpPr>
          <p:cNvPr id="108" name="Text 106"/>
          <p:cNvSpPr/>
          <p:nvPr/>
        </p:nvSpPr>
        <p:spPr>
          <a:xfrm>
            <a:off x="6500813" y="5437823"/>
            <a:ext cx="859155" cy="363220"/>
          </a:xfrm>
          <a:prstGeom prst="rect">
            <a:avLst/>
          </a:prstGeom>
          <a:noFill/>
          <a:ln/>
        </p:spPr>
        <p:txBody>
          <a:bodyPr wrap="square" lIns="25400" tIns="25400" rIns="25400" bIns="25400" rtlCol="0" anchor="t">
            <a:normAutofit/>
          </a:bodyPr>
          <a:lstStyle/>
          <a:p>
            <a:pPr algn="l" indent="0" marL="0">
              <a:lnSpc>
                <a:spcPct val="87273"/>
              </a:lnSpc>
              <a:buNone/>
            </a:pPr>
            <a:r>
              <a:rPr lang="en-US" sz="2560" b="1" dirty="0">
                <a:solidFill>
                  <a:srgbClr val="16211D"/>
                </a:solidFill>
                <a:latin typeface="Courier New" pitchFamily="34" charset="0"/>
                <a:ea typeface="Courier New" pitchFamily="34" charset="-122"/>
                <a:cs typeface="Courier New" pitchFamily="34" charset="-120"/>
              </a:rPr>
              <a:t>1:12</a:t>
            </a:r>
            <a:endParaRPr lang="en-US" sz="2560" dirty="0"/>
          </a:p>
        </p:txBody>
      </p:sp>
      <p:sp>
        <p:nvSpPr>
          <p:cNvPr id="109" name="Text 107"/>
          <p:cNvSpPr/>
          <p:nvPr/>
        </p:nvSpPr>
        <p:spPr>
          <a:xfrm>
            <a:off x="6732270" y="5844222"/>
            <a:ext cx="396081" cy="153511"/>
          </a:xfrm>
          <a:prstGeom prst="rect">
            <a:avLst/>
          </a:prstGeom>
          <a:noFill/>
          <a:ln/>
        </p:spPr>
        <p:txBody>
          <a:bodyPr wrap="square" lIns="25400" tIns="25400" rIns="25400" bIns="25400" rtlCol="0" anchor="t">
            <a:normAutofit/>
          </a:bodyPr>
          <a:lstStyle/>
          <a:p>
            <a:pPr algn="l" indent="0" marL="0">
              <a:lnSpc>
                <a:spcPct val="131154"/>
              </a:lnSpc>
              <a:buNone/>
            </a:pPr>
            <a:r>
              <a:rPr lang="en-US" sz="587" b="1" spc="29" kern="0" dirty="0">
                <a:solidFill>
                  <a:srgbClr val="01813A"/>
                </a:solidFill>
                <a:latin typeface="Arial" pitchFamily="34" charset="0"/>
                <a:ea typeface="Arial" pitchFamily="34" charset="-122"/>
                <a:cs typeface="Arial" pitchFamily="34" charset="-120"/>
              </a:rPr>
              <a:t>KURASH</a:t>
            </a:r>
            <a:endParaRPr lang="en-US" sz="587" dirty="0"/>
          </a:p>
        </p:txBody>
      </p:sp>
      <p:sp>
        <p:nvSpPr>
          <p:cNvPr id="110" name="Shape 108"/>
          <p:cNvSpPr/>
          <p:nvPr/>
        </p:nvSpPr>
        <p:spPr>
          <a:xfrm>
            <a:off x="6262529" y="6041073"/>
            <a:ext cx="446246" cy="231299"/>
          </a:xfrm>
          <a:prstGeom prst="roundRect">
            <a:avLst>
              <a:gd name="adj" fmla="val 50000"/>
            </a:avLst>
          </a:prstGeom>
          <a:solidFill>
            <a:srgbClr val="019A44"/>
          </a:solidFill>
          <a:ln w="6773">
            <a:solidFill>
              <a:srgbClr val="019A44"/>
            </a:solidFill>
            <a:prstDash val="solid"/>
          </a:ln>
        </p:spPr>
      </p:sp>
      <p:sp>
        <p:nvSpPr>
          <p:cNvPr id="111" name="Text 109"/>
          <p:cNvSpPr/>
          <p:nvPr/>
        </p:nvSpPr>
        <p:spPr>
          <a:xfrm>
            <a:off x="6364129" y="6088486"/>
            <a:ext cx="319246"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Pause</a:t>
            </a:r>
            <a:endParaRPr lang="en-US" sz="693" dirty="0"/>
          </a:p>
        </p:txBody>
      </p:sp>
      <p:sp>
        <p:nvSpPr>
          <p:cNvPr id="112" name="Text 110"/>
          <p:cNvSpPr/>
          <p:nvPr/>
        </p:nvSpPr>
        <p:spPr>
          <a:xfrm>
            <a:off x="6864667" y="6088486"/>
            <a:ext cx="631825"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65726C"/>
                </a:solidFill>
                <a:latin typeface="Arial" pitchFamily="34" charset="0"/>
                <a:ea typeface="Arial" pitchFamily="34" charset="-122"/>
                <a:cs typeface="Arial" pitchFamily="34" charset="-120"/>
              </a:rPr>
              <a:t>Log stoppage</a:t>
            </a:r>
            <a:endParaRPr lang="en-US" sz="693" dirty="0"/>
          </a:p>
        </p:txBody>
      </p:sp>
      <p:sp>
        <p:nvSpPr>
          <p:cNvPr id="113" name="Text 111"/>
          <p:cNvSpPr/>
          <p:nvPr/>
        </p:nvSpPr>
        <p:spPr>
          <a:xfrm>
            <a:off x="6671310" y="6401064"/>
            <a:ext cx="518001"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65726C"/>
                </a:solidFill>
                <a:latin typeface="Arial" pitchFamily="34" charset="0"/>
                <a:ea typeface="Arial" pitchFamily="34" charset="-122"/>
                <a:cs typeface="Arial" pitchFamily="34" charset="-120"/>
              </a:rPr>
              <a:t>Reset time</a:t>
            </a:r>
            <a:endParaRPr lang="en-US" sz="693" dirty="0"/>
          </a:p>
        </p:txBody>
      </p:sp>
      <p:sp>
        <p:nvSpPr>
          <p:cNvPr id="114" name="Text 112"/>
          <p:cNvSpPr/>
          <p:nvPr/>
        </p:nvSpPr>
        <p:spPr>
          <a:xfrm>
            <a:off x="6609238" y="6666230"/>
            <a:ext cx="642303" cy="153511"/>
          </a:xfrm>
          <a:prstGeom prst="rect">
            <a:avLst/>
          </a:prstGeom>
          <a:noFill/>
          <a:ln/>
        </p:spPr>
        <p:txBody>
          <a:bodyPr wrap="square" lIns="25400" tIns="25400" rIns="25400" bIns="25400" rtlCol="0" anchor="t">
            <a:normAutofit/>
          </a:bodyPr>
          <a:lstStyle/>
          <a:p>
            <a:pPr algn="l" indent="0" marL="0">
              <a:lnSpc>
                <a:spcPct val="131154"/>
              </a:lnSpc>
              <a:buNone/>
            </a:pPr>
            <a:r>
              <a:rPr lang="en-US" sz="587" dirty="0">
                <a:solidFill>
                  <a:srgbClr val="16211D">
                    <a:alpha val="55000"/>
                  </a:srgbClr>
                </a:solidFill>
                <a:latin typeface="Arial" pitchFamily="34" charset="0"/>
                <a:ea typeface="Arial" pitchFamily="34" charset="-122"/>
                <a:cs typeface="Arial" pitchFamily="34" charset="-120"/>
              </a:rPr>
              <a:t>4 minute contest</a:t>
            </a:r>
            <a:endParaRPr lang="en-US" sz="587" dirty="0"/>
          </a:p>
        </p:txBody>
      </p:sp>
      <p:sp>
        <p:nvSpPr>
          <p:cNvPr id="115" name="Shape 113"/>
          <p:cNvSpPr/>
          <p:nvPr/>
        </p:nvSpPr>
        <p:spPr>
          <a:xfrm>
            <a:off x="7711916" y="4917916"/>
            <a:ext cx="3054826" cy="2383473"/>
          </a:xfrm>
          <a:prstGeom prst="rect">
            <a:avLst/>
          </a:prstGeom>
          <a:solidFill>
            <a:srgbClr val="019A44">
              <a:alpha val="10000"/>
            </a:srgbClr>
          </a:solidFill>
          <a:ln/>
        </p:spPr>
      </p:sp>
      <p:sp>
        <p:nvSpPr>
          <p:cNvPr id="116" name="Shape 114"/>
          <p:cNvSpPr/>
          <p:nvPr/>
        </p:nvSpPr>
        <p:spPr>
          <a:xfrm>
            <a:off x="7847330" y="5082540"/>
            <a:ext cx="54134" cy="135414"/>
          </a:xfrm>
          <a:prstGeom prst="rect">
            <a:avLst/>
          </a:prstGeom>
          <a:solidFill>
            <a:srgbClr val="019A44"/>
          </a:solidFill>
          <a:ln/>
        </p:spPr>
      </p:sp>
      <p:sp>
        <p:nvSpPr>
          <p:cNvPr id="117" name="Text 115"/>
          <p:cNvSpPr/>
          <p:nvPr/>
        </p:nvSpPr>
        <p:spPr>
          <a:xfrm>
            <a:off x="7955756" y="5086033"/>
            <a:ext cx="1113472" cy="166846"/>
          </a:xfrm>
          <a:prstGeom prst="rect">
            <a:avLst/>
          </a:prstGeom>
          <a:noFill/>
          <a:ln/>
        </p:spPr>
        <p:txBody>
          <a:bodyPr wrap="square" lIns="0" tIns="0" rIns="0" bIns="0" rtlCol="0" anchor="t">
            <a:normAutofit/>
          </a:bodyPr>
          <a:lstStyle/>
          <a:p>
            <a:pPr algn="l" indent="0" marL="0">
              <a:lnSpc>
                <a:spcPct val="130526"/>
              </a:lnSpc>
              <a:buNone/>
            </a:pPr>
            <a:r>
              <a:rPr lang="en-US" sz="853" b="1" spc="85" kern="0" dirty="0">
                <a:solidFill>
                  <a:srgbClr val="046830"/>
                </a:solidFill>
                <a:latin typeface="Arial" pitchFamily="34" charset="0"/>
                <a:ea typeface="Arial" pitchFamily="34" charset="-122"/>
                <a:cs typeface="Arial" pitchFamily="34" charset="-120"/>
              </a:rPr>
              <a:t>YAKHTAK GREEN</a:t>
            </a:r>
            <a:endParaRPr lang="en-US" sz="853" dirty="0"/>
          </a:p>
        </p:txBody>
      </p:sp>
      <p:sp>
        <p:nvSpPr>
          <p:cNvPr id="118" name="Shape 116"/>
          <p:cNvSpPr/>
          <p:nvPr/>
        </p:nvSpPr>
        <p:spPr>
          <a:xfrm>
            <a:off x="10074751" y="5053489"/>
            <a:ext cx="556419" cy="193675"/>
          </a:xfrm>
          <a:prstGeom prst="roundRect">
            <a:avLst>
              <a:gd name="adj" fmla="val 50000"/>
            </a:avLst>
          </a:prstGeom>
          <a:solidFill>
            <a:srgbClr val="019A44"/>
          </a:solidFill>
          <a:ln w="6773">
            <a:solidFill>
              <a:srgbClr val="019A44"/>
            </a:solidFill>
            <a:prstDash val="solid"/>
          </a:ln>
        </p:spPr>
      </p:sp>
      <p:sp>
        <p:nvSpPr>
          <p:cNvPr id="119" name="Text 117"/>
          <p:cNvSpPr/>
          <p:nvPr/>
        </p:nvSpPr>
        <p:spPr>
          <a:xfrm>
            <a:off x="10156031" y="5087355"/>
            <a:ext cx="470059" cy="164042"/>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FFFFFF"/>
                </a:solidFill>
                <a:latin typeface="Arial" pitchFamily="34" charset="0"/>
                <a:ea typeface="Arial" pitchFamily="34" charset="-122"/>
                <a:cs typeface="Arial" pitchFamily="34" charset="-120"/>
              </a:rPr>
              <a:t>Win Green</a:t>
            </a:r>
            <a:endParaRPr lang="en-US" sz="640" dirty="0"/>
          </a:p>
        </p:txBody>
      </p:sp>
      <p:sp>
        <p:nvSpPr>
          <p:cNvPr id="120" name="Text 118"/>
          <p:cNvSpPr/>
          <p:nvPr/>
        </p:nvSpPr>
        <p:spPr>
          <a:xfrm>
            <a:off x="7847330" y="5355590"/>
            <a:ext cx="3062224" cy="290036"/>
          </a:xfrm>
          <a:prstGeom prst="rect">
            <a:avLst/>
          </a:prstGeom>
          <a:noFill/>
          <a:ln/>
        </p:spPr>
        <p:txBody>
          <a:bodyPr wrap="square" lIns="25400" tIns="25400" rIns="25400" bIns="25400" rtlCol="0" anchor="t">
            <a:normAutofit/>
          </a:bodyPr>
          <a:lstStyle/>
          <a:p>
            <a:pPr algn="l" indent="0" marL="0">
              <a:lnSpc>
                <a:spcPct val="132857"/>
              </a:lnSpc>
              <a:buNone/>
            </a:pPr>
            <a:r>
              <a:rPr lang="en-US" sz="1280" b="1" dirty="0">
                <a:solidFill>
                  <a:srgbClr val="16211D"/>
                </a:solidFill>
                <a:latin typeface="Arial" pitchFamily="34" charset="0"/>
                <a:ea typeface="Arial" pitchFamily="34" charset="-122"/>
                <a:cs typeface="Arial" pitchFamily="34" charset="-120"/>
              </a:rPr>
              <a:t>Serikov, Daulet</a:t>
            </a:r>
            <a:endParaRPr lang="en-US" sz="1280" dirty="0"/>
          </a:p>
        </p:txBody>
      </p:sp>
      <p:sp>
        <p:nvSpPr>
          <p:cNvPr id="121" name="Text 119"/>
          <p:cNvSpPr/>
          <p:nvPr/>
        </p:nvSpPr>
        <p:spPr>
          <a:xfrm>
            <a:off x="7847330" y="5634672"/>
            <a:ext cx="3062224"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16211D">
                    <a:alpha val="55000"/>
                  </a:srgbClr>
                </a:solidFill>
                <a:latin typeface="Arial" pitchFamily="34" charset="0"/>
                <a:ea typeface="Arial" pitchFamily="34" charset="-122"/>
                <a:cs typeface="Arial" pitchFamily="34" charset="-120"/>
              </a:rPr>
              <a:t>KAZ · draw 6</a:t>
            </a:r>
            <a:endParaRPr lang="en-US" sz="693" dirty="0"/>
          </a:p>
        </p:txBody>
      </p:sp>
      <p:sp>
        <p:nvSpPr>
          <p:cNvPr id="122" name="Shape 120"/>
          <p:cNvSpPr/>
          <p:nvPr/>
        </p:nvSpPr>
        <p:spPr>
          <a:xfrm>
            <a:off x="7847330" y="5879465"/>
            <a:ext cx="418782" cy="661353"/>
          </a:xfrm>
          <a:prstGeom prst="roundRect">
            <a:avLst>
              <a:gd name="adj" fmla="val 19409"/>
            </a:avLst>
          </a:prstGeom>
          <a:solidFill>
            <a:srgbClr val="FFFFFF">
              <a:alpha val="60000"/>
            </a:srgbClr>
          </a:solidFill>
          <a:ln w="6773">
            <a:solidFill>
              <a:srgbClr val="16211D">
                <a:alpha val="12000"/>
              </a:srgbClr>
            </a:solidFill>
            <a:prstDash val="solid"/>
          </a:ln>
        </p:spPr>
      </p:sp>
      <p:sp>
        <p:nvSpPr>
          <p:cNvPr id="123" name="Text 121"/>
          <p:cNvSpPr/>
          <p:nvPr/>
        </p:nvSpPr>
        <p:spPr>
          <a:xfrm>
            <a:off x="7856696"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16211D">
                    <a:alpha val="30000"/>
                  </a:srgbClr>
                </a:solidFill>
                <a:latin typeface="Arial" pitchFamily="34" charset="0"/>
                <a:ea typeface="Arial" pitchFamily="34" charset="-122"/>
                <a:cs typeface="Arial" pitchFamily="34" charset="-120"/>
              </a:rPr>
              <a:t>0</a:t>
            </a:r>
            <a:endParaRPr lang="en-US" sz="1600" dirty="0"/>
          </a:p>
        </p:txBody>
      </p:sp>
      <p:sp>
        <p:nvSpPr>
          <p:cNvPr id="124" name="Text 122"/>
          <p:cNvSpPr/>
          <p:nvPr/>
        </p:nvSpPr>
        <p:spPr>
          <a:xfrm>
            <a:off x="7856696"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Y</a:t>
            </a:r>
            <a:endParaRPr lang="en-US" sz="587" dirty="0"/>
          </a:p>
        </p:txBody>
      </p:sp>
      <p:sp>
        <p:nvSpPr>
          <p:cNvPr id="125" name="Shape 123"/>
          <p:cNvSpPr/>
          <p:nvPr/>
        </p:nvSpPr>
        <p:spPr>
          <a:xfrm>
            <a:off x="7894796" y="6313329"/>
            <a:ext cx="324009" cy="166688"/>
          </a:xfrm>
          <a:prstGeom prst="roundRect">
            <a:avLst>
              <a:gd name="adj" fmla="val 24381"/>
            </a:avLst>
          </a:prstGeom>
          <a:ln w="6773">
            <a:solidFill>
              <a:srgbClr val="16211D">
                <a:alpha val="12000"/>
              </a:srgbClr>
            </a:solidFill>
            <a:prstDash val="solid"/>
          </a:ln>
        </p:spPr>
      </p:sp>
      <p:sp>
        <p:nvSpPr>
          <p:cNvPr id="126" name="Text 124"/>
          <p:cNvSpPr/>
          <p:nvPr/>
        </p:nvSpPr>
        <p:spPr>
          <a:xfrm>
            <a:off x="7863469"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127" name="Shape 125"/>
          <p:cNvSpPr/>
          <p:nvPr/>
        </p:nvSpPr>
        <p:spPr>
          <a:xfrm>
            <a:off x="8320405" y="5879465"/>
            <a:ext cx="418782" cy="661353"/>
          </a:xfrm>
          <a:prstGeom prst="roundRect">
            <a:avLst>
              <a:gd name="adj" fmla="val 19409"/>
            </a:avLst>
          </a:prstGeom>
          <a:solidFill>
            <a:srgbClr val="C98A00">
              <a:alpha val="10000"/>
            </a:srgbClr>
          </a:solidFill>
          <a:ln w="6773">
            <a:solidFill>
              <a:srgbClr val="C98A00">
                <a:alpha val="45000"/>
              </a:srgbClr>
            </a:solidFill>
            <a:prstDash val="solid"/>
          </a:ln>
        </p:spPr>
      </p:sp>
      <p:sp>
        <p:nvSpPr>
          <p:cNvPr id="128" name="Text 126"/>
          <p:cNvSpPr/>
          <p:nvPr/>
        </p:nvSpPr>
        <p:spPr>
          <a:xfrm>
            <a:off x="8329613"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855A00"/>
                </a:solidFill>
                <a:latin typeface="Arial" pitchFamily="34" charset="0"/>
                <a:ea typeface="Arial" pitchFamily="34" charset="-122"/>
                <a:cs typeface="Arial" pitchFamily="34" charset="-120"/>
              </a:rPr>
              <a:t>1</a:t>
            </a:r>
            <a:endParaRPr lang="en-US" sz="1600" dirty="0"/>
          </a:p>
        </p:txBody>
      </p:sp>
      <p:sp>
        <p:nvSpPr>
          <p:cNvPr id="129" name="Text 127"/>
          <p:cNvSpPr/>
          <p:nvPr/>
        </p:nvSpPr>
        <p:spPr>
          <a:xfrm>
            <a:off x="8329613"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C</a:t>
            </a:r>
            <a:endParaRPr lang="en-US" sz="587" dirty="0"/>
          </a:p>
        </p:txBody>
      </p:sp>
      <p:sp>
        <p:nvSpPr>
          <p:cNvPr id="130" name="Shape 128"/>
          <p:cNvSpPr/>
          <p:nvPr/>
        </p:nvSpPr>
        <p:spPr>
          <a:xfrm>
            <a:off x="8367712" y="6313329"/>
            <a:ext cx="324009" cy="166688"/>
          </a:xfrm>
          <a:prstGeom prst="roundRect">
            <a:avLst>
              <a:gd name="adj" fmla="val 24381"/>
            </a:avLst>
          </a:prstGeom>
          <a:ln w="6773">
            <a:solidFill>
              <a:srgbClr val="16211D">
                <a:alpha val="12000"/>
              </a:srgbClr>
            </a:solidFill>
            <a:prstDash val="solid"/>
          </a:ln>
        </p:spPr>
      </p:sp>
      <p:sp>
        <p:nvSpPr>
          <p:cNvPr id="131" name="Text 129"/>
          <p:cNvSpPr/>
          <p:nvPr/>
        </p:nvSpPr>
        <p:spPr>
          <a:xfrm>
            <a:off x="8336386"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132" name="Shape 130"/>
          <p:cNvSpPr/>
          <p:nvPr/>
        </p:nvSpPr>
        <p:spPr>
          <a:xfrm>
            <a:off x="8793321" y="5879465"/>
            <a:ext cx="418782" cy="661353"/>
          </a:xfrm>
          <a:prstGeom prst="roundRect">
            <a:avLst>
              <a:gd name="adj" fmla="val 19409"/>
            </a:avLst>
          </a:prstGeom>
          <a:solidFill>
            <a:srgbClr val="FFFFFF">
              <a:alpha val="60000"/>
            </a:srgbClr>
          </a:solidFill>
          <a:ln w="6773">
            <a:solidFill>
              <a:srgbClr val="16211D">
                <a:alpha val="12000"/>
              </a:srgbClr>
            </a:solidFill>
            <a:prstDash val="solid"/>
          </a:ln>
        </p:spPr>
      </p:sp>
      <p:sp>
        <p:nvSpPr>
          <p:cNvPr id="133" name="Text 131"/>
          <p:cNvSpPr/>
          <p:nvPr/>
        </p:nvSpPr>
        <p:spPr>
          <a:xfrm>
            <a:off x="8802688"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16211D">
                    <a:alpha val="30000"/>
                  </a:srgbClr>
                </a:solidFill>
                <a:latin typeface="Arial" pitchFamily="34" charset="0"/>
                <a:ea typeface="Arial" pitchFamily="34" charset="-122"/>
                <a:cs typeface="Arial" pitchFamily="34" charset="-120"/>
              </a:rPr>
              <a:t>0</a:t>
            </a:r>
            <a:endParaRPr lang="en-US" sz="1600" dirty="0"/>
          </a:p>
        </p:txBody>
      </p:sp>
      <p:sp>
        <p:nvSpPr>
          <p:cNvPr id="134" name="Text 132"/>
          <p:cNvSpPr/>
          <p:nvPr/>
        </p:nvSpPr>
        <p:spPr>
          <a:xfrm>
            <a:off x="8802688"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G</a:t>
            </a:r>
            <a:endParaRPr lang="en-US" sz="587" dirty="0"/>
          </a:p>
        </p:txBody>
      </p:sp>
      <p:sp>
        <p:nvSpPr>
          <p:cNvPr id="135" name="Shape 133"/>
          <p:cNvSpPr/>
          <p:nvPr/>
        </p:nvSpPr>
        <p:spPr>
          <a:xfrm>
            <a:off x="8840788" y="6313329"/>
            <a:ext cx="324009" cy="166688"/>
          </a:xfrm>
          <a:prstGeom prst="roundRect">
            <a:avLst>
              <a:gd name="adj" fmla="val 24381"/>
            </a:avLst>
          </a:prstGeom>
          <a:ln w="6773">
            <a:solidFill>
              <a:srgbClr val="16211D">
                <a:alpha val="12000"/>
              </a:srgbClr>
            </a:solidFill>
            <a:prstDash val="solid"/>
          </a:ln>
        </p:spPr>
      </p:sp>
      <p:sp>
        <p:nvSpPr>
          <p:cNvPr id="136" name="Text 134"/>
          <p:cNvSpPr/>
          <p:nvPr/>
        </p:nvSpPr>
        <p:spPr>
          <a:xfrm>
            <a:off x="8809461"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137" name="Shape 135"/>
          <p:cNvSpPr/>
          <p:nvPr/>
        </p:nvSpPr>
        <p:spPr>
          <a:xfrm>
            <a:off x="9266396" y="5879465"/>
            <a:ext cx="418782" cy="661353"/>
          </a:xfrm>
          <a:prstGeom prst="roundRect">
            <a:avLst>
              <a:gd name="adj" fmla="val 19409"/>
            </a:avLst>
          </a:prstGeom>
          <a:solidFill>
            <a:srgbClr val="FFFFFF">
              <a:alpha val="60000"/>
            </a:srgbClr>
          </a:solidFill>
          <a:ln w="6773">
            <a:solidFill>
              <a:srgbClr val="16211D">
                <a:alpha val="12000"/>
              </a:srgbClr>
            </a:solidFill>
            <a:prstDash val="solid"/>
          </a:ln>
        </p:spPr>
      </p:sp>
      <p:sp>
        <p:nvSpPr>
          <p:cNvPr id="138" name="Text 136"/>
          <p:cNvSpPr/>
          <p:nvPr/>
        </p:nvSpPr>
        <p:spPr>
          <a:xfrm>
            <a:off x="9275604"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16211D">
                    <a:alpha val="30000"/>
                  </a:srgbClr>
                </a:solidFill>
                <a:latin typeface="Arial" pitchFamily="34" charset="0"/>
                <a:ea typeface="Arial" pitchFamily="34" charset="-122"/>
                <a:cs typeface="Arial" pitchFamily="34" charset="-120"/>
              </a:rPr>
              <a:t>0</a:t>
            </a:r>
            <a:endParaRPr lang="en-US" sz="1600" dirty="0"/>
          </a:p>
        </p:txBody>
      </p:sp>
      <p:sp>
        <p:nvSpPr>
          <p:cNvPr id="139" name="Text 137"/>
          <p:cNvSpPr/>
          <p:nvPr/>
        </p:nvSpPr>
        <p:spPr>
          <a:xfrm>
            <a:off x="9275604"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D</a:t>
            </a:r>
            <a:endParaRPr lang="en-US" sz="587" dirty="0"/>
          </a:p>
        </p:txBody>
      </p:sp>
      <p:sp>
        <p:nvSpPr>
          <p:cNvPr id="140" name="Shape 138"/>
          <p:cNvSpPr/>
          <p:nvPr/>
        </p:nvSpPr>
        <p:spPr>
          <a:xfrm>
            <a:off x="9313704" y="6313329"/>
            <a:ext cx="324009" cy="166688"/>
          </a:xfrm>
          <a:prstGeom prst="roundRect">
            <a:avLst>
              <a:gd name="adj" fmla="val 24381"/>
            </a:avLst>
          </a:prstGeom>
          <a:ln w="6773">
            <a:solidFill>
              <a:srgbClr val="16211D">
                <a:alpha val="12000"/>
              </a:srgbClr>
            </a:solidFill>
            <a:prstDash val="solid"/>
          </a:ln>
        </p:spPr>
      </p:sp>
      <p:sp>
        <p:nvSpPr>
          <p:cNvPr id="141" name="Text 139"/>
          <p:cNvSpPr/>
          <p:nvPr/>
        </p:nvSpPr>
        <p:spPr>
          <a:xfrm>
            <a:off x="9282377"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142" name="Shape 140"/>
          <p:cNvSpPr/>
          <p:nvPr/>
        </p:nvSpPr>
        <p:spPr>
          <a:xfrm>
            <a:off x="9739313" y="5879465"/>
            <a:ext cx="418782" cy="661353"/>
          </a:xfrm>
          <a:prstGeom prst="roundRect">
            <a:avLst>
              <a:gd name="adj" fmla="val 19409"/>
            </a:avLst>
          </a:prstGeom>
          <a:solidFill>
            <a:srgbClr val="FFFFFF">
              <a:alpha val="60000"/>
            </a:srgbClr>
          </a:solidFill>
          <a:ln w="6773">
            <a:solidFill>
              <a:srgbClr val="16211D">
                <a:alpha val="12000"/>
              </a:srgbClr>
            </a:solidFill>
            <a:prstDash val="solid"/>
          </a:ln>
        </p:spPr>
      </p:sp>
      <p:sp>
        <p:nvSpPr>
          <p:cNvPr id="143" name="Text 141"/>
          <p:cNvSpPr/>
          <p:nvPr/>
        </p:nvSpPr>
        <p:spPr>
          <a:xfrm>
            <a:off x="9748679"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16211D">
                    <a:alpha val="30000"/>
                  </a:srgbClr>
                </a:solidFill>
                <a:latin typeface="Arial" pitchFamily="34" charset="0"/>
                <a:ea typeface="Arial" pitchFamily="34" charset="-122"/>
                <a:cs typeface="Arial" pitchFamily="34" charset="-120"/>
              </a:rPr>
              <a:t>0</a:t>
            </a:r>
            <a:endParaRPr lang="en-US" sz="1600" dirty="0"/>
          </a:p>
        </p:txBody>
      </p:sp>
      <p:sp>
        <p:nvSpPr>
          <p:cNvPr id="144" name="Text 142"/>
          <p:cNvSpPr/>
          <p:nvPr/>
        </p:nvSpPr>
        <p:spPr>
          <a:xfrm>
            <a:off x="9748679"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T</a:t>
            </a:r>
            <a:endParaRPr lang="en-US" sz="587" dirty="0"/>
          </a:p>
        </p:txBody>
      </p:sp>
      <p:sp>
        <p:nvSpPr>
          <p:cNvPr id="145" name="Shape 143"/>
          <p:cNvSpPr/>
          <p:nvPr/>
        </p:nvSpPr>
        <p:spPr>
          <a:xfrm>
            <a:off x="9786779" y="6313329"/>
            <a:ext cx="324009" cy="166688"/>
          </a:xfrm>
          <a:prstGeom prst="roundRect">
            <a:avLst>
              <a:gd name="adj" fmla="val 24381"/>
            </a:avLst>
          </a:prstGeom>
          <a:ln w="6773">
            <a:solidFill>
              <a:srgbClr val="16211D">
                <a:alpha val="12000"/>
              </a:srgbClr>
            </a:solidFill>
            <a:prstDash val="solid"/>
          </a:ln>
        </p:spPr>
      </p:sp>
      <p:sp>
        <p:nvSpPr>
          <p:cNvPr id="146" name="Text 144"/>
          <p:cNvSpPr/>
          <p:nvPr/>
        </p:nvSpPr>
        <p:spPr>
          <a:xfrm>
            <a:off x="9755453"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147" name="Shape 145"/>
          <p:cNvSpPr/>
          <p:nvPr/>
        </p:nvSpPr>
        <p:spPr>
          <a:xfrm>
            <a:off x="10212387" y="5879465"/>
            <a:ext cx="418782" cy="661353"/>
          </a:xfrm>
          <a:prstGeom prst="roundRect">
            <a:avLst>
              <a:gd name="adj" fmla="val 19409"/>
            </a:avLst>
          </a:prstGeom>
          <a:solidFill>
            <a:srgbClr val="FFFFFF">
              <a:alpha val="60000"/>
            </a:srgbClr>
          </a:solidFill>
          <a:ln w="6773">
            <a:solidFill>
              <a:srgbClr val="16211D">
                <a:alpha val="12000"/>
              </a:srgbClr>
            </a:solidFill>
            <a:prstDash val="solid"/>
          </a:ln>
        </p:spPr>
      </p:sp>
      <p:sp>
        <p:nvSpPr>
          <p:cNvPr id="148" name="Text 146"/>
          <p:cNvSpPr/>
          <p:nvPr/>
        </p:nvSpPr>
        <p:spPr>
          <a:xfrm>
            <a:off x="10221595" y="5940425"/>
            <a:ext cx="400209" cy="241300"/>
          </a:xfrm>
          <a:prstGeom prst="rect">
            <a:avLst/>
          </a:prstGeom>
          <a:noFill/>
          <a:ln/>
        </p:spPr>
        <p:txBody>
          <a:bodyPr wrap="square" lIns="25400" tIns="25400" rIns="25400" bIns="25400" rtlCol="0" anchor="t">
            <a:normAutofit/>
          </a:bodyPr>
          <a:lstStyle/>
          <a:p>
            <a:pPr algn="ctr" indent="0" marL="0">
              <a:lnSpc>
                <a:spcPct val="85714"/>
              </a:lnSpc>
              <a:buNone/>
            </a:pPr>
            <a:r>
              <a:rPr lang="en-US" sz="1600" b="1" dirty="0">
                <a:solidFill>
                  <a:srgbClr val="16211D">
                    <a:alpha val="30000"/>
                  </a:srgbClr>
                </a:solidFill>
                <a:latin typeface="Arial" pitchFamily="34" charset="0"/>
                <a:ea typeface="Arial" pitchFamily="34" charset="-122"/>
                <a:cs typeface="Arial" pitchFamily="34" charset="-120"/>
              </a:rPr>
              <a:t>0</a:t>
            </a:r>
            <a:endParaRPr lang="en-US" sz="1600" dirty="0"/>
          </a:p>
        </p:txBody>
      </p:sp>
      <p:sp>
        <p:nvSpPr>
          <p:cNvPr id="149" name="Text 147"/>
          <p:cNvSpPr/>
          <p:nvPr/>
        </p:nvSpPr>
        <p:spPr>
          <a:xfrm>
            <a:off x="10221595" y="6170771"/>
            <a:ext cx="400209" cy="153511"/>
          </a:xfrm>
          <a:prstGeom prst="rect">
            <a:avLst/>
          </a:prstGeom>
          <a:noFill/>
          <a:ln/>
        </p:spPr>
        <p:txBody>
          <a:bodyPr wrap="square" lIns="25400" tIns="25400" rIns="25400" bIns="25400" rtlCol="0" anchor="t">
            <a:normAutofit/>
          </a:bodyPr>
          <a:lstStyle/>
          <a:p>
            <a:pPr algn="ctr" indent="0" marL="0">
              <a:lnSpc>
                <a:spcPct val="131154"/>
              </a:lnSpc>
              <a:buNone/>
            </a:pPr>
            <a:r>
              <a:rPr lang="en-US" sz="587" b="1" spc="35" kern="0" dirty="0">
                <a:solidFill>
                  <a:srgbClr val="16211D">
                    <a:alpha val="55000"/>
                  </a:srgbClr>
                </a:solidFill>
                <a:latin typeface="Arial" pitchFamily="34" charset="0"/>
                <a:ea typeface="Arial" pitchFamily="34" charset="-122"/>
                <a:cs typeface="Arial" pitchFamily="34" charset="-120"/>
              </a:rPr>
              <a:t>M</a:t>
            </a:r>
            <a:endParaRPr lang="en-US" sz="587" dirty="0"/>
          </a:p>
        </p:txBody>
      </p:sp>
      <p:sp>
        <p:nvSpPr>
          <p:cNvPr id="150" name="Shape 148"/>
          <p:cNvSpPr/>
          <p:nvPr/>
        </p:nvSpPr>
        <p:spPr>
          <a:xfrm>
            <a:off x="10259695" y="6313329"/>
            <a:ext cx="324009" cy="166688"/>
          </a:xfrm>
          <a:prstGeom prst="roundRect">
            <a:avLst>
              <a:gd name="adj" fmla="val 24381"/>
            </a:avLst>
          </a:prstGeom>
          <a:ln w="6773">
            <a:solidFill>
              <a:srgbClr val="16211D">
                <a:alpha val="12000"/>
              </a:srgbClr>
            </a:solidFill>
            <a:prstDash val="solid"/>
          </a:ln>
        </p:spPr>
      </p:sp>
      <p:sp>
        <p:nvSpPr>
          <p:cNvPr id="151" name="Text 149"/>
          <p:cNvSpPr/>
          <p:nvPr/>
        </p:nvSpPr>
        <p:spPr>
          <a:xfrm>
            <a:off x="10228368" y="6333649"/>
            <a:ext cx="386662" cy="164148"/>
          </a:xfrm>
          <a:prstGeom prst="rect">
            <a:avLst/>
          </a:prstGeom>
          <a:noFill/>
          <a:ln/>
        </p:spPr>
        <p:txBody>
          <a:bodyPr wrap="square" lIns="25400" tIns="25400" rIns="25400" bIns="25400" rtlCol="0" anchor="t">
            <a:normAutofit/>
          </a:bodyPr>
          <a:lstStyle/>
          <a:p>
            <a:pPr algn="ctr" indent="0" marL="0">
              <a:lnSpc>
                <a:spcPct val="132857"/>
              </a:lnSpc>
              <a:buNone/>
            </a:pPr>
            <a:r>
              <a:rPr lang="en-US" sz="640" b="1" dirty="0">
                <a:solidFill>
                  <a:srgbClr val="16211D">
                    <a:alpha val="55000"/>
                  </a:srgbClr>
                </a:solidFill>
                <a:latin typeface="Arial" pitchFamily="34" charset="0"/>
                <a:ea typeface="Arial" pitchFamily="34" charset="-122"/>
                <a:cs typeface="Arial" pitchFamily="34" charset="-120"/>
              </a:rPr>
              <a:t>−</a:t>
            </a:r>
            <a:endParaRPr lang="en-US" sz="640" dirty="0"/>
          </a:p>
        </p:txBody>
      </p:sp>
      <p:sp>
        <p:nvSpPr>
          <p:cNvPr id="152" name="Shape 150"/>
          <p:cNvSpPr/>
          <p:nvPr/>
        </p:nvSpPr>
        <p:spPr>
          <a:xfrm>
            <a:off x="7847330" y="6649244"/>
            <a:ext cx="462439" cy="231299"/>
          </a:xfrm>
          <a:prstGeom prst="roundRect">
            <a:avLst>
              <a:gd name="adj" fmla="val 50000"/>
            </a:avLst>
          </a:prstGeom>
          <a:solidFill>
            <a:srgbClr val="019A44"/>
          </a:solidFill>
          <a:ln w="6773">
            <a:solidFill>
              <a:srgbClr val="019A44"/>
            </a:solidFill>
            <a:prstDash val="solid"/>
          </a:ln>
        </p:spPr>
      </p:sp>
      <p:sp>
        <p:nvSpPr>
          <p:cNvPr id="153" name="Text 151"/>
          <p:cNvSpPr/>
          <p:nvPr/>
        </p:nvSpPr>
        <p:spPr>
          <a:xfrm>
            <a:off x="7948930" y="6696657"/>
            <a:ext cx="335439"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Khalol</a:t>
            </a:r>
            <a:endParaRPr lang="en-US" sz="693" dirty="0"/>
          </a:p>
        </p:txBody>
      </p:sp>
      <p:sp>
        <p:nvSpPr>
          <p:cNvPr id="154" name="Shape 152"/>
          <p:cNvSpPr/>
          <p:nvPr/>
        </p:nvSpPr>
        <p:spPr>
          <a:xfrm>
            <a:off x="8363902" y="6649244"/>
            <a:ext cx="554672" cy="231299"/>
          </a:xfrm>
          <a:prstGeom prst="roundRect">
            <a:avLst>
              <a:gd name="adj" fmla="val 50000"/>
            </a:avLst>
          </a:prstGeom>
          <a:solidFill>
            <a:srgbClr val="FFFFFF"/>
          </a:solidFill>
          <a:ln w="6773">
            <a:solidFill>
              <a:srgbClr val="E4EAE7"/>
            </a:solidFill>
            <a:prstDash val="solid"/>
          </a:ln>
        </p:spPr>
      </p:sp>
      <p:sp>
        <p:nvSpPr>
          <p:cNvPr id="155" name="Text 153"/>
          <p:cNvSpPr/>
          <p:nvPr/>
        </p:nvSpPr>
        <p:spPr>
          <a:xfrm>
            <a:off x="8465502" y="6696657"/>
            <a:ext cx="427672"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16211D"/>
                </a:solidFill>
                <a:latin typeface="Arial" pitchFamily="34" charset="0"/>
                <a:ea typeface="Arial" pitchFamily="34" charset="-122"/>
                <a:cs typeface="Arial" pitchFamily="34" charset="-120"/>
              </a:rPr>
              <a:t>Yonbosh</a:t>
            </a:r>
            <a:endParaRPr lang="en-US" sz="693" dirty="0"/>
          </a:p>
        </p:txBody>
      </p:sp>
      <p:sp>
        <p:nvSpPr>
          <p:cNvPr id="156" name="Shape 154"/>
          <p:cNvSpPr/>
          <p:nvPr/>
        </p:nvSpPr>
        <p:spPr>
          <a:xfrm>
            <a:off x="8972867" y="6649244"/>
            <a:ext cx="430054" cy="231299"/>
          </a:xfrm>
          <a:prstGeom prst="roundRect">
            <a:avLst>
              <a:gd name="adj" fmla="val 50000"/>
            </a:avLst>
          </a:prstGeom>
          <a:solidFill>
            <a:srgbClr val="FFFFFF"/>
          </a:solidFill>
          <a:ln w="6773">
            <a:solidFill>
              <a:srgbClr val="E4EAE7"/>
            </a:solidFill>
            <a:prstDash val="solid"/>
          </a:ln>
        </p:spPr>
      </p:sp>
      <p:sp>
        <p:nvSpPr>
          <p:cNvPr id="157" name="Text 155"/>
          <p:cNvSpPr/>
          <p:nvPr/>
        </p:nvSpPr>
        <p:spPr>
          <a:xfrm>
            <a:off x="9074467" y="6696657"/>
            <a:ext cx="303054"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16211D"/>
                </a:solidFill>
                <a:latin typeface="Arial" pitchFamily="34" charset="0"/>
                <a:ea typeface="Arial" pitchFamily="34" charset="-122"/>
                <a:cs typeface="Arial" pitchFamily="34" charset="-120"/>
              </a:rPr>
              <a:t>Chala</a:t>
            </a:r>
            <a:endParaRPr lang="en-US" sz="693" dirty="0"/>
          </a:p>
        </p:txBody>
      </p:sp>
      <p:sp>
        <p:nvSpPr>
          <p:cNvPr id="158" name="Shape 156"/>
          <p:cNvSpPr/>
          <p:nvPr/>
        </p:nvSpPr>
        <p:spPr>
          <a:xfrm>
            <a:off x="7847330" y="6934676"/>
            <a:ext cx="503237" cy="231299"/>
          </a:xfrm>
          <a:prstGeom prst="roundRect">
            <a:avLst>
              <a:gd name="adj" fmla="val 50000"/>
            </a:avLst>
          </a:prstGeom>
          <a:solidFill>
            <a:srgbClr val="D7263D"/>
          </a:solidFill>
          <a:ln w="6773">
            <a:solidFill>
              <a:srgbClr val="D7263D"/>
            </a:solidFill>
            <a:prstDash val="solid"/>
          </a:ln>
        </p:spPr>
      </p:sp>
      <p:sp>
        <p:nvSpPr>
          <p:cNvPr id="159" name="Text 157"/>
          <p:cNvSpPr/>
          <p:nvPr/>
        </p:nvSpPr>
        <p:spPr>
          <a:xfrm>
            <a:off x="7948930" y="6982089"/>
            <a:ext cx="376237"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Tanbeh</a:t>
            </a:r>
            <a:endParaRPr lang="en-US" sz="693" dirty="0"/>
          </a:p>
        </p:txBody>
      </p:sp>
      <p:sp>
        <p:nvSpPr>
          <p:cNvPr id="160" name="Shape 158"/>
          <p:cNvSpPr/>
          <p:nvPr/>
        </p:nvSpPr>
        <p:spPr>
          <a:xfrm>
            <a:off x="8404701" y="6934676"/>
            <a:ext cx="433546" cy="231299"/>
          </a:xfrm>
          <a:prstGeom prst="roundRect">
            <a:avLst>
              <a:gd name="adj" fmla="val 50000"/>
            </a:avLst>
          </a:prstGeom>
          <a:solidFill>
            <a:srgbClr val="D7263D"/>
          </a:solidFill>
          <a:ln w="6773">
            <a:solidFill>
              <a:srgbClr val="D7263D"/>
            </a:solidFill>
            <a:prstDash val="solid"/>
          </a:ln>
        </p:spPr>
      </p:sp>
      <p:sp>
        <p:nvSpPr>
          <p:cNvPr id="161" name="Text 159"/>
          <p:cNvSpPr/>
          <p:nvPr/>
        </p:nvSpPr>
        <p:spPr>
          <a:xfrm>
            <a:off x="8506301" y="6982089"/>
            <a:ext cx="306546"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Dakki</a:t>
            </a:r>
            <a:endParaRPr lang="en-US" sz="693" dirty="0"/>
          </a:p>
        </p:txBody>
      </p:sp>
      <p:sp>
        <p:nvSpPr>
          <p:cNvPr id="162" name="Shape 160"/>
          <p:cNvSpPr/>
          <p:nvPr/>
        </p:nvSpPr>
        <p:spPr>
          <a:xfrm>
            <a:off x="8892381" y="6934676"/>
            <a:ext cx="486251" cy="231299"/>
          </a:xfrm>
          <a:prstGeom prst="roundRect">
            <a:avLst>
              <a:gd name="adj" fmla="val 50000"/>
            </a:avLst>
          </a:prstGeom>
          <a:solidFill>
            <a:srgbClr val="D7263D"/>
          </a:solidFill>
          <a:ln w="6773">
            <a:solidFill>
              <a:srgbClr val="D7263D"/>
            </a:solidFill>
            <a:prstDash val="solid"/>
          </a:ln>
        </p:spPr>
      </p:sp>
      <p:sp>
        <p:nvSpPr>
          <p:cNvPr id="163" name="Text 161"/>
          <p:cNvSpPr/>
          <p:nvPr/>
        </p:nvSpPr>
        <p:spPr>
          <a:xfrm>
            <a:off x="8993981" y="6982089"/>
            <a:ext cx="359251"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Girrom</a:t>
            </a:r>
            <a:endParaRPr lang="en-US" sz="693" dirty="0"/>
          </a:p>
        </p:txBody>
      </p:sp>
      <p:sp>
        <p:nvSpPr>
          <p:cNvPr id="164" name="Shape 162"/>
          <p:cNvSpPr/>
          <p:nvPr/>
        </p:nvSpPr>
        <p:spPr>
          <a:xfrm>
            <a:off x="9432925" y="6934676"/>
            <a:ext cx="570706" cy="231299"/>
          </a:xfrm>
          <a:prstGeom prst="roundRect">
            <a:avLst>
              <a:gd name="adj" fmla="val 50000"/>
            </a:avLst>
          </a:prstGeom>
          <a:solidFill>
            <a:srgbClr val="D7263D"/>
          </a:solidFill>
          <a:ln w="6773">
            <a:solidFill>
              <a:srgbClr val="D7263D"/>
            </a:solidFill>
            <a:prstDash val="solid"/>
          </a:ln>
        </p:spPr>
      </p:sp>
      <p:sp>
        <p:nvSpPr>
          <p:cNvPr id="165" name="Text 163"/>
          <p:cNvSpPr/>
          <p:nvPr/>
        </p:nvSpPr>
        <p:spPr>
          <a:xfrm>
            <a:off x="9534525" y="6982089"/>
            <a:ext cx="443706" cy="174572"/>
          </a:xfrm>
          <a:prstGeom prst="rect">
            <a:avLst/>
          </a:prstGeom>
          <a:noFill/>
          <a:ln/>
        </p:spPr>
        <p:txBody>
          <a:bodyPr wrap="square" lIns="25400" tIns="25400" rIns="25400" bIns="25400" rtlCol="0" anchor="ctr">
            <a:normAutofit/>
          </a:bodyPr>
          <a:lstStyle/>
          <a:p>
            <a:pPr algn="l" indent="0" marL="0">
              <a:lnSpc>
                <a:spcPct val="134333"/>
              </a:lnSpc>
              <a:buNone/>
            </a:pPr>
            <a:r>
              <a:rPr lang="en-US" sz="693" b="1" dirty="0">
                <a:solidFill>
                  <a:srgbClr val="FFFFFF"/>
                </a:solidFill>
                <a:latin typeface="Arial" pitchFamily="34" charset="0"/>
                <a:ea typeface="Arial" pitchFamily="34" charset="-122"/>
                <a:cs typeface="Arial" pitchFamily="34" charset="-120"/>
              </a:rPr>
              <a:t>Madichal</a:t>
            </a:r>
            <a:endParaRPr lang="en-US" sz="693" dirty="0"/>
          </a:p>
        </p:txBody>
      </p:sp>
      <p:sp>
        <p:nvSpPr>
          <p:cNvPr id="166" name="Shape 164"/>
          <p:cNvSpPr/>
          <p:nvPr/>
        </p:nvSpPr>
        <p:spPr>
          <a:xfrm>
            <a:off x="3017996" y="7227729"/>
            <a:ext cx="7748746" cy="1478121"/>
          </a:xfrm>
          <a:prstGeom prst="roundRect">
            <a:avLst>
              <a:gd name="adj" fmla="val 8248"/>
            </a:avLst>
          </a:prstGeom>
          <a:solidFill>
            <a:srgbClr val="FFFFFF"/>
          </a:solidFill>
          <a:ln/>
          <a:effectLst>
            <a:outerShdw sx="100000" sy="100000" kx="0" ky="0" algn="bl" rotWithShape="0" blurRad="152400" dist="38100" dir="5400000">
              <a:srgbClr val="10211D">
                <a:alpha val="7000"/>
              </a:srgbClr>
            </a:outerShdw>
          </a:effectLst>
        </p:spPr>
      </p:sp>
      <p:sp>
        <p:nvSpPr>
          <p:cNvPr id="167" name="Text 165"/>
          <p:cNvSpPr/>
          <p:nvPr/>
        </p:nvSpPr>
        <p:spPr>
          <a:xfrm>
            <a:off x="3180556" y="7363301"/>
            <a:ext cx="3829875" cy="189865"/>
          </a:xfrm>
          <a:prstGeom prst="rect">
            <a:avLst/>
          </a:prstGeom>
          <a:noFill/>
          <a:ln/>
        </p:spPr>
        <p:txBody>
          <a:bodyPr wrap="square" lIns="25400" tIns="25400" rIns="25400" bIns="25400" rtlCol="0" anchor="t">
            <a:normAutofit/>
          </a:bodyPr>
          <a:lstStyle/>
          <a:p>
            <a:pPr algn="l" indent="0" marL="0">
              <a:lnSpc>
                <a:spcPct val="93333"/>
              </a:lnSpc>
              <a:buNone/>
            </a:pPr>
            <a:r>
              <a:rPr lang="en-US" sz="1067" b="1" spc="-21" kern="0" dirty="0">
                <a:solidFill>
                  <a:srgbClr val="16211D"/>
                </a:solidFill>
                <a:latin typeface="Arial" pitchFamily="34" charset="0"/>
                <a:ea typeface="Arial" pitchFamily="34" charset="-122"/>
                <a:cs typeface="Arial" pitchFamily="34" charset="-120"/>
              </a:rPr>
              <a:t>Call log</a:t>
            </a:r>
            <a:endParaRPr lang="en-US" sz="1067" dirty="0"/>
          </a:p>
        </p:txBody>
      </p:sp>
      <p:sp>
        <p:nvSpPr>
          <p:cNvPr id="168" name="Text 166"/>
          <p:cNvSpPr/>
          <p:nvPr/>
        </p:nvSpPr>
        <p:spPr>
          <a:xfrm>
            <a:off x="3180556" y="7542054"/>
            <a:ext cx="3829875" cy="174625"/>
          </a:xfrm>
          <a:prstGeom prst="rect">
            <a:avLst/>
          </a:prstGeom>
          <a:noFill/>
          <a:ln/>
        </p:spPr>
        <p:txBody>
          <a:bodyPr wrap="square" lIns="25400" tIns="25400" rIns="25400" bIns="25400" rtlCol="0" anchor="t">
            <a:normAutofit/>
          </a:bodyPr>
          <a:lstStyle/>
          <a:p>
            <a:pPr algn="l" indent="0" marL="0">
              <a:lnSpc>
                <a:spcPct val="134333"/>
              </a:lnSpc>
              <a:buNone/>
            </a:pPr>
            <a:r>
              <a:rPr lang="en-US" sz="693" dirty="0">
                <a:solidFill>
                  <a:srgbClr val="16211D">
                    <a:alpha val="55000"/>
                  </a:srgbClr>
                </a:solidFill>
                <a:latin typeface="Arial" pitchFamily="34" charset="0"/>
                <a:ea typeface="Arial" pitchFamily="34" charset="-122"/>
                <a:cs typeface="Arial" pitchFamily="34" charset="-120"/>
              </a:rPr>
              <a:t>Every call, what caused it, and who entered it. This is the record a protest is settled from.</a:t>
            </a:r>
            <a:endParaRPr lang="en-US" sz="693" dirty="0"/>
          </a:p>
        </p:txBody>
      </p:sp>
      <p:sp>
        <p:nvSpPr>
          <p:cNvPr id="169" name="Shape 167"/>
          <p:cNvSpPr/>
          <p:nvPr/>
        </p:nvSpPr>
        <p:spPr>
          <a:xfrm>
            <a:off x="3017996" y="7787005"/>
            <a:ext cx="7748746" cy="9525"/>
          </a:xfrm>
          <a:prstGeom prst="rect">
            <a:avLst/>
          </a:prstGeom>
          <a:solidFill>
            <a:srgbClr val="E4EAE7"/>
          </a:solidFill>
          <a:ln/>
        </p:spPr>
      </p:sp>
      <p:sp>
        <p:nvSpPr>
          <p:cNvPr id="170" name="Shape 168"/>
          <p:cNvSpPr/>
          <p:nvPr/>
        </p:nvSpPr>
        <p:spPr>
          <a:xfrm>
            <a:off x="3017996" y="8073602"/>
            <a:ext cx="677386" cy="9525"/>
          </a:xfrm>
          <a:prstGeom prst="rect">
            <a:avLst/>
          </a:prstGeom>
          <a:solidFill>
            <a:srgbClr val="E4EAE7"/>
          </a:solidFill>
          <a:ln/>
        </p:spPr>
      </p:sp>
      <p:sp>
        <p:nvSpPr>
          <p:cNvPr id="171" name="Text 169"/>
          <p:cNvSpPr/>
          <p:nvPr/>
        </p:nvSpPr>
        <p:spPr>
          <a:xfrm>
            <a:off x="3153463" y="7874953"/>
            <a:ext cx="482653"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a:t>
            </a:r>
            <a:endParaRPr lang="en-US" sz="613" dirty="0"/>
          </a:p>
        </p:txBody>
      </p:sp>
      <p:sp>
        <p:nvSpPr>
          <p:cNvPr id="172" name="Shape 170"/>
          <p:cNvSpPr/>
          <p:nvPr/>
        </p:nvSpPr>
        <p:spPr>
          <a:xfrm>
            <a:off x="3695224" y="8073602"/>
            <a:ext cx="1116013" cy="9525"/>
          </a:xfrm>
          <a:prstGeom prst="rect">
            <a:avLst/>
          </a:prstGeom>
          <a:solidFill>
            <a:srgbClr val="E4EAE7"/>
          </a:solidFill>
          <a:ln/>
        </p:spPr>
      </p:sp>
      <p:sp>
        <p:nvSpPr>
          <p:cNvPr id="173" name="Text 171"/>
          <p:cNvSpPr/>
          <p:nvPr/>
        </p:nvSpPr>
        <p:spPr>
          <a:xfrm>
            <a:off x="3830691" y="7874953"/>
            <a:ext cx="921279"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CLOCK</a:t>
            </a:r>
            <a:endParaRPr lang="en-US" sz="613" dirty="0"/>
          </a:p>
        </p:txBody>
      </p:sp>
      <p:sp>
        <p:nvSpPr>
          <p:cNvPr id="174" name="Shape 172"/>
          <p:cNvSpPr/>
          <p:nvPr/>
        </p:nvSpPr>
        <p:spPr>
          <a:xfrm>
            <a:off x="4811236" y="8073602"/>
            <a:ext cx="1235075" cy="9525"/>
          </a:xfrm>
          <a:prstGeom prst="rect">
            <a:avLst/>
          </a:prstGeom>
          <a:solidFill>
            <a:srgbClr val="E4EAE7"/>
          </a:solidFill>
          <a:ln/>
        </p:spPr>
      </p:sp>
      <p:sp>
        <p:nvSpPr>
          <p:cNvPr id="175" name="Text 173"/>
          <p:cNvSpPr/>
          <p:nvPr/>
        </p:nvSpPr>
        <p:spPr>
          <a:xfrm>
            <a:off x="4946703" y="7874953"/>
            <a:ext cx="1040342"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CALL</a:t>
            </a:r>
            <a:endParaRPr lang="en-US" sz="613" dirty="0"/>
          </a:p>
        </p:txBody>
      </p:sp>
      <p:sp>
        <p:nvSpPr>
          <p:cNvPr id="176" name="Shape 174"/>
          <p:cNvSpPr/>
          <p:nvPr/>
        </p:nvSpPr>
        <p:spPr>
          <a:xfrm>
            <a:off x="6046470" y="8073602"/>
            <a:ext cx="1366361" cy="9525"/>
          </a:xfrm>
          <a:prstGeom prst="rect">
            <a:avLst/>
          </a:prstGeom>
          <a:solidFill>
            <a:srgbClr val="E4EAE7"/>
          </a:solidFill>
          <a:ln/>
        </p:spPr>
      </p:sp>
      <p:sp>
        <p:nvSpPr>
          <p:cNvPr id="177" name="Text 175"/>
          <p:cNvSpPr/>
          <p:nvPr/>
        </p:nvSpPr>
        <p:spPr>
          <a:xfrm>
            <a:off x="6181937" y="7874953"/>
            <a:ext cx="1171628"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YAKHTAK</a:t>
            </a:r>
            <a:endParaRPr lang="en-US" sz="613" dirty="0"/>
          </a:p>
        </p:txBody>
      </p:sp>
      <p:sp>
        <p:nvSpPr>
          <p:cNvPr id="178" name="Shape 176"/>
          <p:cNvSpPr/>
          <p:nvPr/>
        </p:nvSpPr>
        <p:spPr>
          <a:xfrm>
            <a:off x="7412831" y="8073602"/>
            <a:ext cx="1670685" cy="9525"/>
          </a:xfrm>
          <a:prstGeom prst="rect">
            <a:avLst/>
          </a:prstGeom>
          <a:solidFill>
            <a:srgbClr val="E4EAE7"/>
          </a:solidFill>
          <a:ln/>
        </p:spPr>
      </p:sp>
      <p:sp>
        <p:nvSpPr>
          <p:cNvPr id="179" name="Text 177"/>
          <p:cNvSpPr/>
          <p:nvPr/>
        </p:nvSpPr>
        <p:spPr>
          <a:xfrm>
            <a:off x="7548298" y="7874953"/>
            <a:ext cx="1475952"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ORIGIN</a:t>
            </a:r>
            <a:endParaRPr lang="en-US" sz="613" dirty="0"/>
          </a:p>
        </p:txBody>
      </p:sp>
      <p:sp>
        <p:nvSpPr>
          <p:cNvPr id="180" name="Shape 178"/>
          <p:cNvSpPr/>
          <p:nvPr/>
        </p:nvSpPr>
        <p:spPr>
          <a:xfrm>
            <a:off x="9083516" y="8073602"/>
            <a:ext cx="1683226" cy="9525"/>
          </a:xfrm>
          <a:prstGeom prst="rect">
            <a:avLst/>
          </a:prstGeom>
          <a:solidFill>
            <a:srgbClr val="E4EAE7"/>
          </a:solidFill>
          <a:ln/>
        </p:spPr>
      </p:sp>
      <p:sp>
        <p:nvSpPr>
          <p:cNvPr id="181" name="Text 179"/>
          <p:cNvSpPr/>
          <p:nvPr/>
        </p:nvSpPr>
        <p:spPr>
          <a:xfrm>
            <a:off x="9218983" y="7874953"/>
            <a:ext cx="1488493" cy="155469"/>
          </a:xfrm>
          <a:prstGeom prst="rect">
            <a:avLst/>
          </a:prstGeom>
          <a:noFill/>
          <a:ln/>
        </p:spPr>
        <p:txBody>
          <a:bodyPr wrap="square" lIns="25400" tIns="25400" rIns="25400" bIns="25400" rtlCol="0" anchor="ctr">
            <a:normAutofit/>
          </a:bodyPr>
          <a:lstStyle/>
          <a:p>
            <a:pPr algn="l" indent="0" marL="0">
              <a:lnSpc>
                <a:spcPct val="127262"/>
              </a:lnSpc>
              <a:buNone/>
            </a:pPr>
            <a:r>
              <a:rPr lang="en-US" sz="613" b="1" spc="31" kern="0" dirty="0">
                <a:solidFill>
                  <a:srgbClr val="65726C"/>
                </a:solidFill>
                <a:latin typeface="Arial" pitchFamily="34" charset="0"/>
                <a:ea typeface="Arial" pitchFamily="34" charset="-122"/>
                <a:cs typeface="Arial" pitchFamily="34" charset="-120"/>
              </a:rPr>
              <a:t>ENTERED BY</a:t>
            </a:r>
            <a:endParaRPr lang="en-US" sz="613" dirty="0"/>
          </a:p>
        </p:txBody>
      </p:sp>
      <p:sp>
        <p:nvSpPr>
          <p:cNvPr id="182" name="Shape 180"/>
          <p:cNvSpPr/>
          <p:nvPr/>
        </p:nvSpPr>
        <p:spPr>
          <a:xfrm>
            <a:off x="3017996" y="8436663"/>
            <a:ext cx="677386" cy="9525"/>
          </a:xfrm>
          <a:prstGeom prst="rect">
            <a:avLst/>
          </a:prstGeom>
          <a:solidFill>
            <a:srgbClr val="EEF2F0"/>
          </a:solidFill>
          <a:ln/>
        </p:spPr>
      </p:sp>
      <p:sp>
        <p:nvSpPr>
          <p:cNvPr id="183" name="Text 181"/>
          <p:cNvSpPr/>
          <p:nvPr/>
        </p:nvSpPr>
        <p:spPr>
          <a:xfrm>
            <a:off x="3153463" y="8168428"/>
            <a:ext cx="482653" cy="218281"/>
          </a:xfrm>
          <a:prstGeom prst="rect">
            <a:avLst/>
          </a:prstGeom>
          <a:noFill/>
          <a:ln/>
        </p:spPr>
        <p:txBody>
          <a:bodyPr wrap="square" lIns="25400" tIns="25400" rIns="25400" bIns="25400" rtlCol="0" anchor="ctr">
            <a:normAutofit/>
          </a:bodyPr>
          <a:lstStyle/>
          <a:p>
            <a:pPr algn="l" indent="0" marL="0">
              <a:lnSpc>
                <a:spcPct val="132857"/>
              </a:lnSpc>
              <a:buNone/>
            </a:pPr>
            <a:r>
              <a:rPr lang="en-US" sz="640" dirty="0">
                <a:solidFill>
                  <a:srgbClr val="65726C"/>
                </a:solidFill>
                <a:latin typeface="Courier New" pitchFamily="34" charset="0"/>
                <a:ea typeface="Courier New" pitchFamily="34" charset="-122"/>
                <a:cs typeface="Courier New" pitchFamily="34" charset="-120"/>
              </a:rPr>
              <a:t>4</a:t>
            </a:r>
            <a:endParaRPr lang="en-US" sz="640" dirty="0"/>
          </a:p>
        </p:txBody>
      </p:sp>
      <p:sp>
        <p:nvSpPr>
          <p:cNvPr id="184" name="Shape 182"/>
          <p:cNvSpPr/>
          <p:nvPr/>
        </p:nvSpPr>
        <p:spPr>
          <a:xfrm>
            <a:off x="3695224" y="8436663"/>
            <a:ext cx="1116013" cy="9525"/>
          </a:xfrm>
          <a:prstGeom prst="rect">
            <a:avLst/>
          </a:prstGeom>
          <a:solidFill>
            <a:srgbClr val="EEF2F0"/>
          </a:solidFill>
          <a:ln/>
        </p:spPr>
      </p:sp>
      <p:sp>
        <p:nvSpPr>
          <p:cNvPr id="185" name="Text 183"/>
          <p:cNvSpPr/>
          <p:nvPr/>
        </p:nvSpPr>
        <p:spPr>
          <a:xfrm>
            <a:off x="3830691" y="8168428"/>
            <a:ext cx="921279" cy="218281"/>
          </a:xfrm>
          <a:prstGeom prst="rect">
            <a:avLst/>
          </a:prstGeom>
          <a:noFill/>
          <a:ln/>
        </p:spPr>
        <p:txBody>
          <a:bodyPr wrap="square" lIns="25400" tIns="25400" rIns="25400" bIns="25400" rtlCol="0" anchor="ctr">
            <a:normAutofit/>
          </a:bodyPr>
          <a:lstStyle/>
          <a:p>
            <a:pPr algn="l" indent="0" marL="0">
              <a:lnSpc>
                <a:spcPct val="132857"/>
              </a:lnSpc>
              <a:buNone/>
            </a:pPr>
            <a:r>
              <a:rPr lang="en-US" sz="640" dirty="0">
                <a:solidFill>
                  <a:srgbClr val="65726C"/>
                </a:solidFill>
                <a:latin typeface="Courier New" pitchFamily="34" charset="0"/>
                <a:ea typeface="Courier New" pitchFamily="34" charset="-122"/>
                <a:cs typeface="Courier New" pitchFamily="34" charset="-120"/>
              </a:rPr>
              <a:t>1:34</a:t>
            </a:r>
            <a:endParaRPr lang="en-US" sz="640" dirty="0"/>
          </a:p>
        </p:txBody>
      </p:sp>
      <p:sp>
        <p:nvSpPr>
          <p:cNvPr id="186" name="Shape 184"/>
          <p:cNvSpPr/>
          <p:nvPr/>
        </p:nvSpPr>
        <p:spPr>
          <a:xfrm>
            <a:off x="4811236" y="8436663"/>
            <a:ext cx="1235075" cy="9525"/>
          </a:xfrm>
          <a:prstGeom prst="rect">
            <a:avLst/>
          </a:prstGeom>
          <a:solidFill>
            <a:srgbClr val="EEF2F0"/>
          </a:solidFill>
          <a:ln/>
        </p:spPr>
      </p:sp>
      <p:sp>
        <p:nvSpPr>
          <p:cNvPr id="187" name="Text 185"/>
          <p:cNvSpPr/>
          <p:nvPr/>
        </p:nvSpPr>
        <p:spPr>
          <a:xfrm>
            <a:off x="4946703" y="8168428"/>
            <a:ext cx="1040342" cy="218281"/>
          </a:xfrm>
          <a:prstGeom prst="rect">
            <a:avLst/>
          </a:prstGeom>
          <a:noFill/>
          <a:ln/>
        </p:spPr>
        <p:txBody>
          <a:bodyPr wrap="square" lIns="25400" tIns="25400" rIns="25400" bIns="25400" rtlCol="0" anchor="ctr">
            <a:normAutofit/>
          </a:bodyPr>
          <a:lstStyle/>
          <a:p>
            <a:pPr algn="l" indent="0" marL="0">
              <a:lnSpc>
                <a:spcPct val="135625"/>
              </a:lnSpc>
              <a:buNone/>
            </a:pPr>
            <a:r>
              <a:rPr lang="en-US" sz="747" b="1" dirty="0">
                <a:solidFill>
                  <a:srgbClr val="16211D"/>
                </a:solidFill>
                <a:latin typeface="Arial" pitchFamily="34" charset="0"/>
                <a:ea typeface="Arial" pitchFamily="34" charset="-122"/>
                <a:cs typeface="Arial" pitchFamily="34" charset="-120"/>
              </a:rPr>
              <a:t>Chala</a:t>
            </a:r>
            <a:endParaRPr lang="en-US" sz="747" dirty="0"/>
          </a:p>
        </p:txBody>
      </p:sp>
      <p:sp>
        <p:nvSpPr>
          <p:cNvPr id="188" name="Shape 186"/>
          <p:cNvSpPr/>
          <p:nvPr/>
        </p:nvSpPr>
        <p:spPr>
          <a:xfrm>
            <a:off x="6046470" y="8436663"/>
            <a:ext cx="1366361" cy="9525"/>
          </a:xfrm>
          <a:prstGeom prst="rect">
            <a:avLst/>
          </a:prstGeom>
          <a:solidFill>
            <a:srgbClr val="EEF2F0"/>
          </a:solidFill>
          <a:ln/>
        </p:spPr>
      </p:sp>
      <p:sp>
        <p:nvSpPr>
          <p:cNvPr id="189" name="Shape 187"/>
          <p:cNvSpPr/>
          <p:nvPr/>
        </p:nvSpPr>
        <p:spPr>
          <a:xfrm>
            <a:off x="6181884" y="8171815"/>
            <a:ext cx="333058" cy="180181"/>
          </a:xfrm>
          <a:prstGeom prst="roundRect">
            <a:avLst>
              <a:gd name="adj" fmla="val 50000"/>
            </a:avLst>
          </a:prstGeom>
          <a:solidFill>
            <a:srgbClr val="E8F6FD"/>
          </a:solidFill>
          <a:ln/>
        </p:spPr>
      </p:sp>
      <p:sp>
        <p:nvSpPr>
          <p:cNvPr id="190" name="Text 188"/>
          <p:cNvSpPr/>
          <p:nvPr/>
        </p:nvSpPr>
        <p:spPr>
          <a:xfrm>
            <a:off x="6263164" y="8198908"/>
            <a:ext cx="246698" cy="164095"/>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086690"/>
                </a:solidFill>
                <a:latin typeface="Arial" pitchFamily="34" charset="0"/>
                <a:ea typeface="Arial" pitchFamily="34" charset="-122"/>
                <a:cs typeface="Arial" pitchFamily="34" charset="-120"/>
              </a:rPr>
              <a:t>Blue</a:t>
            </a:r>
            <a:endParaRPr lang="en-US" sz="640" dirty="0"/>
          </a:p>
        </p:txBody>
      </p:sp>
      <p:sp>
        <p:nvSpPr>
          <p:cNvPr id="191" name="Shape 189"/>
          <p:cNvSpPr/>
          <p:nvPr/>
        </p:nvSpPr>
        <p:spPr>
          <a:xfrm>
            <a:off x="7412831" y="8436663"/>
            <a:ext cx="1670685" cy="9525"/>
          </a:xfrm>
          <a:prstGeom prst="rect">
            <a:avLst/>
          </a:prstGeom>
          <a:solidFill>
            <a:srgbClr val="EEF2F0"/>
          </a:solidFill>
          <a:ln/>
        </p:spPr>
      </p:sp>
      <p:sp>
        <p:nvSpPr>
          <p:cNvPr id="192" name="Text 190"/>
          <p:cNvSpPr/>
          <p:nvPr/>
        </p:nvSpPr>
        <p:spPr>
          <a:xfrm>
            <a:off x="7548298" y="8168428"/>
            <a:ext cx="1475952" cy="218281"/>
          </a:xfrm>
          <a:prstGeom prst="rect">
            <a:avLst/>
          </a:prstGeom>
          <a:noFill/>
          <a:ln/>
        </p:spPr>
        <p:txBody>
          <a:bodyPr wrap="square" lIns="25400" tIns="25400" rIns="25400" bIns="25400" rtlCol="0" anchor="ctr">
            <a:normAutofit/>
          </a:bodyPr>
          <a:lstStyle/>
          <a:p>
            <a:pPr algn="l" indent="0" marL="0">
              <a:lnSpc>
                <a:spcPct val="132857"/>
              </a:lnSpc>
              <a:buNone/>
            </a:pPr>
            <a:r>
              <a:rPr lang="en-US" sz="640" dirty="0">
                <a:solidFill>
                  <a:srgbClr val="65726C"/>
                </a:solidFill>
                <a:latin typeface="Courier New" pitchFamily="34" charset="0"/>
                <a:ea typeface="Courier New" pitchFamily="34" charset="-122"/>
                <a:cs typeface="Courier New" pitchFamily="34" charset="-120"/>
              </a:rPr>
              <a:t>AUTO FROM T</a:t>
            </a:r>
            <a:endParaRPr lang="en-US" sz="640" dirty="0"/>
          </a:p>
        </p:txBody>
      </p:sp>
      <p:sp>
        <p:nvSpPr>
          <p:cNvPr id="193" name="Shape 191"/>
          <p:cNvSpPr/>
          <p:nvPr/>
        </p:nvSpPr>
        <p:spPr>
          <a:xfrm>
            <a:off x="9083516" y="8436663"/>
            <a:ext cx="1683226" cy="9525"/>
          </a:xfrm>
          <a:prstGeom prst="rect">
            <a:avLst/>
          </a:prstGeom>
          <a:solidFill>
            <a:srgbClr val="EEF2F0"/>
          </a:solidFill>
          <a:ln/>
        </p:spPr>
      </p:sp>
      <p:sp>
        <p:nvSpPr>
          <p:cNvPr id="194" name="Text 192"/>
          <p:cNvSpPr/>
          <p:nvPr/>
        </p:nvSpPr>
        <p:spPr>
          <a:xfrm>
            <a:off x="9218983" y="8168428"/>
            <a:ext cx="1488493" cy="218281"/>
          </a:xfrm>
          <a:prstGeom prst="rect">
            <a:avLst/>
          </a:prstGeom>
          <a:noFill/>
          <a:ln/>
        </p:spPr>
        <p:txBody>
          <a:bodyPr wrap="square" lIns="25400" tIns="25400" rIns="25400" bIns="25400" rtlCol="0" anchor="ctr">
            <a:normAutofit/>
          </a:bodyPr>
          <a:lstStyle/>
          <a:p>
            <a:pPr algn="l" indent="0" marL="0">
              <a:lnSpc>
                <a:spcPct val="135625"/>
              </a:lnSpc>
              <a:buNone/>
            </a:pPr>
            <a:r>
              <a:rPr lang="en-US" sz="747" dirty="0">
                <a:solidFill>
                  <a:srgbClr val="65726C"/>
                </a:solidFill>
                <a:latin typeface="Arial" pitchFamily="34" charset="0"/>
                <a:ea typeface="Arial" pitchFamily="34" charset="-122"/>
                <a:cs typeface="Arial" pitchFamily="34" charset="-120"/>
              </a:rPr>
              <a:t>System</a:t>
            </a:r>
            <a:endParaRPr lang="en-US" sz="747" dirty="0"/>
          </a:p>
        </p:txBody>
      </p:sp>
      <p:sp>
        <p:nvSpPr>
          <p:cNvPr id="195" name="Text 193"/>
          <p:cNvSpPr/>
          <p:nvPr/>
        </p:nvSpPr>
        <p:spPr>
          <a:xfrm>
            <a:off x="3153463" y="8531490"/>
            <a:ext cx="482653" cy="221721"/>
          </a:xfrm>
          <a:prstGeom prst="rect">
            <a:avLst/>
          </a:prstGeom>
          <a:noFill/>
          <a:ln/>
        </p:spPr>
        <p:txBody>
          <a:bodyPr wrap="square" lIns="25400" tIns="25400" rIns="25400" bIns="25400" rtlCol="0" anchor="ctr">
            <a:normAutofit/>
          </a:bodyPr>
          <a:lstStyle/>
          <a:p>
            <a:pPr algn="l" indent="0" marL="0">
              <a:lnSpc>
                <a:spcPct val="132857"/>
              </a:lnSpc>
              <a:buNone/>
            </a:pPr>
            <a:r>
              <a:rPr lang="en-US" sz="640" dirty="0">
                <a:solidFill>
                  <a:srgbClr val="65726C"/>
                </a:solidFill>
                <a:latin typeface="Courier New" pitchFamily="34" charset="0"/>
                <a:ea typeface="Courier New" pitchFamily="34" charset="-122"/>
                <a:cs typeface="Courier New" pitchFamily="34" charset="-120"/>
              </a:rPr>
              <a:t>3</a:t>
            </a:r>
            <a:endParaRPr lang="en-US" sz="640" dirty="0"/>
          </a:p>
        </p:txBody>
      </p:sp>
      <p:sp>
        <p:nvSpPr>
          <p:cNvPr id="196" name="Text 194"/>
          <p:cNvSpPr/>
          <p:nvPr/>
        </p:nvSpPr>
        <p:spPr>
          <a:xfrm>
            <a:off x="3830691" y="8531490"/>
            <a:ext cx="921279" cy="221721"/>
          </a:xfrm>
          <a:prstGeom prst="rect">
            <a:avLst/>
          </a:prstGeom>
          <a:noFill/>
          <a:ln/>
        </p:spPr>
        <p:txBody>
          <a:bodyPr wrap="square" lIns="25400" tIns="25400" rIns="25400" bIns="25400" rtlCol="0" anchor="ctr">
            <a:normAutofit/>
          </a:bodyPr>
          <a:lstStyle/>
          <a:p>
            <a:pPr algn="l" indent="0" marL="0">
              <a:lnSpc>
                <a:spcPct val="132857"/>
              </a:lnSpc>
              <a:buNone/>
            </a:pPr>
            <a:r>
              <a:rPr lang="en-US" sz="640" dirty="0">
                <a:solidFill>
                  <a:srgbClr val="65726C"/>
                </a:solidFill>
                <a:latin typeface="Courier New" pitchFamily="34" charset="0"/>
                <a:ea typeface="Courier New" pitchFamily="34" charset="-122"/>
                <a:cs typeface="Courier New" pitchFamily="34" charset="-120"/>
              </a:rPr>
              <a:t>1:34</a:t>
            </a:r>
            <a:endParaRPr lang="en-US" sz="640" dirty="0"/>
          </a:p>
        </p:txBody>
      </p:sp>
      <p:sp>
        <p:nvSpPr>
          <p:cNvPr id="197" name="Text 195"/>
          <p:cNvSpPr/>
          <p:nvPr/>
        </p:nvSpPr>
        <p:spPr>
          <a:xfrm>
            <a:off x="4946703" y="8531490"/>
            <a:ext cx="1040342" cy="221721"/>
          </a:xfrm>
          <a:prstGeom prst="rect">
            <a:avLst/>
          </a:prstGeom>
          <a:noFill/>
          <a:ln/>
        </p:spPr>
        <p:txBody>
          <a:bodyPr wrap="square" lIns="25400" tIns="25400" rIns="25400" bIns="25400" rtlCol="0" anchor="ctr">
            <a:normAutofit/>
          </a:bodyPr>
          <a:lstStyle/>
          <a:p>
            <a:pPr algn="l" indent="0" marL="0">
              <a:lnSpc>
                <a:spcPct val="135625"/>
              </a:lnSpc>
              <a:buNone/>
            </a:pPr>
            <a:r>
              <a:rPr lang="en-US" sz="747" b="1" dirty="0">
                <a:solidFill>
                  <a:srgbClr val="16211D"/>
                </a:solidFill>
                <a:latin typeface="Arial" pitchFamily="34" charset="0"/>
                <a:ea typeface="Arial" pitchFamily="34" charset="-122"/>
                <a:cs typeface="Arial" pitchFamily="34" charset="-120"/>
              </a:rPr>
              <a:t>Tanbeh</a:t>
            </a:r>
            <a:endParaRPr lang="en-US" sz="747" dirty="0"/>
          </a:p>
        </p:txBody>
      </p:sp>
      <p:sp>
        <p:nvSpPr>
          <p:cNvPr id="198" name="Shape 196"/>
          <p:cNvSpPr/>
          <p:nvPr/>
        </p:nvSpPr>
        <p:spPr>
          <a:xfrm>
            <a:off x="6181884" y="8534876"/>
            <a:ext cx="390525" cy="180181"/>
          </a:xfrm>
          <a:prstGeom prst="roundRect">
            <a:avLst>
              <a:gd name="adj" fmla="val 50000"/>
            </a:avLst>
          </a:prstGeom>
          <a:solidFill>
            <a:srgbClr val="E9F7EE"/>
          </a:solidFill>
          <a:ln/>
        </p:spPr>
      </p:sp>
      <p:sp>
        <p:nvSpPr>
          <p:cNvPr id="199" name="Text 197"/>
          <p:cNvSpPr/>
          <p:nvPr/>
        </p:nvSpPr>
        <p:spPr>
          <a:xfrm>
            <a:off x="6263164" y="8561969"/>
            <a:ext cx="304165" cy="164094"/>
          </a:xfrm>
          <a:prstGeom prst="rect">
            <a:avLst/>
          </a:prstGeom>
          <a:noFill/>
          <a:ln/>
        </p:spPr>
        <p:txBody>
          <a:bodyPr wrap="square" lIns="25400" tIns="25400" rIns="25400" bIns="25400" rtlCol="0" anchor="ctr">
            <a:normAutofit/>
          </a:bodyPr>
          <a:lstStyle/>
          <a:p>
            <a:pPr algn="l" indent="0" marL="0">
              <a:lnSpc>
                <a:spcPct val="132857"/>
              </a:lnSpc>
              <a:buNone/>
            </a:pPr>
            <a:r>
              <a:rPr lang="en-US" sz="640" b="1" dirty="0">
                <a:solidFill>
                  <a:srgbClr val="046830"/>
                </a:solidFill>
                <a:latin typeface="Arial" pitchFamily="34" charset="0"/>
                <a:ea typeface="Arial" pitchFamily="34" charset="-122"/>
                <a:cs typeface="Arial" pitchFamily="34" charset="-120"/>
              </a:rPr>
              <a:t>Green</a:t>
            </a:r>
            <a:endParaRPr lang="en-US" sz="640" dirty="0"/>
          </a:p>
        </p:txBody>
      </p:sp>
      <p:sp>
        <p:nvSpPr>
          <p:cNvPr id="200" name="Text 198"/>
          <p:cNvSpPr/>
          <p:nvPr/>
        </p:nvSpPr>
        <p:spPr>
          <a:xfrm>
            <a:off x="7548298" y="8531490"/>
            <a:ext cx="1475952" cy="221721"/>
          </a:xfrm>
          <a:prstGeom prst="rect">
            <a:avLst/>
          </a:prstGeom>
          <a:noFill/>
          <a:ln/>
        </p:spPr>
        <p:txBody>
          <a:bodyPr wrap="square" lIns="25400" tIns="25400" rIns="25400" bIns="25400" rtlCol="0" anchor="ctr">
            <a:normAutofit/>
          </a:bodyPr>
          <a:lstStyle/>
          <a:p>
            <a:pPr algn="l" indent="0" marL="0">
              <a:lnSpc>
                <a:spcPct val="132857"/>
              </a:lnSpc>
              <a:buNone/>
            </a:pPr>
            <a:r>
              <a:rPr lang="en-US" sz="640" dirty="0">
                <a:solidFill>
                  <a:srgbClr val="65726C"/>
                </a:solidFill>
                <a:latin typeface="Courier New" pitchFamily="34" charset="0"/>
                <a:ea typeface="Courier New" pitchFamily="34" charset="-122"/>
                <a:cs typeface="Courier New" pitchFamily="34" charset="-120"/>
              </a:rPr>
              <a:t>MANUAL</a:t>
            </a:r>
            <a:endParaRPr lang="en-US" sz="640" dirty="0"/>
          </a:p>
        </p:txBody>
      </p:sp>
      <p:sp>
        <p:nvSpPr>
          <p:cNvPr id="201" name="Text 199"/>
          <p:cNvSpPr/>
          <p:nvPr/>
        </p:nvSpPr>
        <p:spPr>
          <a:xfrm>
            <a:off x="9218983" y="8531490"/>
            <a:ext cx="1488493" cy="221721"/>
          </a:xfrm>
          <a:prstGeom prst="rect">
            <a:avLst/>
          </a:prstGeom>
          <a:noFill/>
          <a:ln/>
        </p:spPr>
        <p:txBody>
          <a:bodyPr wrap="square" lIns="25400" tIns="25400" rIns="25400" bIns="25400" rtlCol="0" anchor="ctr">
            <a:normAutofit/>
          </a:bodyPr>
          <a:lstStyle/>
          <a:p>
            <a:pPr algn="l" indent="0" marL="0">
              <a:lnSpc>
                <a:spcPct val="135625"/>
              </a:lnSpc>
              <a:buNone/>
            </a:pPr>
            <a:r>
              <a:rPr lang="en-US" sz="747" dirty="0">
                <a:solidFill>
                  <a:srgbClr val="65726C"/>
                </a:solidFill>
                <a:latin typeface="Arial" pitchFamily="34" charset="0"/>
                <a:ea typeface="Arial" pitchFamily="34" charset="-122"/>
                <a:cs typeface="Arial" pitchFamily="34" charset="-120"/>
              </a:rPr>
              <a:t>Aziz Karimov</a:t>
            </a:r>
            <a:endParaRPr lang="en-US" sz="747" dirty="0"/>
          </a:p>
        </p:txBody>
      </p:sp>
      <p:sp>
        <p:nvSpPr>
          <p:cNvPr id="202" name="Text 200"/>
          <p:cNvSpPr/>
          <p:nvPr/>
        </p:nvSpPr>
        <p:spPr>
          <a:xfrm>
            <a:off x="11353800" y="32004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One press per action</a:t>
            </a:r>
            <a:endParaRPr lang="en-US" sz="2550" dirty="0"/>
          </a:p>
        </p:txBody>
      </p:sp>
      <p:sp>
        <p:nvSpPr>
          <p:cNvPr id="203" name="Text 201"/>
          <p:cNvSpPr/>
          <p:nvPr/>
        </p:nvSpPr>
        <p:spPr>
          <a:xfrm>
            <a:off x="11353800" y="3696811"/>
            <a:ext cx="596493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Two corner panels in the athletes' own colours and the clock between them: the operator's eye lands on the same three places all day. Every counter carries its own minus, so a correction does not have to be counted backwards.</a:t>
            </a:r>
            <a:endParaRPr lang="en-US" sz="2100" dirty="0"/>
          </a:p>
        </p:txBody>
      </p:sp>
      <p:sp>
        <p:nvSpPr>
          <p:cNvPr id="204" name="Text 202"/>
          <p:cNvSpPr/>
          <p:nvPr/>
        </p:nvSpPr>
        <p:spPr>
          <a:xfrm>
            <a:off x="11353800" y="61722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The record a protest is settled from</a:t>
            </a:r>
            <a:endParaRPr lang="en-US" sz="2550" dirty="0"/>
          </a:p>
        </p:txBody>
      </p:sp>
      <p:sp>
        <p:nvSpPr>
          <p:cNvPr id="205" name="Text 203"/>
          <p:cNvSpPr/>
          <p:nvPr/>
        </p:nvSpPr>
        <p:spPr>
          <a:xfrm>
            <a:off x="11353800" y="6668612"/>
            <a:ext cx="5964936" cy="15925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Each call is logged with the clock reading the press carried, what caused it, and who entered it. A withdrawn call is struck through with its consequences rather than erased.</a:t>
            </a:r>
            <a:endParaRPr lang="en-US" sz="2100" dirty="0"/>
          </a:p>
        </p:txBody>
      </p:sp>
      <p:pic>
        <p:nvPicPr>
          <p:cNvPr id="206"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02 · THE RULES</a:t>
            </a:r>
            <a:endParaRPr lang="en-US" sz="1800" dirty="0"/>
          </a:p>
        </p:txBody>
      </p:sp>
      <p:pic>
        <p:nvPicPr>
          <p:cNvPr id="3"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C3013"/>
        </a:solidFill>
      </p:bgPr>
    </p:bg>
    <p:spTree>
      <p:nvGrpSpPr>
        <p:cNvPr id="1" name=""/>
        <p:cNvGrpSpPr/>
        <p:nvPr/>
      </p:nvGrpSpPr>
      <p:grpSpPr>
        <a:xfrm>
          <a:off x="0" y="0"/>
          <a:ext cx="0" cy="0"/>
          <a:chOff x="0" y="0"/>
          <a:chExt cx="0" cy="0"/>
        </a:xfrm>
      </p:grpSpPr>
      <p:sp>
        <p:nvSpPr>
          <p:cNvPr id="2" name="Text 0"/>
          <p:cNvSpPr/>
          <p:nvPr/>
        </p:nvSpPr>
        <p:spPr>
          <a:xfrm>
            <a:off x="1031558" y="3477101"/>
            <a:ext cx="3296221" cy="2266950"/>
          </a:xfrm>
          <a:prstGeom prst="rect">
            <a:avLst/>
          </a:prstGeom>
          <a:noFill/>
          <a:ln/>
        </p:spPr>
        <p:txBody>
          <a:bodyPr wrap="square" lIns="25400" tIns="25400" rIns="25400" bIns="25400" rtlCol="0" anchor="t">
            <a:normAutofit/>
          </a:bodyPr>
          <a:lstStyle/>
          <a:p>
            <a:pPr algn="l" indent="0" marL="0">
              <a:lnSpc>
                <a:spcPct val="80137"/>
              </a:lnSpc>
              <a:buNone/>
            </a:pPr>
            <a:r>
              <a:rPr lang="en-US" sz="19500" b="1" spc="-390" kern="0" dirty="0">
                <a:solidFill>
                  <a:srgbClr val="AE1800"/>
                </a:solidFill>
                <a:latin typeface="Arial" pitchFamily="34" charset="0"/>
                <a:ea typeface="Arial" pitchFamily="34" charset="-122"/>
                <a:cs typeface="Arial" pitchFamily="34" charset="-120"/>
              </a:rPr>
              <a:t>03</a:t>
            </a:r>
            <a:endParaRPr lang="en-US" sz="19500" dirty="0"/>
          </a:p>
        </p:txBody>
      </p:sp>
      <p:sp>
        <p:nvSpPr>
          <p:cNvPr id="3" name="Text 1"/>
          <p:cNvSpPr/>
          <p:nvPr/>
        </p:nvSpPr>
        <p:spPr>
          <a:xfrm>
            <a:off x="1107599" y="6163151"/>
            <a:ext cx="255616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F3F2F2"/>
                </a:solidFill>
                <a:latin typeface="Arial" pitchFamily="34" charset="0"/>
                <a:ea typeface="Arial" pitchFamily="34" charset="-122"/>
                <a:cs typeface="Arial" pitchFamily="34" charset="-120"/>
              </a:rPr>
              <a:t>The hall</a:t>
            </a:r>
            <a:endParaRPr lang="en-US" sz="4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03 · THE HALL</a:t>
            </a:r>
            <a:endParaRPr lang="en-US" sz="1800" dirty="0"/>
          </a:p>
        </p:txBody>
      </p:sp>
      <p:sp>
        <p:nvSpPr>
          <p:cNvPr id="3" name="Text 1"/>
          <p:cNvSpPr/>
          <p:nvPr/>
        </p:nvSpPr>
        <p:spPr>
          <a:xfrm>
            <a:off x="1022985" y="2552700"/>
            <a:ext cx="17734216" cy="2705100"/>
          </a:xfrm>
          <a:prstGeom prst="rect">
            <a:avLst/>
          </a:prstGeom>
          <a:noFill/>
          <a:ln/>
        </p:spPr>
        <p:txBody>
          <a:bodyPr wrap="square" lIns="25400" tIns="25400" rIns="25400" bIns="25400" rtlCol="0" anchor="t">
            <a:normAutofit/>
          </a:bodyPr>
          <a:lstStyle/>
          <a:p>
            <a:pPr algn="l" indent="0" marL="0">
              <a:lnSpc>
                <a:spcPct val="89172"/>
              </a:lnSpc>
              <a:buNone/>
            </a:pPr>
            <a:r>
              <a:rPr lang="en-US" sz="21000" b="1" spc="-420" kern="0" dirty="0">
                <a:solidFill>
                  <a:srgbClr val="EC3013"/>
                </a:solidFill>
                <a:latin typeface="Arial" pitchFamily="34" charset="0"/>
                <a:ea typeface="Arial" pitchFamily="34" charset="-122"/>
                <a:cs typeface="Arial" pitchFamily="34" charset="-120"/>
              </a:rPr>
              <a:t>66/sec</a:t>
            </a:r>
            <a:endParaRPr lang="en-US" sz="21000" dirty="0"/>
          </a:p>
        </p:txBody>
      </p:sp>
      <p:sp>
        <p:nvSpPr>
          <p:cNvPr id="4" name="Text 2"/>
          <p:cNvSpPr/>
          <p:nvPr/>
        </p:nvSpPr>
        <p:spPr>
          <a:xfrm>
            <a:off x="1143000" y="5676900"/>
            <a:ext cx="7243277" cy="18669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A bracket polling every three seconds in front of 200 spectators is roughly 66 requests a second, each booting a framework and querying the database. That is what falls over at an event — not the data, which is tiny.</a:t>
            </a:r>
            <a:endParaRPr lang="en-US" sz="2100" dirty="0"/>
          </a:p>
        </p:txBody>
      </p:sp>
      <p:pic>
        <p:nvPicPr>
          <p:cNvPr id="5"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03 · THE HALL</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The mat scoreboard</a:t>
            </a:r>
            <a:endParaRPr lang="en-US" sz="4800" dirty="0"/>
          </a:p>
        </p:txBody>
      </p:sp>
      <p:sp>
        <p:nvSpPr>
          <p:cNvPr id="4" name="Shape 2"/>
          <p:cNvSpPr/>
          <p:nvPr/>
        </p:nvSpPr>
        <p:spPr>
          <a:xfrm>
            <a:off x="1143000" y="3200400"/>
            <a:ext cx="9753600" cy="5486400"/>
          </a:xfrm>
          <a:prstGeom prst="rect">
            <a:avLst/>
          </a:prstGeom>
          <a:solidFill>
            <a:srgbClr val="05070A"/>
          </a:solidFill>
          <a:ln w="19050">
            <a:solidFill>
              <a:srgbClr val="201E1D">
                <a:alpha val="40000"/>
              </a:srgbClr>
            </a:solidFill>
            <a:prstDash val="solid"/>
          </a:ln>
        </p:spPr>
      </p:sp>
      <p:sp>
        <p:nvSpPr>
          <p:cNvPr id="5" name="Shape 3"/>
          <p:cNvSpPr/>
          <p:nvPr/>
        </p:nvSpPr>
        <p:spPr>
          <a:xfrm>
            <a:off x="1162050" y="3219450"/>
            <a:ext cx="9753600" cy="5486400"/>
          </a:xfrm>
          <a:prstGeom prst="rect">
            <a:avLst/>
          </a:prstGeom>
          <a:solidFill>
            <a:srgbClr val="05070A"/>
          </a:solidFill>
          <a:ln/>
        </p:spPr>
      </p:sp>
      <p:sp>
        <p:nvSpPr>
          <p:cNvPr id="6" name="Shape 4"/>
          <p:cNvSpPr/>
          <p:nvPr/>
        </p:nvSpPr>
        <p:spPr>
          <a:xfrm>
            <a:off x="1162050" y="3219450"/>
            <a:ext cx="9753600" cy="873760"/>
          </a:xfrm>
          <a:prstGeom prst="rect">
            <a:avLst/>
          </a:prstGeom>
          <a:solidFill>
            <a:srgbClr val="0B0F15"/>
          </a:solidFill>
          <a:ln/>
        </p:spPr>
      </p:sp>
      <p:sp>
        <p:nvSpPr>
          <p:cNvPr id="7" name="Shape 5"/>
          <p:cNvSpPr/>
          <p:nvPr/>
        </p:nvSpPr>
        <p:spPr>
          <a:xfrm>
            <a:off x="1162050" y="4083050"/>
            <a:ext cx="9753600" cy="10160"/>
          </a:xfrm>
          <a:prstGeom prst="rect">
            <a:avLst/>
          </a:prstGeom>
          <a:solidFill>
            <a:srgbClr val="1B222C"/>
          </a:solidFill>
          <a:ln/>
        </p:spPr>
      </p:sp>
      <p:sp>
        <p:nvSpPr>
          <p:cNvPr id="8" name="Shape 6"/>
          <p:cNvSpPr/>
          <p:nvPr/>
        </p:nvSpPr>
        <p:spPr>
          <a:xfrm>
            <a:off x="1385570" y="3338830"/>
            <a:ext cx="624840" cy="624840"/>
          </a:xfrm>
          <a:prstGeom prst="roundRect">
            <a:avLst>
              <a:gd name="adj" fmla="val 11382"/>
            </a:avLst>
          </a:prstGeom>
          <a:solidFill>
            <a:srgbClr val="FFFFFF"/>
          </a:solidFill>
          <a:ln w="10160">
            <a:solidFill>
              <a:srgbClr val="1B222C"/>
            </a:solidFill>
            <a:prstDash val="solid"/>
          </a:ln>
        </p:spPr>
      </p:sp>
      <p:sp>
        <p:nvSpPr>
          <p:cNvPr id="9" name="Text 7"/>
          <p:cNvSpPr/>
          <p:nvPr/>
        </p:nvSpPr>
        <p:spPr>
          <a:xfrm>
            <a:off x="1408430" y="3399790"/>
            <a:ext cx="579120" cy="541020"/>
          </a:xfrm>
          <a:prstGeom prst="rect">
            <a:avLst/>
          </a:prstGeom>
          <a:noFill/>
          <a:ln/>
        </p:spPr>
        <p:txBody>
          <a:bodyPr wrap="square" lIns="25400" tIns="25400" rIns="25400" bIns="25400" rtlCol="0" anchor="ctr">
            <a:normAutofit/>
          </a:bodyPr>
          <a:lstStyle/>
          <a:p>
            <a:pPr algn="ctr" indent="0" marL="0">
              <a:lnSpc>
                <a:spcPct val="87500"/>
              </a:lnSpc>
              <a:buNone/>
            </a:pPr>
            <a:r>
              <a:rPr lang="en-US" sz="1120" b="1" dirty="0">
                <a:solidFill>
                  <a:srgbClr val="046830"/>
                </a:solidFill>
                <a:latin typeface="Arial" pitchFamily="34" charset="0"/>
                <a:ea typeface="Arial" pitchFamily="34" charset="-122"/>
                <a:cs typeface="Arial" pitchFamily="34" charset="-120"/>
              </a:rPr>
              <a:t>IKA</a:t>
            </a:r>
            <a:endParaRPr lang="en-US" sz="1120" dirty="0"/>
          </a:p>
        </p:txBody>
      </p:sp>
      <p:sp>
        <p:nvSpPr>
          <p:cNvPr id="10" name="Text 8"/>
          <p:cNvSpPr/>
          <p:nvPr/>
        </p:nvSpPr>
        <p:spPr>
          <a:xfrm>
            <a:off x="2132330" y="3425984"/>
            <a:ext cx="1533207" cy="271780"/>
          </a:xfrm>
          <a:prstGeom prst="rect">
            <a:avLst/>
          </a:prstGeom>
          <a:noFill/>
          <a:ln/>
        </p:spPr>
        <p:txBody>
          <a:bodyPr wrap="none" lIns="25400" tIns="25400" rIns="25400" bIns="25400" rtlCol="0" anchor="t">
            <a:normAutofit/>
          </a:bodyPr>
          <a:lstStyle/>
          <a:p>
            <a:pPr algn="l" indent="0" marL="0">
              <a:lnSpc>
                <a:spcPct val="88462"/>
              </a:lnSpc>
              <a:buNone/>
            </a:pPr>
            <a:r>
              <a:rPr lang="en-US" sz="1840" b="1" spc="-28" kern="0" dirty="0">
                <a:solidFill>
                  <a:srgbClr val="FFFFFF"/>
                </a:solidFill>
                <a:latin typeface="Arial" pitchFamily="34" charset="0"/>
                <a:ea typeface="Arial" pitchFamily="34" charset="-122"/>
                <a:cs typeface="Arial" pitchFamily="34" charset="-120"/>
              </a:rPr>
              <a:t>Mat 2 · No.41</a:t>
            </a:r>
            <a:endParaRPr lang="en-US" sz="1840" dirty="0"/>
          </a:p>
        </p:txBody>
      </p:sp>
      <p:sp>
        <p:nvSpPr>
          <p:cNvPr id="11" name="Text 9"/>
          <p:cNvSpPr/>
          <p:nvPr/>
        </p:nvSpPr>
        <p:spPr>
          <a:xfrm>
            <a:off x="2132330" y="3695224"/>
            <a:ext cx="1533207" cy="219234"/>
          </a:xfrm>
          <a:prstGeom prst="rect">
            <a:avLst/>
          </a:prstGeom>
          <a:noFill/>
          <a:ln/>
        </p:spPr>
        <p:txBody>
          <a:bodyPr wrap="square" lIns="25400" tIns="25400" rIns="25400" bIns="25400" rtlCol="0" anchor="t">
            <a:normAutofit/>
          </a:bodyPr>
          <a:lstStyle/>
          <a:p>
            <a:pPr algn="l" indent="0" marL="0">
              <a:lnSpc>
                <a:spcPct val="137115"/>
              </a:lnSpc>
              <a:buNone/>
            </a:pPr>
            <a:r>
              <a:rPr lang="en-US" sz="920" b="1" spc="74" kern="0" dirty="0">
                <a:solidFill>
                  <a:srgbClr val="8A99AB"/>
                </a:solidFill>
                <a:latin typeface="Arial" pitchFamily="34" charset="0"/>
                <a:ea typeface="Arial" pitchFamily="34" charset="-122"/>
                <a:cs typeface="Arial" pitchFamily="34" charset="-120"/>
              </a:rPr>
              <a:t>QUARTER-FINAL</a:t>
            </a:r>
            <a:endParaRPr lang="en-US" sz="920" dirty="0"/>
          </a:p>
        </p:txBody>
      </p:sp>
      <p:sp>
        <p:nvSpPr>
          <p:cNvPr id="12" name="Shape 10"/>
          <p:cNvSpPr/>
          <p:nvPr/>
        </p:nvSpPr>
        <p:spPr>
          <a:xfrm>
            <a:off x="4991894" y="3318510"/>
            <a:ext cx="2093754" cy="665480"/>
          </a:xfrm>
          <a:prstGeom prst="roundRect">
            <a:avLst>
              <a:gd name="adj" fmla="val 12214"/>
            </a:avLst>
          </a:prstGeom>
          <a:solidFill>
            <a:srgbClr val="0D1613"/>
          </a:solidFill>
          <a:ln w="15240">
            <a:solidFill>
              <a:srgbClr val="0D1613"/>
            </a:solidFill>
            <a:prstDash val="solid"/>
          </a:ln>
        </p:spPr>
      </p:sp>
      <p:sp>
        <p:nvSpPr>
          <p:cNvPr id="13" name="Text 11"/>
          <p:cNvSpPr/>
          <p:nvPr/>
        </p:nvSpPr>
        <p:spPr>
          <a:xfrm>
            <a:off x="5174773" y="3364230"/>
            <a:ext cx="1937369" cy="612140"/>
          </a:xfrm>
          <a:prstGeom prst="rect">
            <a:avLst/>
          </a:prstGeom>
          <a:noFill/>
          <a:ln/>
        </p:spPr>
        <p:txBody>
          <a:bodyPr wrap="square" lIns="25400" tIns="25400" rIns="25400" bIns="25400" rtlCol="0" anchor="t">
            <a:normAutofit/>
          </a:bodyPr>
          <a:lstStyle/>
          <a:p>
            <a:pPr algn="l" indent="0" marL="0">
              <a:lnSpc>
                <a:spcPct val="87597"/>
              </a:lnSpc>
              <a:buNone/>
            </a:pPr>
            <a:r>
              <a:rPr lang="en-US" sz="4520" b="1" dirty="0">
                <a:solidFill>
                  <a:srgbClr val="FF5B3C"/>
                </a:solidFill>
                <a:latin typeface="Courier New" pitchFamily="34" charset="0"/>
                <a:ea typeface="Courier New" pitchFamily="34" charset="-122"/>
                <a:cs typeface="Courier New" pitchFamily="34" charset="-120"/>
              </a:rPr>
              <a:t>01:12</a:t>
            </a:r>
            <a:endParaRPr lang="en-US" sz="4520" dirty="0"/>
          </a:p>
        </p:txBody>
      </p:sp>
      <p:sp>
        <p:nvSpPr>
          <p:cNvPr id="14" name="Text 12"/>
          <p:cNvSpPr/>
          <p:nvPr/>
        </p:nvSpPr>
        <p:spPr>
          <a:xfrm>
            <a:off x="9573737" y="3425984"/>
            <a:ext cx="874554" cy="271780"/>
          </a:xfrm>
          <a:prstGeom prst="rect">
            <a:avLst/>
          </a:prstGeom>
          <a:noFill/>
          <a:ln/>
        </p:spPr>
        <p:txBody>
          <a:bodyPr wrap="none" lIns="25400" tIns="25400" rIns="25400" bIns="25400" rtlCol="0" anchor="t">
            <a:normAutofit/>
          </a:bodyPr>
          <a:lstStyle/>
          <a:p>
            <a:pPr algn="r" indent="0" marL="0">
              <a:lnSpc>
                <a:spcPct val="88462"/>
              </a:lnSpc>
              <a:buNone/>
            </a:pPr>
            <a:r>
              <a:rPr lang="en-US" sz="1840" b="1" spc="-28" kern="0" dirty="0">
                <a:solidFill>
                  <a:srgbClr val="FFFFFF"/>
                </a:solidFill>
                <a:latin typeface="Arial" pitchFamily="34" charset="0"/>
                <a:ea typeface="Arial" pitchFamily="34" charset="-122"/>
                <a:cs typeface="Arial" pitchFamily="34" charset="-120"/>
              </a:rPr>
              <a:t>−60 kg</a:t>
            </a:r>
            <a:endParaRPr lang="en-US" sz="1840" dirty="0"/>
          </a:p>
        </p:txBody>
      </p:sp>
      <p:sp>
        <p:nvSpPr>
          <p:cNvPr id="15" name="Text 13"/>
          <p:cNvSpPr/>
          <p:nvPr/>
        </p:nvSpPr>
        <p:spPr>
          <a:xfrm>
            <a:off x="9573737" y="3695224"/>
            <a:ext cx="874554" cy="219234"/>
          </a:xfrm>
          <a:prstGeom prst="rect">
            <a:avLst/>
          </a:prstGeom>
          <a:noFill/>
          <a:ln/>
        </p:spPr>
        <p:txBody>
          <a:bodyPr wrap="square" lIns="25400" tIns="25400" rIns="25400" bIns="25400" rtlCol="0" anchor="t">
            <a:normAutofit/>
          </a:bodyPr>
          <a:lstStyle/>
          <a:p>
            <a:pPr algn="r" indent="0" marL="0">
              <a:lnSpc>
                <a:spcPct val="137115"/>
              </a:lnSpc>
              <a:buNone/>
            </a:pPr>
            <a:r>
              <a:rPr lang="en-US" sz="920" b="1" spc="74" kern="0" dirty="0">
                <a:solidFill>
                  <a:srgbClr val="8A99AB"/>
                </a:solidFill>
                <a:latin typeface="Arial" pitchFamily="34" charset="0"/>
                <a:ea typeface="Arial" pitchFamily="34" charset="-122"/>
                <a:cs typeface="Arial" pitchFamily="34" charset="-120"/>
              </a:rPr>
              <a:t>SENIOR MEN</a:t>
            </a:r>
            <a:endParaRPr lang="en-US" sz="920" dirty="0"/>
          </a:p>
        </p:txBody>
      </p:sp>
      <p:sp>
        <p:nvSpPr>
          <p:cNvPr id="16" name="Shape 14"/>
          <p:cNvSpPr/>
          <p:nvPr/>
        </p:nvSpPr>
        <p:spPr>
          <a:xfrm>
            <a:off x="10590530" y="3600291"/>
            <a:ext cx="101600" cy="101600"/>
          </a:xfrm>
          <a:prstGeom prst="ellipse">
            <a:avLst/>
          </a:prstGeom>
          <a:solidFill>
            <a:srgbClr val="019A44"/>
          </a:solidFill>
          <a:ln/>
          <a:effectLst>
            <a:outerShdw sx="100000" sy="100000" kx="0" ky="0" algn="bl" rotWithShape="0" blurRad="101600" dist="50800" dir="16200000">
              <a:srgbClr val="019A44">
                <a:alpha val="18000"/>
              </a:srgbClr>
            </a:outerShdw>
          </a:effectLst>
        </p:spPr>
      </p:sp>
      <p:sp>
        <p:nvSpPr>
          <p:cNvPr id="17" name="Shape 15"/>
          <p:cNvSpPr/>
          <p:nvPr/>
        </p:nvSpPr>
        <p:spPr>
          <a:xfrm>
            <a:off x="1294130" y="4184650"/>
            <a:ext cx="9489440" cy="1818640"/>
          </a:xfrm>
          <a:prstGeom prst="roundRect">
            <a:avLst>
              <a:gd name="adj" fmla="val 6145"/>
            </a:avLst>
          </a:prstGeom>
          <a:solidFill>
            <a:srgbClr val="0A2C40"/>
          </a:solidFill>
          <a:ln w="15240">
            <a:solidFill>
              <a:srgbClr val="1A9FD8"/>
            </a:solidFill>
            <a:prstDash val="solid"/>
          </a:ln>
        </p:spPr>
      </p:sp>
      <p:sp>
        <p:nvSpPr>
          <p:cNvPr id="18" name="Shape 16"/>
          <p:cNvSpPr/>
          <p:nvPr/>
        </p:nvSpPr>
        <p:spPr>
          <a:xfrm>
            <a:off x="1309370" y="4199890"/>
            <a:ext cx="132080" cy="1788160"/>
          </a:xfrm>
          <a:prstGeom prst="rect">
            <a:avLst/>
          </a:prstGeom>
          <a:solidFill>
            <a:srgbClr val="1A9FD8"/>
          </a:solidFill>
          <a:ln/>
        </p:spPr>
      </p:sp>
      <p:sp>
        <p:nvSpPr>
          <p:cNvPr id="19" name="Shape 17"/>
          <p:cNvSpPr/>
          <p:nvPr/>
        </p:nvSpPr>
        <p:spPr>
          <a:xfrm>
            <a:off x="1644650" y="4824730"/>
            <a:ext cx="802640" cy="538480"/>
          </a:xfrm>
          <a:prstGeom prst="roundRect">
            <a:avLst>
              <a:gd name="adj" fmla="val 11321"/>
            </a:avLst>
          </a:prstGeom>
          <a:solidFill>
            <a:srgbClr val="171E27"/>
          </a:solidFill>
          <a:ln w="10160">
            <a:solidFill>
              <a:srgbClr val="232D39"/>
            </a:solidFill>
            <a:prstDash val="solid"/>
          </a:ln>
        </p:spPr>
      </p:sp>
      <p:sp>
        <p:nvSpPr>
          <p:cNvPr id="20" name="Text 18"/>
          <p:cNvSpPr/>
          <p:nvPr/>
        </p:nvSpPr>
        <p:spPr>
          <a:xfrm>
            <a:off x="1616710" y="4834890"/>
            <a:ext cx="858520" cy="556260"/>
          </a:xfrm>
          <a:prstGeom prst="rect">
            <a:avLst/>
          </a:prstGeom>
          <a:noFill/>
          <a:ln/>
        </p:spPr>
        <p:txBody>
          <a:bodyPr wrap="square" lIns="25400" tIns="25400" rIns="25400" bIns="25400" rtlCol="0" anchor="ctr">
            <a:normAutofit/>
          </a:bodyPr>
          <a:lstStyle/>
          <a:p>
            <a:pPr algn="ctr" indent="0" marL="0">
              <a:lnSpc>
                <a:spcPct val="135625"/>
              </a:lnSpc>
              <a:buNone/>
            </a:pPr>
            <a:r>
              <a:rPr lang="en-US" sz="1680" b="1" dirty="0">
                <a:solidFill>
                  <a:srgbClr val="FFFFFF"/>
                </a:solidFill>
                <a:latin typeface="Arial" pitchFamily="34" charset="0"/>
                <a:ea typeface="Arial" pitchFamily="34" charset="-122"/>
                <a:cs typeface="Arial" pitchFamily="34" charset="-120"/>
              </a:rPr>
              <a:t>UZB</a:t>
            </a:r>
            <a:endParaRPr lang="en-US" sz="1680" dirty="0"/>
          </a:p>
        </p:txBody>
      </p:sp>
      <p:sp>
        <p:nvSpPr>
          <p:cNvPr id="21" name="Shape 19"/>
          <p:cNvSpPr/>
          <p:nvPr/>
        </p:nvSpPr>
        <p:spPr>
          <a:xfrm>
            <a:off x="2614930" y="4614069"/>
            <a:ext cx="1545431" cy="297180"/>
          </a:xfrm>
          <a:prstGeom prst="roundRect">
            <a:avLst>
              <a:gd name="adj" fmla="val 50000"/>
            </a:avLst>
          </a:prstGeom>
          <a:solidFill>
            <a:srgbClr val="1A9FD8"/>
          </a:solidFill>
          <a:ln/>
        </p:spPr>
      </p:sp>
      <p:sp>
        <p:nvSpPr>
          <p:cNvPr id="22" name="Text 20"/>
          <p:cNvSpPr/>
          <p:nvPr/>
        </p:nvSpPr>
        <p:spPr>
          <a:xfrm>
            <a:off x="2726690" y="4644549"/>
            <a:ext cx="1398111" cy="274320"/>
          </a:xfrm>
          <a:prstGeom prst="rect">
            <a:avLst/>
          </a:prstGeom>
          <a:noFill/>
          <a:ln/>
        </p:spPr>
        <p:txBody>
          <a:bodyPr wrap="square" lIns="25400" tIns="25400" rIns="25400" bIns="25400" rtlCol="0" anchor="t">
            <a:normAutofit/>
          </a:bodyPr>
          <a:lstStyle/>
          <a:p>
            <a:pPr algn="l" indent="0" marL="0">
              <a:lnSpc>
                <a:spcPct val="132857"/>
              </a:lnSpc>
              <a:buNone/>
            </a:pPr>
            <a:r>
              <a:rPr lang="en-US" sz="1200" b="1" spc="120" kern="0" dirty="0">
                <a:solidFill>
                  <a:srgbClr val="FFFFFF"/>
                </a:solidFill>
                <a:latin typeface="Arial" pitchFamily="34" charset="0"/>
                <a:ea typeface="Arial" pitchFamily="34" charset="-122"/>
                <a:cs typeface="Arial" pitchFamily="34" charset="-120"/>
              </a:rPr>
              <a:t>YAKHTAK BLUE</a:t>
            </a:r>
            <a:endParaRPr lang="en-US" sz="1200" dirty="0"/>
          </a:p>
        </p:txBody>
      </p:sp>
      <p:sp>
        <p:nvSpPr>
          <p:cNvPr id="23" name="Text 21"/>
          <p:cNvSpPr/>
          <p:nvPr/>
        </p:nvSpPr>
        <p:spPr>
          <a:xfrm>
            <a:off x="2614930" y="4951888"/>
            <a:ext cx="3863054" cy="421481"/>
          </a:xfrm>
          <a:prstGeom prst="rect">
            <a:avLst/>
          </a:prstGeom>
          <a:noFill/>
          <a:ln/>
        </p:spPr>
        <p:txBody>
          <a:bodyPr wrap="none" lIns="25400" tIns="25400" rIns="25400" bIns="25400" rtlCol="0" anchor="t">
            <a:normAutofit/>
          </a:bodyPr>
          <a:lstStyle/>
          <a:p>
            <a:pPr algn="l" indent="0" marL="0">
              <a:lnSpc>
                <a:spcPct val="90944"/>
              </a:lnSpc>
              <a:buNone/>
            </a:pPr>
            <a:r>
              <a:rPr lang="en-US" sz="2960" b="1" spc="-59" kern="0" dirty="0">
                <a:solidFill>
                  <a:srgbClr val="FFFFFF"/>
                </a:solidFill>
                <a:latin typeface="Arial" pitchFamily="34" charset="0"/>
                <a:ea typeface="Arial" pitchFamily="34" charset="-122"/>
                <a:cs typeface="Arial" pitchFamily="34" charset="-120"/>
              </a:rPr>
              <a:t>ABDULLAEV, TIMUR</a:t>
            </a:r>
            <a:endParaRPr lang="en-US" sz="2960" dirty="0"/>
          </a:p>
        </p:txBody>
      </p:sp>
      <p:sp>
        <p:nvSpPr>
          <p:cNvPr id="24" name="Text 22"/>
          <p:cNvSpPr/>
          <p:nvPr/>
        </p:nvSpPr>
        <p:spPr>
          <a:xfrm>
            <a:off x="2614930" y="5345589"/>
            <a:ext cx="3863054" cy="266383"/>
          </a:xfrm>
          <a:prstGeom prst="rect">
            <a:avLst/>
          </a:prstGeom>
          <a:noFill/>
          <a:ln/>
        </p:spPr>
        <p:txBody>
          <a:bodyPr wrap="square" lIns="25400" tIns="25400" rIns="25400" bIns="25400" rtlCol="0" anchor="t">
            <a:normAutofit/>
          </a:bodyPr>
          <a:lstStyle/>
          <a:p>
            <a:pPr algn="l" indent="0" marL="0">
              <a:lnSpc>
                <a:spcPct val="132206"/>
              </a:lnSpc>
              <a:buNone/>
            </a:pPr>
            <a:r>
              <a:rPr lang="en-US" sz="1160" b="1" dirty="0">
                <a:solidFill>
                  <a:srgbClr val="8A99AB"/>
                </a:solidFill>
                <a:latin typeface="Arial" pitchFamily="34" charset="0"/>
                <a:ea typeface="Arial" pitchFamily="34" charset="-122"/>
                <a:cs typeface="Arial" pitchFamily="34" charset="-120"/>
              </a:rPr>
              <a:t>Uzbekistan</a:t>
            </a:r>
            <a:endParaRPr lang="en-US" sz="1160" dirty="0"/>
          </a:p>
        </p:txBody>
      </p:sp>
      <p:sp>
        <p:nvSpPr>
          <p:cNvPr id="25" name="Shape 23"/>
          <p:cNvSpPr/>
          <p:nvPr/>
        </p:nvSpPr>
        <p:spPr>
          <a:xfrm>
            <a:off x="6638290" y="4271010"/>
            <a:ext cx="629920" cy="1645920"/>
          </a:xfrm>
          <a:prstGeom prst="roundRect">
            <a:avLst>
              <a:gd name="adj" fmla="val 12903"/>
            </a:avLst>
          </a:prstGeom>
          <a:solidFill>
            <a:srgbClr val="0D1218"/>
          </a:solidFill>
          <a:ln w="15240">
            <a:solidFill>
              <a:srgbClr val="232D39"/>
            </a:solidFill>
            <a:prstDash val="solid"/>
          </a:ln>
        </p:spPr>
      </p:sp>
      <p:sp>
        <p:nvSpPr>
          <p:cNvPr id="26" name="Text 24"/>
          <p:cNvSpPr/>
          <p:nvPr/>
        </p:nvSpPr>
        <p:spPr>
          <a:xfrm>
            <a:off x="6804184" y="473075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4E5B6B"/>
                </a:solidFill>
                <a:latin typeface="Arial" pitchFamily="34" charset="0"/>
                <a:ea typeface="Arial" pitchFamily="34" charset="-122"/>
                <a:cs typeface="Arial" pitchFamily="34" charset="-120"/>
              </a:rPr>
              <a:t>0</a:t>
            </a:r>
            <a:endParaRPr lang="en-US" sz="4160" dirty="0"/>
          </a:p>
        </p:txBody>
      </p:sp>
      <p:sp>
        <p:nvSpPr>
          <p:cNvPr id="27" name="Text 25"/>
          <p:cNvSpPr/>
          <p:nvPr/>
        </p:nvSpPr>
        <p:spPr>
          <a:xfrm>
            <a:off x="6881971" y="5279390"/>
            <a:ext cx="218758"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4E5B6B"/>
                </a:solidFill>
                <a:latin typeface="Arial" pitchFamily="34" charset="0"/>
                <a:ea typeface="Arial" pitchFamily="34" charset="-122"/>
                <a:cs typeface="Arial" pitchFamily="34" charset="-120"/>
              </a:rPr>
              <a:t>G</a:t>
            </a:r>
            <a:endParaRPr lang="en-US" sz="1400" dirty="0"/>
          </a:p>
        </p:txBody>
      </p:sp>
      <p:sp>
        <p:nvSpPr>
          <p:cNvPr id="28" name="Shape 26"/>
          <p:cNvSpPr/>
          <p:nvPr/>
        </p:nvSpPr>
        <p:spPr>
          <a:xfrm>
            <a:off x="7324090" y="4271010"/>
            <a:ext cx="629920" cy="1645920"/>
          </a:xfrm>
          <a:prstGeom prst="roundRect">
            <a:avLst>
              <a:gd name="adj" fmla="val 12903"/>
            </a:avLst>
          </a:prstGeom>
          <a:solidFill>
            <a:srgbClr val="33280A"/>
          </a:solidFill>
          <a:ln w="15240">
            <a:solidFill>
              <a:srgbClr val="FFC63D"/>
            </a:solidFill>
            <a:prstDash val="solid"/>
          </a:ln>
        </p:spPr>
      </p:sp>
      <p:sp>
        <p:nvSpPr>
          <p:cNvPr id="29" name="Text 27"/>
          <p:cNvSpPr/>
          <p:nvPr/>
        </p:nvSpPr>
        <p:spPr>
          <a:xfrm>
            <a:off x="7489984" y="473075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FFC63D"/>
                </a:solidFill>
                <a:latin typeface="Arial" pitchFamily="34" charset="0"/>
                <a:ea typeface="Arial" pitchFamily="34" charset="-122"/>
                <a:cs typeface="Arial" pitchFamily="34" charset="-120"/>
              </a:rPr>
              <a:t>1</a:t>
            </a:r>
            <a:endParaRPr lang="en-US" sz="4160" dirty="0"/>
          </a:p>
        </p:txBody>
      </p:sp>
      <p:sp>
        <p:nvSpPr>
          <p:cNvPr id="30" name="Text 28"/>
          <p:cNvSpPr/>
          <p:nvPr/>
        </p:nvSpPr>
        <p:spPr>
          <a:xfrm>
            <a:off x="7571423" y="5279390"/>
            <a:ext cx="211455"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FFC63D"/>
                </a:solidFill>
                <a:latin typeface="Arial" pitchFamily="34" charset="0"/>
                <a:ea typeface="Arial" pitchFamily="34" charset="-122"/>
                <a:cs typeface="Arial" pitchFamily="34" charset="-120"/>
              </a:rPr>
              <a:t>Y</a:t>
            </a:r>
            <a:endParaRPr lang="en-US" sz="1400" dirty="0"/>
          </a:p>
        </p:txBody>
      </p:sp>
      <p:sp>
        <p:nvSpPr>
          <p:cNvPr id="31" name="Shape 29"/>
          <p:cNvSpPr/>
          <p:nvPr/>
        </p:nvSpPr>
        <p:spPr>
          <a:xfrm>
            <a:off x="8009890" y="4271010"/>
            <a:ext cx="629920" cy="1645920"/>
          </a:xfrm>
          <a:prstGeom prst="roundRect">
            <a:avLst>
              <a:gd name="adj" fmla="val 12903"/>
            </a:avLst>
          </a:prstGeom>
          <a:solidFill>
            <a:srgbClr val="33280A"/>
          </a:solidFill>
          <a:ln w="15240">
            <a:solidFill>
              <a:srgbClr val="FFC63D"/>
            </a:solidFill>
            <a:prstDash val="solid"/>
          </a:ln>
        </p:spPr>
      </p:sp>
      <p:sp>
        <p:nvSpPr>
          <p:cNvPr id="32" name="Text 30"/>
          <p:cNvSpPr/>
          <p:nvPr/>
        </p:nvSpPr>
        <p:spPr>
          <a:xfrm>
            <a:off x="8175784" y="473075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FFC63D"/>
                </a:solidFill>
                <a:latin typeface="Arial" pitchFamily="34" charset="0"/>
                <a:ea typeface="Arial" pitchFamily="34" charset="-122"/>
                <a:cs typeface="Arial" pitchFamily="34" charset="-120"/>
              </a:rPr>
              <a:t>2</a:t>
            </a:r>
            <a:endParaRPr lang="en-US" sz="4160" dirty="0"/>
          </a:p>
        </p:txBody>
      </p:sp>
      <p:sp>
        <p:nvSpPr>
          <p:cNvPr id="33" name="Text 31"/>
          <p:cNvSpPr/>
          <p:nvPr/>
        </p:nvSpPr>
        <p:spPr>
          <a:xfrm>
            <a:off x="8258334" y="5279390"/>
            <a:ext cx="209233"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FFC63D"/>
                </a:solidFill>
                <a:latin typeface="Arial" pitchFamily="34" charset="0"/>
                <a:ea typeface="Arial" pitchFamily="34" charset="-122"/>
                <a:cs typeface="Arial" pitchFamily="34" charset="-120"/>
              </a:rPr>
              <a:t>C</a:t>
            </a:r>
            <a:endParaRPr lang="en-US" sz="1400" dirty="0"/>
          </a:p>
        </p:txBody>
      </p:sp>
      <p:sp>
        <p:nvSpPr>
          <p:cNvPr id="34" name="Shape 32"/>
          <p:cNvSpPr/>
          <p:nvPr/>
        </p:nvSpPr>
        <p:spPr>
          <a:xfrm>
            <a:off x="8695690" y="4271010"/>
            <a:ext cx="629920" cy="1645920"/>
          </a:xfrm>
          <a:prstGeom prst="roundRect">
            <a:avLst>
              <a:gd name="adj" fmla="val 12903"/>
            </a:avLst>
          </a:prstGeom>
          <a:solidFill>
            <a:srgbClr val="0D1218"/>
          </a:solidFill>
          <a:ln w="15240">
            <a:solidFill>
              <a:srgbClr val="232D39"/>
            </a:solidFill>
            <a:prstDash val="solid"/>
          </a:ln>
        </p:spPr>
      </p:sp>
      <p:sp>
        <p:nvSpPr>
          <p:cNvPr id="35" name="Text 33"/>
          <p:cNvSpPr/>
          <p:nvPr/>
        </p:nvSpPr>
        <p:spPr>
          <a:xfrm>
            <a:off x="8861584" y="473075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4E5B6B"/>
                </a:solidFill>
                <a:latin typeface="Arial" pitchFamily="34" charset="0"/>
                <a:ea typeface="Arial" pitchFamily="34" charset="-122"/>
                <a:cs typeface="Arial" pitchFamily="34" charset="-120"/>
              </a:rPr>
              <a:t>0</a:t>
            </a:r>
            <a:endParaRPr lang="en-US" sz="4160" dirty="0"/>
          </a:p>
        </p:txBody>
      </p:sp>
      <p:sp>
        <p:nvSpPr>
          <p:cNvPr id="36" name="Text 34"/>
          <p:cNvSpPr/>
          <p:nvPr/>
        </p:nvSpPr>
        <p:spPr>
          <a:xfrm>
            <a:off x="8936196" y="5279390"/>
            <a:ext cx="225107"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4E5B6B"/>
                </a:solidFill>
                <a:latin typeface="Arial" pitchFamily="34" charset="0"/>
                <a:ea typeface="Arial" pitchFamily="34" charset="-122"/>
                <a:cs typeface="Arial" pitchFamily="34" charset="-120"/>
              </a:rPr>
              <a:t>D</a:t>
            </a:r>
            <a:endParaRPr lang="en-US" sz="1400" dirty="0"/>
          </a:p>
        </p:txBody>
      </p:sp>
      <p:sp>
        <p:nvSpPr>
          <p:cNvPr id="37" name="Shape 35"/>
          <p:cNvSpPr/>
          <p:nvPr/>
        </p:nvSpPr>
        <p:spPr>
          <a:xfrm>
            <a:off x="9381490" y="4271010"/>
            <a:ext cx="629920" cy="1645920"/>
          </a:xfrm>
          <a:prstGeom prst="roundRect">
            <a:avLst>
              <a:gd name="adj" fmla="val 12903"/>
            </a:avLst>
          </a:prstGeom>
          <a:solidFill>
            <a:srgbClr val="3A1210"/>
          </a:solidFill>
          <a:ln w="15240">
            <a:solidFill>
              <a:srgbClr val="FF6A5C"/>
            </a:solidFill>
            <a:prstDash val="solid"/>
          </a:ln>
        </p:spPr>
      </p:sp>
      <p:sp>
        <p:nvSpPr>
          <p:cNvPr id="38" name="Text 36"/>
          <p:cNvSpPr/>
          <p:nvPr/>
        </p:nvSpPr>
        <p:spPr>
          <a:xfrm>
            <a:off x="9547384" y="473075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FF6A5C"/>
                </a:solidFill>
                <a:latin typeface="Arial" pitchFamily="34" charset="0"/>
                <a:ea typeface="Arial" pitchFamily="34" charset="-122"/>
                <a:cs typeface="Arial" pitchFamily="34" charset="-120"/>
              </a:rPr>
              <a:t>1</a:t>
            </a:r>
            <a:endParaRPr lang="en-US" sz="4160" dirty="0"/>
          </a:p>
        </p:txBody>
      </p:sp>
      <p:sp>
        <p:nvSpPr>
          <p:cNvPr id="39" name="Text 37"/>
          <p:cNvSpPr/>
          <p:nvPr/>
        </p:nvSpPr>
        <p:spPr>
          <a:xfrm>
            <a:off x="9632950" y="5279390"/>
            <a:ext cx="203041"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FF6A5C"/>
                </a:solidFill>
                <a:latin typeface="Arial" pitchFamily="34" charset="0"/>
                <a:ea typeface="Arial" pitchFamily="34" charset="-122"/>
                <a:cs typeface="Arial" pitchFamily="34" charset="-120"/>
              </a:rPr>
              <a:t>T</a:t>
            </a:r>
            <a:endParaRPr lang="en-US" sz="1400" dirty="0"/>
          </a:p>
        </p:txBody>
      </p:sp>
      <p:sp>
        <p:nvSpPr>
          <p:cNvPr id="40" name="Shape 38"/>
          <p:cNvSpPr/>
          <p:nvPr/>
        </p:nvSpPr>
        <p:spPr>
          <a:xfrm>
            <a:off x="10067290" y="4271010"/>
            <a:ext cx="629920" cy="1645920"/>
          </a:xfrm>
          <a:prstGeom prst="roundRect">
            <a:avLst>
              <a:gd name="adj" fmla="val 12903"/>
            </a:avLst>
          </a:prstGeom>
          <a:solidFill>
            <a:srgbClr val="0D1218"/>
          </a:solidFill>
          <a:ln w="15240">
            <a:solidFill>
              <a:srgbClr val="232D39"/>
            </a:solidFill>
            <a:prstDash val="solid"/>
          </a:ln>
        </p:spPr>
      </p:sp>
      <p:sp>
        <p:nvSpPr>
          <p:cNvPr id="41" name="Text 39"/>
          <p:cNvSpPr/>
          <p:nvPr/>
        </p:nvSpPr>
        <p:spPr>
          <a:xfrm>
            <a:off x="10233184" y="473075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4E5B6B"/>
                </a:solidFill>
                <a:latin typeface="Arial" pitchFamily="34" charset="0"/>
                <a:ea typeface="Arial" pitchFamily="34" charset="-122"/>
                <a:cs typeface="Arial" pitchFamily="34" charset="-120"/>
              </a:rPr>
              <a:t>0</a:t>
            </a:r>
            <a:endParaRPr lang="en-US" sz="4160" dirty="0"/>
          </a:p>
        </p:txBody>
      </p:sp>
      <p:sp>
        <p:nvSpPr>
          <p:cNvPr id="42" name="Text 40"/>
          <p:cNvSpPr/>
          <p:nvPr/>
        </p:nvSpPr>
        <p:spPr>
          <a:xfrm>
            <a:off x="10293667" y="5279390"/>
            <a:ext cx="253524"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4E5B6B"/>
                </a:solidFill>
                <a:latin typeface="Arial" pitchFamily="34" charset="0"/>
                <a:ea typeface="Arial" pitchFamily="34" charset="-122"/>
                <a:cs typeface="Arial" pitchFamily="34" charset="-120"/>
              </a:rPr>
              <a:t>M</a:t>
            </a:r>
            <a:endParaRPr lang="en-US" sz="1400" dirty="0"/>
          </a:p>
        </p:txBody>
      </p:sp>
      <p:sp>
        <p:nvSpPr>
          <p:cNvPr id="43" name="Shape 41"/>
          <p:cNvSpPr/>
          <p:nvPr/>
        </p:nvSpPr>
        <p:spPr>
          <a:xfrm>
            <a:off x="1294130" y="6094730"/>
            <a:ext cx="9489440" cy="1818640"/>
          </a:xfrm>
          <a:prstGeom prst="roundRect">
            <a:avLst>
              <a:gd name="adj" fmla="val 6145"/>
            </a:avLst>
          </a:prstGeom>
          <a:solidFill>
            <a:srgbClr val="06331B"/>
          </a:solidFill>
          <a:ln w="15240">
            <a:solidFill>
              <a:srgbClr val="019A44"/>
            </a:solidFill>
            <a:prstDash val="solid"/>
          </a:ln>
        </p:spPr>
      </p:sp>
      <p:sp>
        <p:nvSpPr>
          <p:cNvPr id="44" name="Shape 42"/>
          <p:cNvSpPr/>
          <p:nvPr/>
        </p:nvSpPr>
        <p:spPr>
          <a:xfrm>
            <a:off x="1309370" y="6109970"/>
            <a:ext cx="132080" cy="1788160"/>
          </a:xfrm>
          <a:prstGeom prst="rect">
            <a:avLst/>
          </a:prstGeom>
          <a:solidFill>
            <a:srgbClr val="019A44"/>
          </a:solidFill>
          <a:ln/>
        </p:spPr>
      </p:sp>
      <p:sp>
        <p:nvSpPr>
          <p:cNvPr id="45" name="Shape 43"/>
          <p:cNvSpPr/>
          <p:nvPr/>
        </p:nvSpPr>
        <p:spPr>
          <a:xfrm>
            <a:off x="1644650" y="6734810"/>
            <a:ext cx="802640" cy="538480"/>
          </a:xfrm>
          <a:prstGeom prst="roundRect">
            <a:avLst>
              <a:gd name="adj" fmla="val 11321"/>
            </a:avLst>
          </a:prstGeom>
          <a:solidFill>
            <a:srgbClr val="171E27"/>
          </a:solidFill>
          <a:ln w="10160">
            <a:solidFill>
              <a:srgbClr val="232D39"/>
            </a:solidFill>
            <a:prstDash val="solid"/>
          </a:ln>
        </p:spPr>
      </p:sp>
      <p:sp>
        <p:nvSpPr>
          <p:cNvPr id="46" name="Text 44"/>
          <p:cNvSpPr/>
          <p:nvPr/>
        </p:nvSpPr>
        <p:spPr>
          <a:xfrm>
            <a:off x="1616710" y="6744970"/>
            <a:ext cx="858520" cy="556260"/>
          </a:xfrm>
          <a:prstGeom prst="rect">
            <a:avLst/>
          </a:prstGeom>
          <a:noFill/>
          <a:ln/>
        </p:spPr>
        <p:txBody>
          <a:bodyPr wrap="square" lIns="25400" tIns="25400" rIns="25400" bIns="25400" rtlCol="0" anchor="ctr">
            <a:normAutofit/>
          </a:bodyPr>
          <a:lstStyle/>
          <a:p>
            <a:pPr algn="ctr" indent="0" marL="0">
              <a:lnSpc>
                <a:spcPct val="135625"/>
              </a:lnSpc>
              <a:buNone/>
            </a:pPr>
            <a:r>
              <a:rPr lang="en-US" sz="1680" b="1" dirty="0">
                <a:solidFill>
                  <a:srgbClr val="FFFFFF"/>
                </a:solidFill>
                <a:latin typeface="Arial" pitchFamily="34" charset="0"/>
                <a:ea typeface="Arial" pitchFamily="34" charset="-122"/>
                <a:cs typeface="Arial" pitchFamily="34" charset="-120"/>
              </a:rPr>
              <a:t>KAZ</a:t>
            </a:r>
            <a:endParaRPr lang="en-US" sz="1680" dirty="0"/>
          </a:p>
        </p:txBody>
      </p:sp>
      <p:sp>
        <p:nvSpPr>
          <p:cNvPr id="47" name="Shape 45"/>
          <p:cNvSpPr/>
          <p:nvPr/>
        </p:nvSpPr>
        <p:spPr>
          <a:xfrm>
            <a:off x="2614930" y="6524149"/>
            <a:ext cx="1682115" cy="297180"/>
          </a:xfrm>
          <a:prstGeom prst="roundRect">
            <a:avLst>
              <a:gd name="adj" fmla="val 50000"/>
            </a:avLst>
          </a:prstGeom>
          <a:solidFill>
            <a:srgbClr val="019A44"/>
          </a:solidFill>
          <a:ln/>
        </p:spPr>
      </p:sp>
      <p:sp>
        <p:nvSpPr>
          <p:cNvPr id="48" name="Text 46"/>
          <p:cNvSpPr/>
          <p:nvPr/>
        </p:nvSpPr>
        <p:spPr>
          <a:xfrm>
            <a:off x="2726690" y="6554629"/>
            <a:ext cx="1534795" cy="274320"/>
          </a:xfrm>
          <a:prstGeom prst="rect">
            <a:avLst/>
          </a:prstGeom>
          <a:noFill/>
          <a:ln/>
        </p:spPr>
        <p:txBody>
          <a:bodyPr wrap="square" lIns="25400" tIns="25400" rIns="25400" bIns="25400" rtlCol="0" anchor="t">
            <a:normAutofit/>
          </a:bodyPr>
          <a:lstStyle/>
          <a:p>
            <a:pPr algn="l" indent="0" marL="0">
              <a:lnSpc>
                <a:spcPct val="132857"/>
              </a:lnSpc>
              <a:buNone/>
            </a:pPr>
            <a:r>
              <a:rPr lang="en-US" sz="1200" b="1" spc="120" kern="0" dirty="0">
                <a:solidFill>
                  <a:srgbClr val="FFFFFF"/>
                </a:solidFill>
                <a:latin typeface="Arial" pitchFamily="34" charset="0"/>
                <a:ea typeface="Arial" pitchFamily="34" charset="-122"/>
                <a:cs typeface="Arial" pitchFamily="34" charset="-120"/>
              </a:rPr>
              <a:t>YAKHTAK GREEN</a:t>
            </a:r>
            <a:endParaRPr lang="en-US" sz="1200" dirty="0"/>
          </a:p>
        </p:txBody>
      </p:sp>
      <p:sp>
        <p:nvSpPr>
          <p:cNvPr id="49" name="Text 47"/>
          <p:cNvSpPr/>
          <p:nvPr/>
        </p:nvSpPr>
        <p:spPr>
          <a:xfrm>
            <a:off x="2614930" y="6861969"/>
            <a:ext cx="3467005" cy="421481"/>
          </a:xfrm>
          <a:prstGeom prst="rect">
            <a:avLst/>
          </a:prstGeom>
          <a:noFill/>
          <a:ln/>
        </p:spPr>
        <p:txBody>
          <a:bodyPr wrap="none" lIns="25400" tIns="25400" rIns="25400" bIns="25400" rtlCol="0" anchor="t">
            <a:normAutofit/>
          </a:bodyPr>
          <a:lstStyle/>
          <a:p>
            <a:pPr algn="l" indent="0" marL="0">
              <a:lnSpc>
                <a:spcPct val="90944"/>
              </a:lnSpc>
              <a:buNone/>
            </a:pPr>
            <a:r>
              <a:rPr lang="en-US" sz="2960" b="1" spc="-59" kern="0" dirty="0">
                <a:solidFill>
                  <a:srgbClr val="FFFFFF"/>
                </a:solidFill>
                <a:latin typeface="Arial" pitchFamily="34" charset="0"/>
                <a:ea typeface="Arial" pitchFamily="34" charset="-122"/>
                <a:cs typeface="Arial" pitchFamily="34" charset="-120"/>
              </a:rPr>
              <a:t>SERIKOV, DAULET</a:t>
            </a:r>
            <a:endParaRPr lang="en-US" sz="2960" dirty="0"/>
          </a:p>
        </p:txBody>
      </p:sp>
      <p:sp>
        <p:nvSpPr>
          <p:cNvPr id="50" name="Text 48"/>
          <p:cNvSpPr/>
          <p:nvPr/>
        </p:nvSpPr>
        <p:spPr>
          <a:xfrm>
            <a:off x="2614930" y="7255669"/>
            <a:ext cx="3467005" cy="266382"/>
          </a:xfrm>
          <a:prstGeom prst="rect">
            <a:avLst/>
          </a:prstGeom>
          <a:noFill/>
          <a:ln/>
        </p:spPr>
        <p:txBody>
          <a:bodyPr wrap="square" lIns="25400" tIns="25400" rIns="25400" bIns="25400" rtlCol="0" anchor="t">
            <a:normAutofit/>
          </a:bodyPr>
          <a:lstStyle/>
          <a:p>
            <a:pPr algn="l" indent="0" marL="0">
              <a:lnSpc>
                <a:spcPct val="132206"/>
              </a:lnSpc>
              <a:buNone/>
            </a:pPr>
            <a:r>
              <a:rPr lang="en-US" sz="1160" b="1" dirty="0">
                <a:solidFill>
                  <a:srgbClr val="8A99AB"/>
                </a:solidFill>
                <a:latin typeface="Arial" pitchFamily="34" charset="0"/>
                <a:ea typeface="Arial" pitchFamily="34" charset="-122"/>
                <a:cs typeface="Arial" pitchFamily="34" charset="-120"/>
              </a:rPr>
              <a:t>Kazakhstan</a:t>
            </a:r>
            <a:endParaRPr lang="en-US" sz="1160" dirty="0"/>
          </a:p>
        </p:txBody>
      </p:sp>
      <p:sp>
        <p:nvSpPr>
          <p:cNvPr id="51" name="Shape 49"/>
          <p:cNvSpPr/>
          <p:nvPr/>
        </p:nvSpPr>
        <p:spPr>
          <a:xfrm>
            <a:off x="6638290" y="6181090"/>
            <a:ext cx="629920" cy="1645920"/>
          </a:xfrm>
          <a:prstGeom prst="roundRect">
            <a:avLst>
              <a:gd name="adj" fmla="val 12903"/>
            </a:avLst>
          </a:prstGeom>
          <a:solidFill>
            <a:srgbClr val="0D1218"/>
          </a:solidFill>
          <a:ln w="15240">
            <a:solidFill>
              <a:srgbClr val="232D39"/>
            </a:solidFill>
            <a:prstDash val="solid"/>
          </a:ln>
        </p:spPr>
      </p:sp>
      <p:sp>
        <p:nvSpPr>
          <p:cNvPr id="52" name="Text 50"/>
          <p:cNvSpPr/>
          <p:nvPr/>
        </p:nvSpPr>
        <p:spPr>
          <a:xfrm>
            <a:off x="6804184" y="664083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4E5B6B"/>
                </a:solidFill>
                <a:latin typeface="Arial" pitchFamily="34" charset="0"/>
                <a:ea typeface="Arial" pitchFamily="34" charset="-122"/>
                <a:cs typeface="Arial" pitchFamily="34" charset="-120"/>
              </a:rPr>
              <a:t>0</a:t>
            </a:r>
            <a:endParaRPr lang="en-US" sz="4160" dirty="0"/>
          </a:p>
        </p:txBody>
      </p:sp>
      <p:sp>
        <p:nvSpPr>
          <p:cNvPr id="53" name="Text 51"/>
          <p:cNvSpPr/>
          <p:nvPr/>
        </p:nvSpPr>
        <p:spPr>
          <a:xfrm>
            <a:off x="6881971" y="7189470"/>
            <a:ext cx="218758"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4E5B6B"/>
                </a:solidFill>
                <a:latin typeface="Arial" pitchFamily="34" charset="0"/>
                <a:ea typeface="Arial" pitchFamily="34" charset="-122"/>
                <a:cs typeface="Arial" pitchFamily="34" charset="-120"/>
              </a:rPr>
              <a:t>G</a:t>
            </a:r>
            <a:endParaRPr lang="en-US" sz="1400" dirty="0"/>
          </a:p>
        </p:txBody>
      </p:sp>
      <p:sp>
        <p:nvSpPr>
          <p:cNvPr id="54" name="Shape 52"/>
          <p:cNvSpPr/>
          <p:nvPr/>
        </p:nvSpPr>
        <p:spPr>
          <a:xfrm>
            <a:off x="7324090" y="6181090"/>
            <a:ext cx="629920" cy="1645920"/>
          </a:xfrm>
          <a:prstGeom prst="roundRect">
            <a:avLst>
              <a:gd name="adj" fmla="val 12903"/>
            </a:avLst>
          </a:prstGeom>
          <a:solidFill>
            <a:srgbClr val="0D1218"/>
          </a:solidFill>
          <a:ln w="15240">
            <a:solidFill>
              <a:srgbClr val="232D39"/>
            </a:solidFill>
            <a:prstDash val="solid"/>
          </a:ln>
        </p:spPr>
      </p:sp>
      <p:sp>
        <p:nvSpPr>
          <p:cNvPr id="55" name="Text 53"/>
          <p:cNvSpPr/>
          <p:nvPr/>
        </p:nvSpPr>
        <p:spPr>
          <a:xfrm>
            <a:off x="7489984" y="664083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4E5B6B"/>
                </a:solidFill>
                <a:latin typeface="Arial" pitchFamily="34" charset="0"/>
                <a:ea typeface="Arial" pitchFamily="34" charset="-122"/>
                <a:cs typeface="Arial" pitchFamily="34" charset="-120"/>
              </a:rPr>
              <a:t>0</a:t>
            </a:r>
            <a:endParaRPr lang="en-US" sz="4160" dirty="0"/>
          </a:p>
        </p:txBody>
      </p:sp>
      <p:sp>
        <p:nvSpPr>
          <p:cNvPr id="56" name="Text 54"/>
          <p:cNvSpPr/>
          <p:nvPr/>
        </p:nvSpPr>
        <p:spPr>
          <a:xfrm>
            <a:off x="7571423" y="7189470"/>
            <a:ext cx="211455"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4E5B6B"/>
                </a:solidFill>
                <a:latin typeface="Arial" pitchFamily="34" charset="0"/>
                <a:ea typeface="Arial" pitchFamily="34" charset="-122"/>
                <a:cs typeface="Arial" pitchFamily="34" charset="-120"/>
              </a:rPr>
              <a:t>Y</a:t>
            </a:r>
            <a:endParaRPr lang="en-US" sz="1400" dirty="0"/>
          </a:p>
        </p:txBody>
      </p:sp>
      <p:sp>
        <p:nvSpPr>
          <p:cNvPr id="57" name="Shape 55"/>
          <p:cNvSpPr/>
          <p:nvPr/>
        </p:nvSpPr>
        <p:spPr>
          <a:xfrm>
            <a:off x="8009890" y="6181090"/>
            <a:ext cx="629920" cy="1645920"/>
          </a:xfrm>
          <a:prstGeom prst="roundRect">
            <a:avLst>
              <a:gd name="adj" fmla="val 12903"/>
            </a:avLst>
          </a:prstGeom>
          <a:solidFill>
            <a:srgbClr val="33280A"/>
          </a:solidFill>
          <a:ln w="15240">
            <a:solidFill>
              <a:srgbClr val="FFC63D"/>
            </a:solidFill>
            <a:prstDash val="solid"/>
          </a:ln>
        </p:spPr>
      </p:sp>
      <p:sp>
        <p:nvSpPr>
          <p:cNvPr id="58" name="Text 56"/>
          <p:cNvSpPr/>
          <p:nvPr/>
        </p:nvSpPr>
        <p:spPr>
          <a:xfrm>
            <a:off x="8175784" y="664083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FFC63D"/>
                </a:solidFill>
                <a:latin typeface="Arial" pitchFamily="34" charset="0"/>
                <a:ea typeface="Arial" pitchFamily="34" charset="-122"/>
                <a:cs typeface="Arial" pitchFamily="34" charset="-120"/>
              </a:rPr>
              <a:t>1</a:t>
            </a:r>
            <a:endParaRPr lang="en-US" sz="4160" dirty="0"/>
          </a:p>
        </p:txBody>
      </p:sp>
      <p:sp>
        <p:nvSpPr>
          <p:cNvPr id="59" name="Text 57"/>
          <p:cNvSpPr/>
          <p:nvPr/>
        </p:nvSpPr>
        <p:spPr>
          <a:xfrm>
            <a:off x="8258334" y="7189470"/>
            <a:ext cx="209233"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FFC63D"/>
                </a:solidFill>
                <a:latin typeface="Arial" pitchFamily="34" charset="0"/>
                <a:ea typeface="Arial" pitchFamily="34" charset="-122"/>
                <a:cs typeface="Arial" pitchFamily="34" charset="-120"/>
              </a:rPr>
              <a:t>C</a:t>
            </a:r>
            <a:endParaRPr lang="en-US" sz="1400" dirty="0"/>
          </a:p>
        </p:txBody>
      </p:sp>
      <p:sp>
        <p:nvSpPr>
          <p:cNvPr id="60" name="Shape 58"/>
          <p:cNvSpPr/>
          <p:nvPr/>
        </p:nvSpPr>
        <p:spPr>
          <a:xfrm>
            <a:off x="8695690" y="6181090"/>
            <a:ext cx="629920" cy="1645920"/>
          </a:xfrm>
          <a:prstGeom prst="roundRect">
            <a:avLst>
              <a:gd name="adj" fmla="val 12903"/>
            </a:avLst>
          </a:prstGeom>
          <a:solidFill>
            <a:srgbClr val="0D1218"/>
          </a:solidFill>
          <a:ln w="15240">
            <a:solidFill>
              <a:srgbClr val="232D39"/>
            </a:solidFill>
            <a:prstDash val="solid"/>
          </a:ln>
        </p:spPr>
      </p:sp>
      <p:sp>
        <p:nvSpPr>
          <p:cNvPr id="61" name="Text 59"/>
          <p:cNvSpPr/>
          <p:nvPr/>
        </p:nvSpPr>
        <p:spPr>
          <a:xfrm>
            <a:off x="8861584" y="664083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4E5B6B"/>
                </a:solidFill>
                <a:latin typeface="Arial" pitchFamily="34" charset="0"/>
                <a:ea typeface="Arial" pitchFamily="34" charset="-122"/>
                <a:cs typeface="Arial" pitchFamily="34" charset="-120"/>
              </a:rPr>
              <a:t>0</a:t>
            </a:r>
            <a:endParaRPr lang="en-US" sz="4160" dirty="0"/>
          </a:p>
        </p:txBody>
      </p:sp>
      <p:sp>
        <p:nvSpPr>
          <p:cNvPr id="62" name="Text 60"/>
          <p:cNvSpPr/>
          <p:nvPr/>
        </p:nvSpPr>
        <p:spPr>
          <a:xfrm>
            <a:off x="8936196" y="7189470"/>
            <a:ext cx="225107"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4E5B6B"/>
                </a:solidFill>
                <a:latin typeface="Arial" pitchFamily="34" charset="0"/>
                <a:ea typeface="Arial" pitchFamily="34" charset="-122"/>
                <a:cs typeface="Arial" pitchFamily="34" charset="-120"/>
              </a:rPr>
              <a:t>D</a:t>
            </a:r>
            <a:endParaRPr lang="en-US" sz="1400" dirty="0"/>
          </a:p>
        </p:txBody>
      </p:sp>
      <p:sp>
        <p:nvSpPr>
          <p:cNvPr id="63" name="Shape 61"/>
          <p:cNvSpPr/>
          <p:nvPr/>
        </p:nvSpPr>
        <p:spPr>
          <a:xfrm>
            <a:off x="9381490" y="6181090"/>
            <a:ext cx="629920" cy="1645920"/>
          </a:xfrm>
          <a:prstGeom prst="roundRect">
            <a:avLst>
              <a:gd name="adj" fmla="val 12903"/>
            </a:avLst>
          </a:prstGeom>
          <a:solidFill>
            <a:srgbClr val="0D1218"/>
          </a:solidFill>
          <a:ln w="15240">
            <a:solidFill>
              <a:srgbClr val="232D39"/>
            </a:solidFill>
            <a:prstDash val="solid"/>
          </a:ln>
        </p:spPr>
      </p:sp>
      <p:sp>
        <p:nvSpPr>
          <p:cNvPr id="64" name="Text 62"/>
          <p:cNvSpPr/>
          <p:nvPr/>
        </p:nvSpPr>
        <p:spPr>
          <a:xfrm>
            <a:off x="9547384" y="664083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4E5B6B"/>
                </a:solidFill>
                <a:latin typeface="Arial" pitchFamily="34" charset="0"/>
                <a:ea typeface="Arial" pitchFamily="34" charset="-122"/>
                <a:cs typeface="Arial" pitchFamily="34" charset="-120"/>
              </a:rPr>
              <a:t>0</a:t>
            </a:r>
            <a:endParaRPr lang="en-US" sz="4160" dirty="0"/>
          </a:p>
        </p:txBody>
      </p:sp>
      <p:sp>
        <p:nvSpPr>
          <p:cNvPr id="65" name="Text 63"/>
          <p:cNvSpPr/>
          <p:nvPr/>
        </p:nvSpPr>
        <p:spPr>
          <a:xfrm>
            <a:off x="9632950" y="7189470"/>
            <a:ext cx="203041"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4E5B6B"/>
                </a:solidFill>
                <a:latin typeface="Arial" pitchFamily="34" charset="0"/>
                <a:ea typeface="Arial" pitchFamily="34" charset="-122"/>
                <a:cs typeface="Arial" pitchFamily="34" charset="-120"/>
              </a:rPr>
              <a:t>T</a:t>
            </a:r>
            <a:endParaRPr lang="en-US" sz="1400" dirty="0"/>
          </a:p>
        </p:txBody>
      </p:sp>
      <p:sp>
        <p:nvSpPr>
          <p:cNvPr id="66" name="Shape 64"/>
          <p:cNvSpPr/>
          <p:nvPr/>
        </p:nvSpPr>
        <p:spPr>
          <a:xfrm>
            <a:off x="10067290" y="6181090"/>
            <a:ext cx="629920" cy="1645920"/>
          </a:xfrm>
          <a:prstGeom prst="roundRect">
            <a:avLst>
              <a:gd name="adj" fmla="val 12903"/>
            </a:avLst>
          </a:prstGeom>
          <a:solidFill>
            <a:srgbClr val="0D1218"/>
          </a:solidFill>
          <a:ln w="15240">
            <a:solidFill>
              <a:srgbClr val="232D39"/>
            </a:solidFill>
            <a:prstDash val="solid"/>
          </a:ln>
        </p:spPr>
      </p:sp>
      <p:sp>
        <p:nvSpPr>
          <p:cNvPr id="67" name="Text 65"/>
          <p:cNvSpPr/>
          <p:nvPr/>
        </p:nvSpPr>
        <p:spPr>
          <a:xfrm>
            <a:off x="10233184" y="6640830"/>
            <a:ext cx="374174" cy="566420"/>
          </a:xfrm>
          <a:prstGeom prst="rect">
            <a:avLst/>
          </a:prstGeom>
          <a:noFill/>
          <a:ln/>
        </p:spPr>
        <p:txBody>
          <a:bodyPr wrap="square" lIns="25400" tIns="25400" rIns="25400" bIns="25400" rtlCol="0" anchor="t">
            <a:normAutofit/>
          </a:bodyPr>
          <a:lstStyle/>
          <a:p>
            <a:pPr algn="l" indent="0" marL="0">
              <a:lnSpc>
                <a:spcPct val="88136"/>
              </a:lnSpc>
              <a:buNone/>
            </a:pPr>
            <a:r>
              <a:rPr lang="en-US" sz="4160" b="1" dirty="0">
                <a:solidFill>
                  <a:srgbClr val="4E5B6B"/>
                </a:solidFill>
                <a:latin typeface="Arial" pitchFamily="34" charset="0"/>
                <a:ea typeface="Arial" pitchFamily="34" charset="-122"/>
                <a:cs typeface="Arial" pitchFamily="34" charset="-120"/>
              </a:rPr>
              <a:t>0</a:t>
            </a:r>
            <a:endParaRPr lang="en-US" sz="4160" dirty="0"/>
          </a:p>
        </p:txBody>
      </p:sp>
      <p:sp>
        <p:nvSpPr>
          <p:cNvPr id="68" name="Text 66"/>
          <p:cNvSpPr/>
          <p:nvPr/>
        </p:nvSpPr>
        <p:spPr>
          <a:xfrm>
            <a:off x="10293667" y="7189470"/>
            <a:ext cx="253524" cy="215900"/>
          </a:xfrm>
          <a:prstGeom prst="rect">
            <a:avLst/>
          </a:prstGeom>
          <a:noFill/>
          <a:ln/>
        </p:spPr>
        <p:txBody>
          <a:bodyPr wrap="square" lIns="25400" tIns="25400" rIns="25400" bIns="25400" rtlCol="0" anchor="t">
            <a:normAutofit/>
          </a:bodyPr>
          <a:lstStyle/>
          <a:p>
            <a:pPr algn="l" indent="0" marL="0">
              <a:lnSpc>
                <a:spcPct val="87500"/>
              </a:lnSpc>
              <a:buNone/>
            </a:pPr>
            <a:r>
              <a:rPr lang="en-US" sz="1400" b="1" spc="140" kern="0" dirty="0">
                <a:solidFill>
                  <a:srgbClr val="4E5B6B"/>
                </a:solidFill>
                <a:latin typeface="Arial" pitchFamily="34" charset="0"/>
                <a:ea typeface="Arial" pitchFamily="34" charset="-122"/>
                <a:cs typeface="Arial" pitchFamily="34" charset="-120"/>
              </a:rPr>
              <a:t>M</a:t>
            </a:r>
            <a:endParaRPr lang="en-US" sz="1400" dirty="0"/>
          </a:p>
        </p:txBody>
      </p:sp>
      <p:sp>
        <p:nvSpPr>
          <p:cNvPr id="69" name="Shape 67"/>
          <p:cNvSpPr/>
          <p:nvPr/>
        </p:nvSpPr>
        <p:spPr>
          <a:xfrm>
            <a:off x="1162050" y="8004810"/>
            <a:ext cx="9753600" cy="314960"/>
          </a:xfrm>
          <a:prstGeom prst="rect">
            <a:avLst/>
          </a:prstGeom>
          <a:solidFill>
            <a:srgbClr val="0A0E14"/>
          </a:solidFill>
          <a:ln/>
        </p:spPr>
      </p:sp>
      <p:sp>
        <p:nvSpPr>
          <p:cNvPr id="70" name="Shape 68"/>
          <p:cNvSpPr/>
          <p:nvPr/>
        </p:nvSpPr>
        <p:spPr>
          <a:xfrm>
            <a:off x="1162050" y="8004810"/>
            <a:ext cx="9753600" cy="10160"/>
          </a:xfrm>
          <a:prstGeom prst="rect">
            <a:avLst/>
          </a:prstGeom>
          <a:solidFill>
            <a:srgbClr val="1B222C"/>
          </a:solidFill>
          <a:ln/>
        </p:spPr>
      </p:sp>
      <p:sp>
        <p:nvSpPr>
          <p:cNvPr id="71" name="Text 69"/>
          <p:cNvSpPr/>
          <p:nvPr/>
        </p:nvSpPr>
        <p:spPr>
          <a:xfrm>
            <a:off x="1385570" y="8088630"/>
            <a:ext cx="404178" cy="195580"/>
          </a:xfrm>
          <a:prstGeom prst="rect">
            <a:avLst/>
          </a:prstGeom>
          <a:noFill/>
          <a:ln/>
        </p:spPr>
        <p:txBody>
          <a:bodyPr wrap="square" lIns="25400" tIns="25400" rIns="25400" bIns="25400" rtlCol="0" anchor="t">
            <a:normAutofit/>
          </a:bodyPr>
          <a:lstStyle/>
          <a:p>
            <a:pPr algn="l" indent="0" marL="0">
              <a:lnSpc>
                <a:spcPct val="129167"/>
              </a:lnSpc>
              <a:buNone/>
            </a:pPr>
            <a:r>
              <a:rPr lang="en-US" sz="800" b="1" spc="112" kern="0" dirty="0">
                <a:solidFill>
                  <a:srgbClr val="8A99AB"/>
                </a:solidFill>
                <a:latin typeface="Arial" pitchFamily="34" charset="0"/>
                <a:ea typeface="Arial" pitchFamily="34" charset="-122"/>
                <a:cs typeface="Arial" pitchFamily="34" charset="-120"/>
              </a:rPr>
              <a:t>NEXT</a:t>
            </a:r>
            <a:endParaRPr lang="en-US" sz="800" dirty="0"/>
          </a:p>
        </p:txBody>
      </p:sp>
      <p:sp>
        <p:nvSpPr>
          <p:cNvPr id="72" name="Text 70"/>
          <p:cNvSpPr/>
          <p:nvPr/>
        </p:nvSpPr>
        <p:spPr>
          <a:xfrm>
            <a:off x="1815147" y="8057198"/>
            <a:ext cx="4823142" cy="258604"/>
          </a:xfrm>
          <a:prstGeom prst="rect">
            <a:avLst/>
          </a:prstGeom>
          <a:noFill/>
          <a:ln/>
        </p:spPr>
        <p:txBody>
          <a:bodyPr wrap="none" lIns="25400" tIns="25400" rIns="25400" bIns="25400" rtlCol="0" anchor="t">
            <a:normAutofit/>
          </a:bodyPr>
          <a:lstStyle/>
          <a:p>
            <a:pPr algn="l" indent="0" marL="0">
              <a:lnSpc>
                <a:spcPct val="135625"/>
              </a:lnSpc>
              <a:buNone/>
            </a:pPr>
            <a:r>
              <a:rPr lang="en-US" sz="1120" b="1" dirty="0">
                <a:solidFill>
                  <a:srgbClr val="FFFFFF"/>
                </a:solidFill>
                <a:latin typeface="Arial" pitchFamily="34" charset="0"/>
                <a:ea typeface="Arial" pitchFamily="34" charset="-122"/>
                <a:cs typeface="Arial" pitchFamily="34" charset="-120"/>
              </a:rPr>
              <a:t>No.42 · −66 kg Men · Choi, Jae-won (KOR) v Kadyrov, Azamat (KGZ)</a:t>
            </a:r>
            <a:endParaRPr lang="en-US" sz="1120" dirty="0"/>
          </a:p>
        </p:txBody>
      </p:sp>
      <p:sp>
        <p:nvSpPr>
          <p:cNvPr id="73" name="Shape 71"/>
          <p:cNvSpPr/>
          <p:nvPr/>
        </p:nvSpPr>
        <p:spPr>
          <a:xfrm>
            <a:off x="1162050" y="8319770"/>
            <a:ext cx="9753600" cy="386080"/>
          </a:xfrm>
          <a:prstGeom prst="rect">
            <a:avLst/>
          </a:prstGeom>
          <a:solidFill>
            <a:srgbClr val="0B0F15"/>
          </a:solidFill>
          <a:ln/>
        </p:spPr>
      </p:sp>
      <p:sp>
        <p:nvSpPr>
          <p:cNvPr id="74" name="Shape 72"/>
          <p:cNvSpPr/>
          <p:nvPr/>
        </p:nvSpPr>
        <p:spPr>
          <a:xfrm>
            <a:off x="1162050" y="8319770"/>
            <a:ext cx="9753600" cy="10160"/>
          </a:xfrm>
          <a:prstGeom prst="rect">
            <a:avLst/>
          </a:prstGeom>
          <a:solidFill>
            <a:srgbClr val="1B222C"/>
          </a:solidFill>
          <a:ln/>
        </p:spPr>
      </p:sp>
      <p:sp>
        <p:nvSpPr>
          <p:cNvPr id="75" name="Text 73"/>
          <p:cNvSpPr/>
          <p:nvPr/>
        </p:nvSpPr>
        <p:spPr>
          <a:xfrm>
            <a:off x="1385570" y="8415496"/>
            <a:ext cx="168910" cy="242888"/>
          </a:xfrm>
          <a:prstGeom prst="rect">
            <a:avLst/>
          </a:prstGeom>
          <a:noFill/>
          <a:ln/>
        </p:spPr>
        <p:txBody>
          <a:bodyPr wrap="square" lIns="25400" tIns="25400" rIns="25400" bIns="25400" rtlCol="0" anchor="t">
            <a:normAutofit/>
          </a:bodyPr>
          <a:lstStyle/>
          <a:p>
            <a:pPr algn="l" indent="0" marL="0">
              <a:lnSpc>
                <a:spcPct val="134333"/>
              </a:lnSpc>
              <a:buNone/>
            </a:pPr>
            <a:r>
              <a:rPr lang="en-US" sz="1040" b="1" dirty="0">
                <a:solidFill>
                  <a:srgbClr val="FFC63D"/>
                </a:solidFill>
                <a:latin typeface="Arial" pitchFamily="34" charset="0"/>
                <a:ea typeface="Arial" pitchFamily="34" charset="-122"/>
                <a:cs typeface="Arial" pitchFamily="34" charset="-120"/>
              </a:rPr>
              <a:t>G</a:t>
            </a:r>
            <a:endParaRPr lang="en-US" sz="1040" dirty="0"/>
          </a:p>
        </p:txBody>
      </p:sp>
      <p:sp>
        <p:nvSpPr>
          <p:cNvPr id="76" name="Text 74"/>
          <p:cNvSpPr/>
          <p:nvPr/>
        </p:nvSpPr>
        <p:spPr>
          <a:xfrm>
            <a:off x="1529080" y="8454231"/>
            <a:ext cx="419100" cy="165100"/>
          </a:xfrm>
          <a:prstGeom prst="rect">
            <a:avLst/>
          </a:prstGeom>
          <a:noFill/>
          <a:ln/>
        </p:spPr>
        <p:txBody>
          <a:bodyPr wrap="square" lIns="0" tIns="0" rIns="0" bIns="0" rtlCol="0" anchor="t">
            <a:normAutofit/>
          </a:bodyPr>
          <a:lstStyle/>
          <a:p>
            <a:pPr algn="l" indent="0" marL="0">
              <a:lnSpc>
                <a:spcPct val="130200"/>
              </a:lnSpc>
              <a:buNone/>
            </a:pPr>
            <a:r>
              <a:rPr lang="en-US" sz="840" b="1" dirty="0">
                <a:solidFill>
                  <a:srgbClr val="8A99AB"/>
                </a:solidFill>
                <a:latin typeface="Arial" pitchFamily="34" charset="0"/>
                <a:ea typeface="Arial" pitchFamily="34" charset="-122"/>
                <a:cs typeface="Arial" pitchFamily="34" charset="-120"/>
              </a:rPr>
              <a:t>Girrom</a:t>
            </a:r>
            <a:endParaRPr lang="en-US" sz="840" dirty="0"/>
          </a:p>
        </p:txBody>
      </p:sp>
      <p:sp>
        <p:nvSpPr>
          <p:cNvPr id="77" name="Text 75"/>
          <p:cNvSpPr/>
          <p:nvPr/>
        </p:nvSpPr>
        <p:spPr>
          <a:xfrm>
            <a:off x="2024380" y="8415496"/>
            <a:ext cx="163512" cy="242888"/>
          </a:xfrm>
          <a:prstGeom prst="rect">
            <a:avLst/>
          </a:prstGeom>
          <a:noFill/>
          <a:ln/>
        </p:spPr>
        <p:txBody>
          <a:bodyPr wrap="square" lIns="25400" tIns="25400" rIns="25400" bIns="25400" rtlCol="0" anchor="t">
            <a:normAutofit/>
          </a:bodyPr>
          <a:lstStyle/>
          <a:p>
            <a:pPr algn="l" indent="0" marL="0">
              <a:lnSpc>
                <a:spcPct val="134333"/>
              </a:lnSpc>
              <a:buNone/>
            </a:pPr>
            <a:r>
              <a:rPr lang="en-US" sz="1040" b="1" dirty="0">
                <a:solidFill>
                  <a:srgbClr val="FFC63D"/>
                </a:solidFill>
                <a:latin typeface="Arial" pitchFamily="34" charset="0"/>
                <a:ea typeface="Arial" pitchFamily="34" charset="-122"/>
                <a:cs typeface="Arial" pitchFamily="34" charset="-120"/>
              </a:rPr>
              <a:t>Y</a:t>
            </a:r>
            <a:endParaRPr lang="en-US" sz="1040" dirty="0"/>
          </a:p>
        </p:txBody>
      </p:sp>
      <p:sp>
        <p:nvSpPr>
          <p:cNvPr id="78" name="Text 76"/>
          <p:cNvSpPr/>
          <p:nvPr/>
        </p:nvSpPr>
        <p:spPr>
          <a:xfrm>
            <a:off x="2162493" y="8454231"/>
            <a:ext cx="501967" cy="165100"/>
          </a:xfrm>
          <a:prstGeom prst="rect">
            <a:avLst/>
          </a:prstGeom>
          <a:noFill/>
          <a:ln/>
        </p:spPr>
        <p:txBody>
          <a:bodyPr wrap="square" lIns="0" tIns="0" rIns="0" bIns="0" rtlCol="0" anchor="t">
            <a:normAutofit/>
          </a:bodyPr>
          <a:lstStyle/>
          <a:p>
            <a:pPr algn="l" indent="0" marL="0">
              <a:lnSpc>
                <a:spcPct val="130200"/>
              </a:lnSpc>
              <a:buNone/>
            </a:pPr>
            <a:r>
              <a:rPr lang="en-US" sz="840" b="1" dirty="0">
                <a:solidFill>
                  <a:srgbClr val="8A99AB"/>
                </a:solidFill>
                <a:latin typeface="Arial" pitchFamily="34" charset="0"/>
                <a:ea typeface="Arial" pitchFamily="34" charset="-122"/>
                <a:cs typeface="Arial" pitchFamily="34" charset="-120"/>
              </a:rPr>
              <a:t>Yonbosh</a:t>
            </a:r>
            <a:endParaRPr lang="en-US" sz="840" dirty="0"/>
          </a:p>
        </p:txBody>
      </p:sp>
      <p:sp>
        <p:nvSpPr>
          <p:cNvPr id="79" name="Text 77"/>
          <p:cNvSpPr/>
          <p:nvPr/>
        </p:nvSpPr>
        <p:spPr>
          <a:xfrm>
            <a:off x="2740660" y="8415496"/>
            <a:ext cx="161766" cy="242888"/>
          </a:xfrm>
          <a:prstGeom prst="rect">
            <a:avLst/>
          </a:prstGeom>
          <a:noFill/>
          <a:ln/>
        </p:spPr>
        <p:txBody>
          <a:bodyPr wrap="square" lIns="25400" tIns="25400" rIns="25400" bIns="25400" rtlCol="0" anchor="t">
            <a:normAutofit/>
          </a:bodyPr>
          <a:lstStyle/>
          <a:p>
            <a:pPr algn="l" indent="0" marL="0">
              <a:lnSpc>
                <a:spcPct val="134333"/>
              </a:lnSpc>
              <a:buNone/>
            </a:pPr>
            <a:r>
              <a:rPr lang="en-US" sz="1040" b="1" dirty="0">
                <a:solidFill>
                  <a:srgbClr val="FFC63D"/>
                </a:solidFill>
                <a:latin typeface="Arial" pitchFamily="34" charset="0"/>
                <a:ea typeface="Arial" pitchFamily="34" charset="-122"/>
                <a:cs typeface="Arial" pitchFamily="34" charset="-120"/>
              </a:rPr>
              <a:t>C</a:t>
            </a:r>
            <a:endParaRPr lang="en-US" sz="1040" dirty="0"/>
          </a:p>
        </p:txBody>
      </p:sp>
      <p:sp>
        <p:nvSpPr>
          <p:cNvPr id="80" name="Text 78"/>
          <p:cNvSpPr/>
          <p:nvPr/>
        </p:nvSpPr>
        <p:spPr>
          <a:xfrm>
            <a:off x="2877026" y="8454231"/>
            <a:ext cx="350996" cy="165100"/>
          </a:xfrm>
          <a:prstGeom prst="rect">
            <a:avLst/>
          </a:prstGeom>
          <a:noFill/>
          <a:ln/>
        </p:spPr>
        <p:txBody>
          <a:bodyPr wrap="square" lIns="0" tIns="0" rIns="0" bIns="0" rtlCol="0" anchor="t">
            <a:normAutofit/>
          </a:bodyPr>
          <a:lstStyle/>
          <a:p>
            <a:pPr algn="l" indent="0" marL="0">
              <a:lnSpc>
                <a:spcPct val="130200"/>
              </a:lnSpc>
              <a:buNone/>
            </a:pPr>
            <a:r>
              <a:rPr lang="en-US" sz="840" b="1" dirty="0">
                <a:solidFill>
                  <a:srgbClr val="8A99AB"/>
                </a:solidFill>
                <a:latin typeface="Arial" pitchFamily="34" charset="0"/>
                <a:ea typeface="Arial" pitchFamily="34" charset="-122"/>
                <a:cs typeface="Arial" pitchFamily="34" charset="-120"/>
              </a:rPr>
              <a:t>Chala</a:t>
            </a:r>
            <a:endParaRPr lang="en-US" sz="840" dirty="0"/>
          </a:p>
        </p:txBody>
      </p:sp>
      <p:sp>
        <p:nvSpPr>
          <p:cNvPr id="81" name="Text 79"/>
          <p:cNvSpPr/>
          <p:nvPr/>
        </p:nvSpPr>
        <p:spPr>
          <a:xfrm>
            <a:off x="3304222" y="8415496"/>
            <a:ext cx="173514" cy="242888"/>
          </a:xfrm>
          <a:prstGeom prst="rect">
            <a:avLst/>
          </a:prstGeom>
          <a:noFill/>
          <a:ln/>
        </p:spPr>
        <p:txBody>
          <a:bodyPr wrap="square" lIns="25400" tIns="25400" rIns="25400" bIns="25400" rtlCol="0" anchor="t">
            <a:normAutofit/>
          </a:bodyPr>
          <a:lstStyle/>
          <a:p>
            <a:pPr algn="l" indent="0" marL="0">
              <a:lnSpc>
                <a:spcPct val="134333"/>
              </a:lnSpc>
              <a:buNone/>
            </a:pPr>
            <a:r>
              <a:rPr lang="en-US" sz="1040" b="1" dirty="0">
                <a:solidFill>
                  <a:srgbClr val="FF6A5C"/>
                </a:solidFill>
                <a:latin typeface="Arial" pitchFamily="34" charset="0"/>
                <a:ea typeface="Arial" pitchFamily="34" charset="-122"/>
                <a:cs typeface="Arial" pitchFamily="34" charset="-120"/>
              </a:rPr>
              <a:t>D</a:t>
            </a:r>
            <a:endParaRPr lang="en-US" sz="1040" dirty="0"/>
          </a:p>
        </p:txBody>
      </p:sp>
      <p:sp>
        <p:nvSpPr>
          <p:cNvPr id="82" name="Text 80"/>
          <p:cNvSpPr/>
          <p:nvPr/>
        </p:nvSpPr>
        <p:spPr>
          <a:xfrm>
            <a:off x="3452336" y="8454231"/>
            <a:ext cx="355283" cy="165100"/>
          </a:xfrm>
          <a:prstGeom prst="rect">
            <a:avLst/>
          </a:prstGeom>
          <a:noFill/>
          <a:ln/>
        </p:spPr>
        <p:txBody>
          <a:bodyPr wrap="square" lIns="0" tIns="0" rIns="0" bIns="0" rtlCol="0" anchor="t">
            <a:normAutofit/>
          </a:bodyPr>
          <a:lstStyle/>
          <a:p>
            <a:pPr algn="l" indent="0" marL="0">
              <a:lnSpc>
                <a:spcPct val="130200"/>
              </a:lnSpc>
              <a:buNone/>
            </a:pPr>
            <a:r>
              <a:rPr lang="en-US" sz="840" b="1" dirty="0">
                <a:solidFill>
                  <a:srgbClr val="8A99AB"/>
                </a:solidFill>
                <a:latin typeface="Arial" pitchFamily="34" charset="0"/>
                <a:ea typeface="Arial" pitchFamily="34" charset="-122"/>
                <a:cs typeface="Arial" pitchFamily="34" charset="-120"/>
              </a:rPr>
              <a:t>Dakki</a:t>
            </a:r>
            <a:endParaRPr lang="en-US" sz="840" dirty="0"/>
          </a:p>
        </p:txBody>
      </p:sp>
      <p:sp>
        <p:nvSpPr>
          <p:cNvPr id="83" name="Text 81"/>
          <p:cNvSpPr/>
          <p:nvPr/>
        </p:nvSpPr>
        <p:spPr>
          <a:xfrm>
            <a:off x="3883977" y="8415496"/>
            <a:ext cx="157321" cy="242888"/>
          </a:xfrm>
          <a:prstGeom prst="rect">
            <a:avLst/>
          </a:prstGeom>
          <a:noFill/>
          <a:ln/>
        </p:spPr>
        <p:txBody>
          <a:bodyPr wrap="square" lIns="25400" tIns="25400" rIns="25400" bIns="25400" rtlCol="0" anchor="t">
            <a:normAutofit/>
          </a:bodyPr>
          <a:lstStyle/>
          <a:p>
            <a:pPr algn="l" indent="0" marL="0">
              <a:lnSpc>
                <a:spcPct val="134333"/>
              </a:lnSpc>
              <a:buNone/>
            </a:pPr>
            <a:r>
              <a:rPr lang="en-US" sz="1040" b="1" dirty="0">
                <a:solidFill>
                  <a:srgbClr val="FF6A5C"/>
                </a:solidFill>
                <a:latin typeface="Arial" pitchFamily="34" charset="0"/>
                <a:ea typeface="Arial" pitchFamily="34" charset="-122"/>
                <a:cs typeface="Arial" pitchFamily="34" charset="-120"/>
              </a:rPr>
              <a:t>T</a:t>
            </a:r>
            <a:endParaRPr lang="en-US" sz="1040" dirty="0"/>
          </a:p>
        </p:txBody>
      </p:sp>
      <p:sp>
        <p:nvSpPr>
          <p:cNvPr id="84" name="Text 82"/>
          <p:cNvSpPr/>
          <p:nvPr/>
        </p:nvSpPr>
        <p:spPr>
          <a:xfrm>
            <a:off x="4015899" y="8454231"/>
            <a:ext cx="439896" cy="165100"/>
          </a:xfrm>
          <a:prstGeom prst="rect">
            <a:avLst/>
          </a:prstGeom>
          <a:noFill/>
          <a:ln/>
        </p:spPr>
        <p:txBody>
          <a:bodyPr wrap="square" lIns="0" tIns="0" rIns="0" bIns="0" rtlCol="0" anchor="t">
            <a:normAutofit/>
          </a:bodyPr>
          <a:lstStyle/>
          <a:p>
            <a:pPr algn="l" indent="0" marL="0">
              <a:lnSpc>
                <a:spcPct val="130200"/>
              </a:lnSpc>
              <a:buNone/>
            </a:pPr>
            <a:r>
              <a:rPr lang="en-US" sz="840" b="1" dirty="0">
                <a:solidFill>
                  <a:srgbClr val="8A99AB"/>
                </a:solidFill>
                <a:latin typeface="Arial" pitchFamily="34" charset="0"/>
                <a:ea typeface="Arial" pitchFamily="34" charset="-122"/>
                <a:cs typeface="Arial" pitchFamily="34" charset="-120"/>
              </a:rPr>
              <a:t>Tanbeh</a:t>
            </a:r>
            <a:endParaRPr lang="en-US" sz="840" dirty="0"/>
          </a:p>
        </p:txBody>
      </p:sp>
      <p:sp>
        <p:nvSpPr>
          <p:cNvPr id="85" name="Text 83"/>
          <p:cNvSpPr/>
          <p:nvPr/>
        </p:nvSpPr>
        <p:spPr>
          <a:xfrm>
            <a:off x="4531836" y="8415496"/>
            <a:ext cx="194627" cy="242888"/>
          </a:xfrm>
          <a:prstGeom prst="rect">
            <a:avLst/>
          </a:prstGeom>
          <a:noFill/>
          <a:ln/>
        </p:spPr>
        <p:txBody>
          <a:bodyPr wrap="square" lIns="25400" tIns="25400" rIns="25400" bIns="25400" rtlCol="0" anchor="t">
            <a:normAutofit/>
          </a:bodyPr>
          <a:lstStyle/>
          <a:p>
            <a:pPr algn="l" indent="0" marL="0">
              <a:lnSpc>
                <a:spcPct val="134333"/>
              </a:lnSpc>
              <a:buNone/>
            </a:pPr>
            <a:r>
              <a:rPr lang="en-US" sz="1040" b="1" dirty="0">
                <a:solidFill>
                  <a:srgbClr val="FF6A5C"/>
                </a:solidFill>
                <a:latin typeface="Arial" pitchFamily="34" charset="0"/>
                <a:ea typeface="Arial" pitchFamily="34" charset="-122"/>
                <a:cs typeface="Arial" pitchFamily="34" charset="-120"/>
              </a:rPr>
              <a:t>M</a:t>
            </a:r>
            <a:endParaRPr lang="en-US" sz="1040" dirty="0"/>
          </a:p>
        </p:txBody>
      </p:sp>
      <p:sp>
        <p:nvSpPr>
          <p:cNvPr id="86" name="Text 84"/>
          <p:cNvSpPr/>
          <p:nvPr/>
        </p:nvSpPr>
        <p:spPr>
          <a:xfrm>
            <a:off x="4701064" y="8454231"/>
            <a:ext cx="521494" cy="165100"/>
          </a:xfrm>
          <a:prstGeom prst="rect">
            <a:avLst/>
          </a:prstGeom>
          <a:noFill/>
          <a:ln/>
        </p:spPr>
        <p:txBody>
          <a:bodyPr wrap="square" lIns="0" tIns="0" rIns="0" bIns="0" rtlCol="0" anchor="t">
            <a:normAutofit/>
          </a:bodyPr>
          <a:lstStyle/>
          <a:p>
            <a:pPr algn="l" indent="0" marL="0">
              <a:lnSpc>
                <a:spcPct val="130200"/>
              </a:lnSpc>
              <a:buNone/>
            </a:pPr>
            <a:r>
              <a:rPr lang="en-US" sz="840" b="1" dirty="0">
                <a:solidFill>
                  <a:srgbClr val="8A99AB"/>
                </a:solidFill>
                <a:latin typeface="Arial" pitchFamily="34" charset="0"/>
                <a:ea typeface="Arial" pitchFamily="34" charset="-122"/>
                <a:cs typeface="Arial" pitchFamily="34" charset="-120"/>
              </a:rPr>
              <a:t>Madichal</a:t>
            </a:r>
            <a:endParaRPr lang="en-US" sz="840" dirty="0"/>
          </a:p>
        </p:txBody>
      </p:sp>
      <p:sp>
        <p:nvSpPr>
          <p:cNvPr id="87" name="Text 85"/>
          <p:cNvSpPr/>
          <p:nvPr/>
        </p:nvSpPr>
        <p:spPr>
          <a:xfrm>
            <a:off x="7736681" y="8435181"/>
            <a:ext cx="3250994" cy="203518"/>
          </a:xfrm>
          <a:prstGeom prst="rect">
            <a:avLst/>
          </a:prstGeom>
          <a:noFill/>
          <a:ln/>
        </p:spPr>
        <p:txBody>
          <a:bodyPr wrap="square" lIns="25400" tIns="25400" rIns="25400" bIns="25400" rtlCol="0" anchor="t">
            <a:normAutofit/>
          </a:bodyPr>
          <a:lstStyle/>
          <a:p>
            <a:pPr algn="l" indent="0" marL="0">
              <a:lnSpc>
                <a:spcPct val="130200"/>
              </a:lnSpc>
              <a:buNone/>
            </a:pPr>
            <a:r>
              <a:rPr lang="en-US" sz="840" b="1" spc="84" kern="0" dirty="0">
                <a:solidFill>
                  <a:srgbClr val="8A99AB"/>
                </a:solidFill>
                <a:latin typeface="Arial" pitchFamily="34" charset="0"/>
                <a:ea typeface="Arial" pitchFamily="34" charset="-122"/>
                <a:cs typeface="Arial" pitchFamily="34" charset="-120"/>
              </a:rPr>
              <a:t>ASIAN KURASH CHAMPIONSHIP 2026 · TASHKENT</a:t>
            </a:r>
            <a:endParaRPr lang="en-US" sz="840" dirty="0"/>
          </a:p>
        </p:txBody>
      </p:sp>
      <p:sp>
        <p:nvSpPr>
          <p:cNvPr id="88" name="Text 86"/>
          <p:cNvSpPr/>
          <p:nvPr/>
        </p:nvSpPr>
        <p:spPr>
          <a:xfrm>
            <a:off x="11353800" y="32004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Colour is the identifier</a:t>
            </a:r>
            <a:endParaRPr lang="en-US" sz="2550" dirty="0"/>
          </a:p>
        </p:txBody>
      </p:sp>
      <p:sp>
        <p:nvSpPr>
          <p:cNvPr id="89" name="Text 87"/>
          <p:cNvSpPr/>
          <p:nvPr/>
        </p:nvSpPr>
        <p:spPr>
          <a:xfrm>
            <a:off x="11353800" y="3696811"/>
            <a:ext cx="5964936" cy="15925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Each athlete gets a pane in the colour of their yakhtak — not two grey boxes with a coloured word on them. From the back of a hall the colour carries and the word is the caption.</a:t>
            </a:r>
            <a:endParaRPr lang="en-US" sz="2100" dirty="0"/>
          </a:p>
        </p:txBody>
      </p:sp>
      <p:sp>
        <p:nvSpPr>
          <p:cNvPr id="90" name="Text 88"/>
          <p:cNvSpPr/>
          <p:nvPr/>
        </p:nvSpPr>
        <p:spPr>
          <a:xfrm>
            <a:off x="11353800" y="57150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Six counters, no khalol column</a:t>
            </a:r>
            <a:endParaRPr lang="en-US" sz="2550" dirty="0"/>
          </a:p>
        </p:txBody>
      </p:sp>
      <p:sp>
        <p:nvSpPr>
          <p:cNvPr id="91" name="Text 89"/>
          <p:cNvSpPr/>
          <p:nvPr/>
        </p:nvSpPr>
        <p:spPr>
          <a:xfrm>
            <a:off x="11353800" y="6211412"/>
            <a:ext cx="596493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A khalol ends the contest, so an ended contest shows the winner instead. Counters at nought dim to the plate, the clock reddens for the last twenty seconds, and the dot beside the class says the feed is alive.</a:t>
            </a:r>
            <a:endParaRPr lang="en-US" sz="2100" dirty="0"/>
          </a:p>
        </p:txBody>
      </p:sp>
      <p:pic>
        <p:nvPicPr>
          <p:cNvPr id="92"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03 · THE HALL</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The mats at a glance</a:t>
            </a:r>
            <a:endParaRPr lang="en-US" sz="4800" dirty="0"/>
          </a:p>
        </p:txBody>
      </p:sp>
      <p:sp>
        <p:nvSpPr>
          <p:cNvPr id="4" name="Shape 2"/>
          <p:cNvSpPr/>
          <p:nvPr/>
        </p:nvSpPr>
        <p:spPr>
          <a:xfrm>
            <a:off x="1143000" y="3200400"/>
            <a:ext cx="9753600" cy="5486400"/>
          </a:xfrm>
          <a:prstGeom prst="rect">
            <a:avLst/>
          </a:prstGeom>
          <a:solidFill>
            <a:srgbClr val="05070A"/>
          </a:solidFill>
          <a:ln w="19050">
            <a:solidFill>
              <a:srgbClr val="201E1D">
                <a:alpha val="40000"/>
              </a:srgbClr>
            </a:solidFill>
            <a:prstDash val="solid"/>
          </a:ln>
        </p:spPr>
      </p:sp>
      <p:sp>
        <p:nvSpPr>
          <p:cNvPr id="5" name="Shape 3"/>
          <p:cNvSpPr/>
          <p:nvPr/>
        </p:nvSpPr>
        <p:spPr>
          <a:xfrm>
            <a:off x="1162050" y="3219450"/>
            <a:ext cx="9753600" cy="5486400"/>
          </a:xfrm>
          <a:prstGeom prst="rect">
            <a:avLst/>
          </a:prstGeom>
          <a:solidFill>
            <a:srgbClr val="0B1020"/>
          </a:solidFill>
          <a:ln/>
        </p:spPr>
      </p:sp>
      <p:sp>
        <p:nvSpPr>
          <p:cNvPr id="6" name="Shape 4"/>
          <p:cNvSpPr/>
          <p:nvPr/>
        </p:nvSpPr>
        <p:spPr>
          <a:xfrm>
            <a:off x="1378744" y="3767137"/>
            <a:ext cx="9320054" cy="20320"/>
          </a:xfrm>
          <a:prstGeom prst="rect">
            <a:avLst/>
          </a:prstGeom>
          <a:solidFill>
            <a:srgbClr val="2A3350"/>
          </a:solidFill>
          <a:ln/>
        </p:spPr>
      </p:sp>
      <p:sp>
        <p:nvSpPr>
          <p:cNvPr id="7" name="Shape 5"/>
          <p:cNvSpPr/>
          <p:nvPr/>
        </p:nvSpPr>
        <p:spPr>
          <a:xfrm>
            <a:off x="1378744" y="3406140"/>
            <a:ext cx="257334" cy="257334"/>
          </a:xfrm>
          <a:prstGeom prst="ellipse">
            <a:avLst/>
          </a:prstGeom>
          <a:ln w="13547">
            <a:solidFill>
              <a:srgbClr val="F2F5FF"/>
            </a:solidFill>
            <a:prstDash val="solid"/>
          </a:ln>
        </p:spPr>
      </p:sp>
      <p:sp>
        <p:nvSpPr>
          <p:cNvPr id="8" name="Text 6"/>
          <p:cNvSpPr/>
          <p:nvPr/>
        </p:nvSpPr>
        <p:spPr>
          <a:xfrm>
            <a:off x="1354190" y="3419687"/>
            <a:ext cx="306440" cy="268340"/>
          </a:xfrm>
          <a:prstGeom prst="rect">
            <a:avLst/>
          </a:prstGeom>
          <a:noFill/>
          <a:ln/>
        </p:spPr>
        <p:txBody>
          <a:bodyPr wrap="square" lIns="25400" tIns="25400" rIns="25400" bIns="25400" rtlCol="0" anchor="ctr">
            <a:normAutofit/>
          </a:bodyPr>
          <a:lstStyle/>
          <a:p>
            <a:pPr algn="ctr" indent="0" marL="0">
              <a:lnSpc>
                <a:spcPct val="114231"/>
              </a:lnSpc>
              <a:buNone/>
            </a:pPr>
            <a:r>
              <a:rPr lang="en-US" sz="587" b="1" dirty="0">
                <a:solidFill>
                  <a:srgbClr val="F2F5FF"/>
                </a:solidFill>
                <a:latin typeface="Arial" pitchFamily="34" charset="0"/>
                <a:ea typeface="Arial" pitchFamily="34" charset="-122"/>
                <a:cs typeface="Arial" pitchFamily="34" charset="-120"/>
              </a:rPr>
              <a:t>IKA</a:t>
            </a:r>
            <a:endParaRPr lang="en-US" sz="587" dirty="0"/>
          </a:p>
        </p:txBody>
      </p:sp>
      <p:sp>
        <p:nvSpPr>
          <p:cNvPr id="9" name="Text 7"/>
          <p:cNvSpPr/>
          <p:nvPr/>
        </p:nvSpPr>
        <p:spPr>
          <a:xfrm>
            <a:off x="1710690" y="3384074"/>
            <a:ext cx="2913967" cy="202724"/>
          </a:xfrm>
          <a:prstGeom prst="rect">
            <a:avLst/>
          </a:prstGeom>
          <a:noFill/>
          <a:ln/>
        </p:spPr>
        <p:txBody>
          <a:bodyPr wrap="square" lIns="25400" tIns="25400" rIns="25400" bIns="25400" rtlCol="0" anchor="t">
            <a:normAutofit/>
          </a:bodyPr>
          <a:lstStyle/>
          <a:p>
            <a:pPr algn="l" indent="0" marL="0">
              <a:lnSpc>
                <a:spcPct val="115714"/>
              </a:lnSpc>
              <a:buNone/>
            </a:pPr>
            <a:r>
              <a:rPr lang="en-US" sz="960" b="1" spc="77" kern="0" dirty="0">
                <a:solidFill>
                  <a:srgbClr val="F2F5FF"/>
                </a:solidFill>
                <a:latin typeface="Arial" pitchFamily="34" charset="0"/>
                <a:ea typeface="Arial" pitchFamily="34" charset="-122"/>
                <a:cs typeface="Arial" pitchFamily="34" charset="-120"/>
              </a:rPr>
              <a:t>INTERNATIONAL KURASH ASSOCIATION</a:t>
            </a:r>
            <a:endParaRPr lang="en-US" sz="960" dirty="0"/>
          </a:p>
        </p:txBody>
      </p:sp>
      <p:sp>
        <p:nvSpPr>
          <p:cNvPr id="10" name="Text 8"/>
          <p:cNvSpPr/>
          <p:nvPr/>
        </p:nvSpPr>
        <p:spPr>
          <a:xfrm>
            <a:off x="1710690" y="3548697"/>
            <a:ext cx="2913967" cy="175260"/>
          </a:xfrm>
          <a:prstGeom prst="rect">
            <a:avLst/>
          </a:prstGeom>
          <a:noFill/>
          <a:ln/>
        </p:spPr>
        <p:txBody>
          <a:bodyPr wrap="square" lIns="25400" tIns="25400" rIns="25400" bIns="25400" rtlCol="0" anchor="t">
            <a:normAutofit/>
          </a:bodyPr>
          <a:lstStyle/>
          <a:p>
            <a:pPr algn="l" indent="0" marL="0">
              <a:lnSpc>
                <a:spcPct val="112500"/>
              </a:lnSpc>
              <a:buNone/>
            </a:pPr>
            <a:r>
              <a:rPr lang="en-US" sz="800" dirty="0">
                <a:solidFill>
                  <a:srgbClr val="8F9EC4"/>
                </a:solidFill>
                <a:latin typeface="Arial" pitchFamily="34" charset="0"/>
                <a:ea typeface="Arial" pitchFamily="34" charset="-122"/>
                <a:cs typeface="Arial" pitchFamily="34" charset="-120"/>
              </a:rPr>
              <a:t>Asian Kurash Championship 2026 · Tashkent, Uzbekistan</a:t>
            </a:r>
            <a:endParaRPr lang="en-US" sz="800" dirty="0"/>
          </a:p>
        </p:txBody>
      </p:sp>
      <p:sp>
        <p:nvSpPr>
          <p:cNvPr id="11" name="Text 9"/>
          <p:cNvSpPr/>
          <p:nvPr/>
        </p:nvSpPr>
        <p:spPr>
          <a:xfrm>
            <a:off x="9686925" y="3382010"/>
            <a:ext cx="1088231" cy="275908"/>
          </a:xfrm>
          <a:prstGeom prst="rect">
            <a:avLst/>
          </a:prstGeom>
          <a:noFill/>
          <a:ln/>
        </p:spPr>
        <p:txBody>
          <a:bodyPr wrap="square" lIns="25400" tIns="25400" rIns="25400" bIns="25400" rtlCol="0" anchor="t">
            <a:normAutofit/>
          </a:bodyPr>
          <a:lstStyle/>
          <a:p>
            <a:pPr algn="l" indent="0" marL="0">
              <a:lnSpc>
                <a:spcPct val="117000"/>
              </a:lnSpc>
              <a:buNone/>
            </a:pPr>
            <a:r>
              <a:rPr lang="en-US" sz="1387" b="1" dirty="0">
                <a:solidFill>
                  <a:srgbClr val="F2F5FF"/>
                </a:solidFill>
                <a:latin typeface="Arial" pitchFamily="34" charset="0"/>
                <a:ea typeface="Arial" pitchFamily="34" charset="-122"/>
                <a:cs typeface="Arial" pitchFamily="34" charset="-120"/>
              </a:rPr>
              <a:t>On the mats</a:t>
            </a:r>
            <a:endParaRPr lang="en-US" sz="1387" dirty="0"/>
          </a:p>
        </p:txBody>
      </p:sp>
      <p:sp>
        <p:nvSpPr>
          <p:cNvPr id="12" name="Shape 10"/>
          <p:cNvSpPr/>
          <p:nvPr/>
        </p:nvSpPr>
        <p:spPr>
          <a:xfrm>
            <a:off x="1378744" y="3922871"/>
            <a:ext cx="2248694" cy="1093470"/>
          </a:xfrm>
          <a:prstGeom prst="roundRect">
            <a:avLst>
              <a:gd name="adj" fmla="val 6194"/>
            </a:avLst>
          </a:prstGeom>
          <a:solidFill>
            <a:srgbClr val="161D33"/>
          </a:solidFill>
          <a:ln w="6773">
            <a:solidFill>
              <a:srgbClr val="2A3350"/>
            </a:solidFill>
            <a:prstDash val="solid"/>
          </a:ln>
        </p:spPr>
      </p:sp>
      <p:sp>
        <p:nvSpPr>
          <p:cNvPr id="13" name="Text 11"/>
          <p:cNvSpPr/>
          <p:nvPr/>
        </p:nvSpPr>
        <p:spPr>
          <a:xfrm>
            <a:off x="1507490" y="4037965"/>
            <a:ext cx="2190496" cy="144304"/>
          </a:xfrm>
          <a:prstGeom prst="rect">
            <a:avLst/>
          </a:prstGeom>
          <a:noFill/>
          <a:ln/>
        </p:spPr>
        <p:txBody>
          <a:bodyPr wrap="square" lIns="25400" tIns="25400" rIns="25400" bIns="25400" rtlCol="0" anchor="t">
            <a:normAutofit/>
          </a:bodyPr>
          <a:lstStyle/>
          <a:p>
            <a:pPr algn="l" indent="0" marL="0">
              <a:lnSpc>
                <a:spcPct val="98021"/>
              </a:lnSpc>
              <a:buNone/>
            </a:pPr>
            <a:r>
              <a:rPr lang="en-US" sz="747" b="1" spc="67" kern="0" dirty="0">
                <a:solidFill>
                  <a:srgbClr val="8F9EC4"/>
                </a:solidFill>
                <a:latin typeface="Arial" pitchFamily="34" charset="0"/>
                <a:ea typeface="Arial" pitchFamily="34" charset="-122"/>
                <a:cs typeface="Arial" pitchFamily="34" charset="-120"/>
              </a:rPr>
              <a:t>MAT 1</a:t>
            </a:r>
            <a:endParaRPr lang="en-US" sz="747" dirty="0"/>
          </a:p>
        </p:txBody>
      </p:sp>
      <p:sp>
        <p:nvSpPr>
          <p:cNvPr id="14" name="Text 12"/>
          <p:cNvSpPr/>
          <p:nvPr/>
        </p:nvSpPr>
        <p:spPr>
          <a:xfrm>
            <a:off x="1507490" y="4211955"/>
            <a:ext cx="2190496" cy="166053"/>
          </a:xfrm>
          <a:prstGeom prst="rect">
            <a:avLst/>
          </a:prstGeom>
          <a:noFill/>
          <a:ln/>
        </p:spPr>
        <p:txBody>
          <a:bodyPr wrap="square" lIns="25400" tIns="25400" rIns="25400" bIns="25400" rtlCol="0" anchor="t">
            <a:normAutofit/>
          </a:bodyPr>
          <a:lstStyle/>
          <a:p>
            <a:pPr algn="l" indent="0" marL="0">
              <a:lnSpc>
                <a:spcPct val="118125"/>
              </a:lnSpc>
              <a:buNone/>
            </a:pPr>
            <a:r>
              <a:rPr lang="en-US" sz="747" dirty="0">
                <a:solidFill>
                  <a:srgbClr val="8F9EC4"/>
                </a:solidFill>
                <a:latin typeface="Arial" pitchFamily="34" charset="0"/>
                <a:ea typeface="Arial" pitchFamily="34" charset="-122"/>
                <a:cs typeface="Arial" pitchFamily="34" charset="-120"/>
              </a:rPr>
              <a:t>−60 kg Senior Men · Fight 41</a:t>
            </a:r>
            <a:endParaRPr lang="en-US" sz="747" dirty="0"/>
          </a:p>
        </p:txBody>
      </p:sp>
      <p:sp>
        <p:nvSpPr>
          <p:cNvPr id="15" name="Text 13"/>
          <p:cNvSpPr/>
          <p:nvPr/>
        </p:nvSpPr>
        <p:spPr>
          <a:xfrm>
            <a:off x="1507490" y="4394200"/>
            <a:ext cx="2190496" cy="211773"/>
          </a:xfrm>
          <a:prstGeom prst="rect">
            <a:avLst/>
          </a:prstGeom>
          <a:noFill/>
          <a:ln/>
        </p:spPr>
        <p:txBody>
          <a:bodyPr wrap="square" lIns="25400" tIns="25400" rIns="25400" bIns="25400" rtlCol="0" anchor="t">
            <a:normAutofit/>
          </a:bodyPr>
          <a:lstStyle/>
          <a:p>
            <a:pPr algn="l" indent="0" marL="0">
              <a:lnSpc>
                <a:spcPct val="111522"/>
              </a:lnSpc>
              <a:buNone/>
            </a:pPr>
            <a:r>
              <a:rPr lang="en-US" sz="1013" b="1" dirty="0">
                <a:solidFill>
                  <a:srgbClr val="3B82F6"/>
                </a:solidFill>
                <a:latin typeface="Arial" pitchFamily="34" charset="0"/>
                <a:ea typeface="Arial" pitchFamily="34" charset="-122"/>
                <a:cs typeface="Arial" pitchFamily="34" charset="-120"/>
              </a:rPr>
              <a:t>Abdullaev, T. </a:t>
            </a:r>
            <a:pPr algn="l" indent="0" marL="0">
              <a:lnSpc>
                <a:spcPct val="111522"/>
              </a:lnSpc>
              <a:buNone/>
            </a:pPr>
            <a:r>
              <a:rPr lang="en-US" sz="693" b="1" dirty="0">
                <a:solidFill>
                  <a:srgbClr val="8F9EC4"/>
                </a:solidFill>
                <a:latin typeface="Arial" pitchFamily="34" charset="0"/>
                <a:ea typeface="Arial" pitchFamily="34" charset="-122"/>
                <a:cs typeface="Arial" pitchFamily="34" charset="-120"/>
              </a:rPr>
              <a:t>UZB</a:t>
            </a:r>
            <a:endParaRPr lang="en-US" sz="1013" dirty="0"/>
          </a:p>
        </p:txBody>
      </p:sp>
      <p:sp>
        <p:nvSpPr>
          <p:cNvPr id="16" name="Text 14"/>
          <p:cNvSpPr/>
          <p:nvPr/>
        </p:nvSpPr>
        <p:spPr>
          <a:xfrm>
            <a:off x="1507490" y="4588193"/>
            <a:ext cx="2190496" cy="157004"/>
          </a:xfrm>
          <a:prstGeom prst="rect">
            <a:avLst/>
          </a:prstGeom>
          <a:noFill/>
          <a:ln/>
        </p:spPr>
        <p:txBody>
          <a:bodyPr wrap="square" lIns="25400" tIns="25400" rIns="25400" bIns="25400" rtlCol="0" anchor="t">
            <a:normAutofit/>
          </a:bodyPr>
          <a:lstStyle/>
          <a:p>
            <a:pPr algn="l" indent="0" marL="0">
              <a:lnSpc>
                <a:spcPct val="117000"/>
              </a:lnSpc>
              <a:buNone/>
            </a:pPr>
            <a:r>
              <a:rPr lang="en-US" sz="693" dirty="0">
                <a:solidFill>
                  <a:srgbClr val="8F9EC4"/>
                </a:solidFill>
                <a:latin typeface="Arial" pitchFamily="34" charset="0"/>
                <a:ea typeface="Arial" pitchFamily="34" charset="-122"/>
                <a:cs typeface="Arial" pitchFamily="34" charset="-120"/>
              </a:rPr>
              <a:t>versus</a:t>
            </a:r>
            <a:endParaRPr lang="en-US" sz="693" dirty="0"/>
          </a:p>
        </p:txBody>
      </p:sp>
      <p:sp>
        <p:nvSpPr>
          <p:cNvPr id="17" name="Text 15"/>
          <p:cNvSpPr/>
          <p:nvPr/>
        </p:nvSpPr>
        <p:spPr>
          <a:xfrm>
            <a:off x="1507490" y="4727416"/>
            <a:ext cx="2190496" cy="211773"/>
          </a:xfrm>
          <a:prstGeom prst="rect">
            <a:avLst/>
          </a:prstGeom>
          <a:noFill/>
          <a:ln/>
        </p:spPr>
        <p:txBody>
          <a:bodyPr wrap="square" lIns="25400" tIns="25400" rIns="25400" bIns="25400" rtlCol="0" anchor="t">
            <a:normAutofit/>
          </a:bodyPr>
          <a:lstStyle/>
          <a:p>
            <a:pPr algn="l" indent="0" marL="0">
              <a:lnSpc>
                <a:spcPct val="111522"/>
              </a:lnSpc>
              <a:buNone/>
            </a:pPr>
            <a:r>
              <a:rPr lang="en-US" sz="1013" b="1" dirty="0">
                <a:solidFill>
                  <a:srgbClr val="22C55E"/>
                </a:solidFill>
                <a:latin typeface="Arial" pitchFamily="34" charset="0"/>
                <a:ea typeface="Arial" pitchFamily="34" charset="-122"/>
                <a:cs typeface="Arial" pitchFamily="34" charset="-120"/>
              </a:rPr>
              <a:t>Serikov, D. </a:t>
            </a:r>
            <a:pPr algn="l" indent="0" marL="0">
              <a:lnSpc>
                <a:spcPct val="111522"/>
              </a:lnSpc>
              <a:buNone/>
            </a:pPr>
            <a:r>
              <a:rPr lang="en-US" sz="693" b="1" dirty="0">
                <a:solidFill>
                  <a:srgbClr val="8F9EC4"/>
                </a:solidFill>
                <a:latin typeface="Arial" pitchFamily="34" charset="0"/>
                <a:ea typeface="Arial" pitchFamily="34" charset="-122"/>
                <a:cs typeface="Arial" pitchFamily="34" charset="-120"/>
              </a:rPr>
              <a:t>KAZ</a:t>
            </a:r>
            <a:endParaRPr lang="en-US" sz="1013" dirty="0"/>
          </a:p>
        </p:txBody>
      </p:sp>
      <p:sp>
        <p:nvSpPr>
          <p:cNvPr id="18" name="Shape 16"/>
          <p:cNvSpPr/>
          <p:nvPr/>
        </p:nvSpPr>
        <p:spPr>
          <a:xfrm>
            <a:off x="3735864" y="3922871"/>
            <a:ext cx="2248694" cy="1093470"/>
          </a:xfrm>
          <a:prstGeom prst="roundRect">
            <a:avLst>
              <a:gd name="adj" fmla="val 6194"/>
            </a:avLst>
          </a:prstGeom>
          <a:solidFill>
            <a:srgbClr val="161D33"/>
          </a:solidFill>
          <a:ln w="6773">
            <a:solidFill>
              <a:srgbClr val="2A3350"/>
            </a:solidFill>
            <a:prstDash val="solid"/>
          </a:ln>
        </p:spPr>
      </p:sp>
      <p:sp>
        <p:nvSpPr>
          <p:cNvPr id="19" name="Text 17"/>
          <p:cNvSpPr/>
          <p:nvPr/>
        </p:nvSpPr>
        <p:spPr>
          <a:xfrm>
            <a:off x="3864610" y="4037965"/>
            <a:ext cx="2190496" cy="144304"/>
          </a:xfrm>
          <a:prstGeom prst="rect">
            <a:avLst/>
          </a:prstGeom>
          <a:noFill/>
          <a:ln/>
        </p:spPr>
        <p:txBody>
          <a:bodyPr wrap="square" lIns="25400" tIns="25400" rIns="25400" bIns="25400" rtlCol="0" anchor="t">
            <a:normAutofit/>
          </a:bodyPr>
          <a:lstStyle/>
          <a:p>
            <a:pPr algn="l" indent="0" marL="0">
              <a:lnSpc>
                <a:spcPct val="98021"/>
              </a:lnSpc>
              <a:buNone/>
            </a:pPr>
            <a:r>
              <a:rPr lang="en-US" sz="747" b="1" spc="67" kern="0" dirty="0">
                <a:solidFill>
                  <a:srgbClr val="8F9EC4"/>
                </a:solidFill>
                <a:latin typeface="Arial" pitchFamily="34" charset="0"/>
                <a:ea typeface="Arial" pitchFamily="34" charset="-122"/>
                <a:cs typeface="Arial" pitchFamily="34" charset="-120"/>
              </a:rPr>
              <a:t>MAT 2</a:t>
            </a:r>
            <a:endParaRPr lang="en-US" sz="747" dirty="0"/>
          </a:p>
        </p:txBody>
      </p:sp>
      <p:sp>
        <p:nvSpPr>
          <p:cNvPr id="20" name="Text 18"/>
          <p:cNvSpPr/>
          <p:nvPr/>
        </p:nvSpPr>
        <p:spPr>
          <a:xfrm>
            <a:off x="3864610" y="4211955"/>
            <a:ext cx="2190496" cy="166053"/>
          </a:xfrm>
          <a:prstGeom prst="rect">
            <a:avLst/>
          </a:prstGeom>
          <a:noFill/>
          <a:ln/>
        </p:spPr>
        <p:txBody>
          <a:bodyPr wrap="square" lIns="25400" tIns="25400" rIns="25400" bIns="25400" rtlCol="0" anchor="t">
            <a:normAutofit/>
          </a:bodyPr>
          <a:lstStyle/>
          <a:p>
            <a:pPr algn="l" indent="0" marL="0">
              <a:lnSpc>
                <a:spcPct val="118125"/>
              </a:lnSpc>
              <a:buNone/>
            </a:pPr>
            <a:r>
              <a:rPr lang="en-US" sz="747" dirty="0">
                <a:solidFill>
                  <a:srgbClr val="8F9EC4"/>
                </a:solidFill>
                <a:latin typeface="Arial" pitchFamily="34" charset="0"/>
                <a:ea typeface="Arial" pitchFamily="34" charset="-122"/>
                <a:cs typeface="Arial" pitchFamily="34" charset="-120"/>
              </a:rPr>
              <a:t>−66 kg Senior Men · Fight 42</a:t>
            </a:r>
            <a:endParaRPr lang="en-US" sz="747" dirty="0"/>
          </a:p>
        </p:txBody>
      </p:sp>
      <p:sp>
        <p:nvSpPr>
          <p:cNvPr id="21" name="Text 19"/>
          <p:cNvSpPr/>
          <p:nvPr/>
        </p:nvSpPr>
        <p:spPr>
          <a:xfrm>
            <a:off x="3864610" y="4394200"/>
            <a:ext cx="2190496" cy="211773"/>
          </a:xfrm>
          <a:prstGeom prst="rect">
            <a:avLst/>
          </a:prstGeom>
          <a:noFill/>
          <a:ln/>
        </p:spPr>
        <p:txBody>
          <a:bodyPr wrap="square" lIns="25400" tIns="25400" rIns="25400" bIns="25400" rtlCol="0" anchor="t">
            <a:normAutofit/>
          </a:bodyPr>
          <a:lstStyle/>
          <a:p>
            <a:pPr algn="l" indent="0" marL="0">
              <a:lnSpc>
                <a:spcPct val="111522"/>
              </a:lnSpc>
              <a:buNone/>
            </a:pPr>
            <a:r>
              <a:rPr lang="en-US" sz="1013" b="1" dirty="0">
                <a:solidFill>
                  <a:srgbClr val="3B82F6"/>
                </a:solidFill>
                <a:latin typeface="Arial" pitchFamily="34" charset="0"/>
                <a:ea typeface="Arial" pitchFamily="34" charset="-122"/>
                <a:cs typeface="Arial" pitchFamily="34" charset="-120"/>
              </a:rPr>
              <a:t>Choi, J. </a:t>
            </a:r>
            <a:pPr algn="l" indent="0" marL="0">
              <a:lnSpc>
                <a:spcPct val="111522"/>
              </a:lnSpc>
              <a:buNone/>
            </a:pPr>
            <a:r>
              <a:rPr lang="en-US" sz="693" b="1" dirty="0">
                <a:solidFill>
                  <a:srgbClr val="8F9EC4"/>
                </a:solidFill>
                <a:latin typeface="Arial" pitchFamily="34" charset="0"/>
                <a:ea typeface="Arial" pitchFamily="34" charset="-122"/>
                <a:cs typeface="Arial" pitchFamily="34" charset="-120"/>
              </a:rPr>
              <a:t>KOR</a:t>
            </a:r>
            <a:endParaRPr lang="en-US" sz="1013" dirty="0"/>
          </a:p>
        </p:txBody>
      </p:sp>
      <p:sp>
        <p:nvSpPr>
          <p:cNvPr id="22" name="Text 20"/>
          <p:cNvSpPr/>
          <p:nvPr/>
        </p:nvSpPr>
        <p:spPr>
          <a:xfrm>
            <a:off x="3864610" y="4588193"/>
            <a:ext cx="2190496" cy="157004"/>
          </a:xfrm>
          <a:prstGeom prst="rect">
            <a:avLst/>
          </a:prstGeom>
          <a:noFill/>
          <a:ln/>
        </p:spPr>
        <p:txBody>
          <a:bodyPr wrap="square" lIns="25400" tIns="25400" rIns="25400" bIns="25400" rtlCol="0" anchor="t">
            <a:normAutofit/>
          </a:bodyPr>
          <a:lstStyle/>
          <a:p>
            <a:pPr algn="l" indent="0" marL="0">
              <a:lnSpc>
                <a:spcPct val="117000"/>
              </a:lnSpc>
              <a:buNone/>
            </a:pPr>
            <a:r>
              <a:rPr lang="en-US" sz="693" dirty="0">
                <a:solidFill>
                  <a:srgbClr val="8F9EC4"/>
                </a:solidFill>
                <a:latin typeface="Arial" pitchFamily="34" charset="0"/>
                <a:ea typeface="Arial" pitchFamily="34" charset="-122"/>
                <a:cs typeface="Arial" pitchFamily="34" charset="-120"/>
              </a:rPr>
              <a:t>versus</a:t>
            </a:r>
            <a:endParaRPr lang="en-US" sz="693" dirty="0"/>
          </a:p>
        </p:txBody>
      </p:sp>
      <p:sp>
        <p:nvSpPr>
          <p:cNvPr id="23" name="Text 21"/>
          <p:cNvSpPr/>
          <p:nvPr/>
        </p:nvSpPr>
        <p:spPr>
          <a:xfrm>
            <a:off x="3864610" y="4727416"/>
            <a:ext cx="2190496" cy="211773"/>
          </a:xfrm>
          <a:prstGeom prst="rect">
            <a:avLst/>
          </a:prstGeom>
          <a:noFill/>
          <a:ln/>
        </p:spPr>
        <p:txBody>
          <a:bodyPr wrap="square" lIns="25400" tIns="25400" rIns="25400" bIns="25400" rtlCol="0" anchor="t">
            <a:normAutofit/>
          </a:bodyPr>
          <a:lstStyle/>
          <a:p>
            <a:pPr algn="l" indent="0" marL="0">
              <a:lnSpc>
                <a:spcPct val="111522"/>
              </a:lnSpc>
              <a:buNone/>
            </a:pPr>
            <a:r>
              <a:rPr lang="en-US" sz="1013" b="1" dirty="0">
                <a:solidFill>
                  <a:srgbClr val="22C55E"/>
                </a:solidFill>
                <a:latin typeface="Arial" pitchFamily="34" charset="0"/>
                <a:ea typeface="Arial" pitchFamily="34" charset="-122"/>
                <a:cs typeface="Arial" pitchFamily="34" charset="-120"/>
              </a:rPr>
              <a:t>Kadyrov, A. </a:t>
            </a:r>
            <a:pPr algn="l" indent="0" marL="0">
              <a:lnSpc>
                <a:spcPct val="111522"/>
              </a:lnSpc>
              <a:buNone/>
            </a:pPr>
            <a:r>
              <a:rPr lang="en-US" sz="693" b="1" dirty="0">
                <a:solidFill>
                  <a:srgbClr val="8F9EC4"/>
                </a:solidFill>
                <a:latin typeface="Arial" pitchFamily="34" charset="0"/>
                <a:ea typeface="Arial" pitchFamily="34" charset="-122"/>
                <a:cs typeface="Arial" pitchFamily="34" charset="-120"/>
              </a:rPr>
              <a:t>KGZ</a:t>
            </a:r>
            <a:endParaRPr lang="en-US" sz="1013" dirty="0"/>
          </a:p>
        </p:txBody>
      </p:sp>
      <p:sp>
        <p:nvSpPr>
          <p:cNvPr id="24" name="Shape 22"/>
          <p:cNvSpPr/>
          <p:nvPr/>
        </p:nvSpPr>
        <p:spPr>
          <a:xfrm>
            <a:off x="6092984" y="3922871"/>
            <a:ext cx="2248694" cy="1093470"/>
          </a:xfrm>
          <a:prstGeom prst="roundRect">
            <a:avLst>
              <a:gd name="adj" fmla="val 6194"/>
            </a:avLst>
          </a:prstGeom>
          <a:solidFill>
            <a:srgbClr val="161D33"/>
          </a:solidFill>
          <a:ln w="6773">
            <a:solidFill>
              <a:srgbClr val="2A3350"/>
            </a:solidFill>
            <a:prstDash val="solid"/>
          </a:ln>
        </p:spPr>
      </p:sp>
      <p:sp>
        <p:nvSpPr>
          <p:cNvPr id="25" name="Text 23"/>
          <p:cNvSpPr/>
          <p:nvPr/>
        </p:nvSpPr>
        <p:spPr>
          <a:xfrm>
            <a:off x="6221730" y="4037965"/>
            <a:ext cx="2190496" cy="144304"/>
          </a:xfrm>
          <a:prstGeom prst="rect">
            <a:avLst/>
          </a:prstGeom>
          <a:noFill/>
          <a:ln/>
        </p:spPr>
        <p:txBody>
          <a:bodyPr wrap="square" lIns="25400" tIns="25400" rIns="25400" bIns="25400" rtlCol="0" anchor="t">
            <a:normAutofit/>
          </a:bodyPr>
          <a:lstStyle/>
          <a:p>
            <a:pPr algn="l" indent="0" marL="0">
              <a:lnSpc>
                <a:spcPct val="98021"/>
              </a:lnSpc>
              <a:buNone/>
            </a:pPr>
            <a:r>
              <a:rPr lang="en-US" sz="747" b="1" spc="67" kern="0" dirty="0">
                <a:solidFill>
                  <a:srgbClr val="8F9EC4"/>
                </a:solidFill>
                <a:latin typeface="Arial" pitchFamily="34" charset="0"/>
                <a:ea typeface="Arial" pitchFamily="34" charset="-122"/>
                <a:cs typeface="Arial" pitchFamily="34" charset="-120"/>
              </a:rPr>
              <a:t>MAT 3</a:t>
            </a:r>
            <a:endParaRPr lang="en-US" sz="747" dirty="0"/>
          </a:p>
        </p:txBody>
      </p:sp>
      <p:sp>
        <p:nvSpPr>
          <p:cNvPr id="26" name="Text 24"/>
          <p:cNvSpPr/>
          <p:nvPr/>
        </p:nvSpPr>
        <p:spPr>
          <a:xfrm>
            <a:off x="6221730" y="4211955"/>
            <a:ext cx="2190496" cy="166053"/>
          </a:xfrm>
          <a:prstGeom prst="rect">
            <a:avLst/>
          </a:prstGeom>
          <a:noFill/>
          <a:ln/>
        </p:spPr>
        <p:txBody>
          <a:bodyPr wrap="square" lIns="25400" tIns="25400" rIns="25400" bIns="25400" rtlCol="0" anchor="t">
            <a:normAutofit/>
          </a:bodyPr>
          <a:lstStyle/>
          <a:p>
            <a:pPr algn="l" indent="0" marL="0">
              <a:lnSpc>
                <a:spcPct val="118125"/>
              </a:lnSpc>
              <a:buNone/>
            </a:pPr>
            <a:r>
              <a:rPr lang="en-US" sz="747" dirty="0">
                <a:solidFill>
                  <a:srgbClr val="8F9EC4"/>
                </a:solidFill>
                <a:latin typeface="Arial" pitchFamily="34" charset="0"/>
                <a:ea typeface="Arial" pitchFamily="34" charset="-122"/>
                <a:cs typeface="Arial" pitchFamily="34" charset="-120"/>
              </a:rPr>
              <a:t>−52 kg Senior Women · Fight 43</a:t>
            </a:r>
            <a:endParaRPr lang="en-US" sz="747" dirty="0"/>
          </a:p>
        </p:txBody>
      </p:sp>
      <p:sp>
        <p:nvSpPr>
          <p:cNvPr id="27" name="Text 25"/>
          <p:cNvSpPr/>
          <p:nvPr/>
        </p:nvSpPr>
        <p:spPr>
          <a:xfrm>
            <a:off x="6221730" y="4394200"/>
            <a:ext cx="2190496" cy="211773"/>
          </a:xfrm>
          <a:prstGeom prst="rect">
            <a:avLst/>
          </a:prstGeom>
          <a:noFill/>
          <a:ln/>
        </p:spPr>
        <p:txBody>
          <a:bodyPr wrap="square" lIns="25400" tIns="25400" rIns="25400" bIns="25400" rtlCol="0" anchor="t">
            <a:normAutofit/>
          </a:bodyPr>
          <a:lstStyle/>
          <a:p>
            <a:pPr algn="l" indent="0" marL="0">
              <a:lnSpc>
                <a:spcPct val="111522"/>
              </a:lnSpc>
              <a:buNone/>
            </a:pPr>
            <a:r>
              <a:rPr lang="en-US" sz="1013" b="1" dirty="0">
                <a:solidFill>
                  <a:srgbClr val="3B82F6"/>
                </a:solidFill>
                <a:latin typeface="Arial" pitchFamily="34" charset="0"/>
                <a:ea typeface="Arial" pitchFamily="34" charset="-122"/>
                <a:cs typeface="Arial" pitchFamily="34" charset="-120"/>
              </a:rPr>
              <a:t>Karimova, N. </a:t>
            </a:r>
            <a:pPr algn="l" indent="0" marL="0">
              <a:lnSpc>
                <a:spcPct val="111522"/>
              </a:lnSpc>
              <a:buNone/>
            </a:pPr>
            <a:r>
              <a:rPr lang="en-US" sz="693" b="1" dirty="0">
                <a:solidFill>
                  <a:srgbClr val="8F9EC4"/>
                </a:solidFill>
                <a:latin typeface="Arial" pitchFamily="34" charset="0"/>
                <a:ea typeface="Arial" pitchFamily="34" charset="-122"/>
                <a:cs typeface="Arial" pitchFamily="34" charset="-120"/>
              </a:rPr>
              <a:t>UZB</a:t>
            </a:r>
            <a:endParaRPr lang="en-US" sz="1013" dirty="0"/>
          </a:p>
        </p:txBody>
      </p:sp>
      <p:sp>
        <p:nvSpPr>
          <p:cNvPr id="28" name="Text 26"/>
          <p:cNvSpPr/>
          <p:nvPr/>
        </p:nvSpPr>
        <p:spPr>
          <a:xfrm>
            <a:off x="6221730" y="4588193"/>
            <a:ext cx="2190496" cy="157004"/>
          </a:xfrm>
          <a:prstGeom prst="rect">
            <a:avLst/>
          </a:prstGeom>
          <a:noFill/>
          <a:ln/>
        </p:spPr>
        <p:txBody>
          <a:bodyPr wrap="square" lIns="25400" tIns="25400" rIns="25400" bIns="25400" rtlCol="0" anchor="t">
            <a:normAutofit/>
          </a:bodyPr>
          <a:lstStyle/>
          <a:p>
            <a:pPr algn="l" indent="0" marL="0">
              <a:lnSpc>
                <a:spcPct val="117000"/>
              </a:lnSpc>
              <a:buNone/>
            </a:pPr>
            <a:r>
              <a:rPr lang="en-US" sz="693" dirty="0">
                <a:solidFill>
                  <a:srgbClr val="8F9EC4"/>
                </a:solidFill>
                <a:latin typeface="Arial" pitchFamily="34" charset="0"/>
                <a:ea typeface="Arial" pitchFamily="34" charset="-122"/>
                <a:cs typeface="Arial" pitchFamily="34" charset="-120"/>
              </a:rPr>
              <a:t>versus</a:t>
            </a:r>
            <a:endParaRPr lang="en-US" sz="693" dirty="0"/>
          </a:p>
        </p:txBody>
      </p:sp>
      <p:sp>
        <p:nvSpPr>
          <p:cNvPr id="29" name="Text 27"/>
          <p:cNvSpPr/>
          <p:nvPr/>
        </p:nvSpPr>
        <p:spPr>
          <a:xfrm>
            <a:off x="6221730" y="4727416"/>
            <a:ext cx="2190496" cy="211773"/>
          </a:xfrm>
          <a:prstGeom prst="rect">
            <a:avLst/>
          </a:prstGeom>
          <a:noFill/>
          <a:ln/>
        </p:spPr>
        <p:txBody>
          <a:bodyPr wrap="square" lIns="25400" tIns="25400" rIns="25400" bIns="25400" rtlCol="0" anchor="t">
            <a:normAutofit/>
          </a:bodyPr>
          <a:lstStyle/>
          <a:p>
            <a:pPr algn="l" indent="0" marL="0">
              <a:lnSpc>
                <a:spcPct val="111522"/>
              </a:lnSpc>
              <a:buNone/>
            </a:pPr>
            <a:r>
              <a:rPr lang="en-US" sz="1013" b="1" dirty="0">
                <a:solidFill>
                  <a:srgbClr val="22C55E"/>
                </a:solidFill>
                <a:latin typeface="Arial" pitchFamily="34" charset="0"/>
                <a:ea typeface="Arial" pitchFamily="34" charset="-122"/>
                <a:cs typeface="Arial" pitchFamily="34" charset="-120"/>
              </a:rPr>
              <a:t>Toktogulova, A. </a:t>
            </a:r>
            <a:pPr algn="l" indent="0" marL="0">
              <a:lnSpc>
                <a:spcPct val="111522"/>
              </a:lnSpc>
              <a:buNone/>
            </a:pPr>
            <a:r>
              <a:rPr lang="en-US" sz="693" b="1" dirty="0">
                <a:solidFill>
                  <a:srgbClr val="8F9EC4"/>
                </a:solidFill>
                <a:latin typeface="Arial" pitchFamily="34" charset="0"/>
                <a:ea typeface="Arial" pitchFamily="34" charset="-122"/>
                <a:cs typeface="Arial" pitchFamily="34" charset="-120"/>
              </a:rPr>
              <a:t>KGZ</a:t>
            </a:r>
            <a:endParaRPr lang="en-US" sz="1013" dirty="0"/>
          </a:p>
        </p:txBody>
      </p:sp>
      <p:sp>
        <p:nvSpPr>
          <p:cNvPr id="30" name="Shape 28"/>
          <p:cNvSpPr/>
          <p:nvPr/>
        </p:nvSpPr>
        <p:spPr>
          <a:xfrm>
            <a:off x="8450104" y="3922871"/>
            <a:ext cx="2248694" cy="1093470"/>
          </a:xfrm>
          <a:prstGeom prst="roundRect">
            <a:avLst>
              <a:gd name="adj" fmla="val 6194"/>
            </a:avLst>
          </a:prstGeom>
          <a:solidFill>
            <a:srgbClr val="161D33"/>
          </a:solidFill>
          <a:ln w="6773">
            <a:solidFill>
              <a:srgbClr val="2A3350"/>
            </a:solidFill>
            <a:prstDash val="solid"/>
          </a:ln>
        </p:spPr>
      </p:sp>
      <p:sp>
        <p:nvSpPr>
          <p:cNvPr id="31" name="Text 29"/>
          <p:cNvSpPr/>
          <p:nvPr/>
        </p:nvSpPr>
        <p:spPr>
          <a:xfrm>
            <a:off x="8578850" y="4037965"/>
            <a:ext cx="2190496" cy="144304"/>
          </a:xfrm>
          <a:prstGeom prst="rect">
            <a:avLst/>
          </a:prstGeom>
          <a:noFill/>
          <a:ln/>
        </p:spPr>
        <p:txBody>
          <a:bodyPr wrap="square" lIns="25400" tIns="25400" rIns="25400" bIns="25400" rtlCol="0" anchor="t">
            <a:normAutofit/>
          </a:bodyPr>
          <a:lstStyle/>
          <a:p>
            <a:pPr algn="l" indent="0" marL="0">
              <a:lnSpc>
                <a:spcPct val="98021"/>
              </a:lnSpc>
              <a:buNone/>
            </a:pPr>
            <a:r>
              <a:rPr lang="en-US" sz="747" b="1" spc="67" kern="0" dirty="0">
                <a:solidFill>
                  <a:srgbClr val="8F9EC4"/>
                </a:solidFill>
                <a:latin typeface="Arial" pitchFamily="34" charset="0"/>
                <a:ea typeface="Arial" pitchFamily="34" charset="-122"/>
                <a:cs typeface="Arial" pitchFamily="34" charset="-120"/>
              </a:rPr>
              <a:t>MAT 4</a:t>
            </a:r>
            <a:endParaRPr lang="en-US" sz="747" dirty="0"/>
          </a:p>
        </p:txBody>
      </p:sp>
      <p:sp>
        <p:nvSpPr>
          <p:cNvPr id="32" name="Text 30"/>
          <p:cNvSpPr/>
          <p:nvPr/>
        </p:nvSpPr>
        <p:spPr>
          <a:xfrm>
            <a:off x="8578850" y="4211955"/>
            <a:ext cx="2190496" cy="220980"/>
          </a:xfrm>
          <a:prstGeom prst="rect">
            <a:avLst/>
          </a:prstGeom>
          <a:noFill/>
          <a:ln/>
        </p:spPr>
        <p:txBody>
          <a:bodyPr wrap="square" lIns="25400" tIns="25400" rIns="25400" bIns="25400" rtlCol="0" anchor="t">
            <a:normAutofit/>
          </a:bodyPr>
          <a:lstStyle/>
          <a:p>
            <a:pPr algn="l" indent="0" marL="0">
              <a:lnSpc>
                <a:spcPct val="112500"/>
              </a:lnSpc>
              <a:buNone/>
            </a:pPr>
            <a:r>
              <a:rPr lang="en-US" sz="1067" dirty="0">
                <a:solidFill>
                  <a:srgbClr val="8F9EC4"/>
                </a:solidFill>
                <a:latin typeface="Arial" pitchFamily="34" charset="0"/>
                <a:ea typeface="Arial" pitchFamily="34" charset="-122"/>
                <a:cs typeface="Arial" pitchFamily="34" charset="-120"/>
              </a:rPr>
              <a:t>Free</a:t>
            </a:r>
            <a:endParaRPr lang="en-US" sz="1067" dirty="0"/>
          </a:p>
        </p:txBody>
      </p:sp>
      <p:sp>
        <p:nvSpPr>
          <p:cNvPr id="33" name="Shape 31"/>
          <p:cNvSpPr/>
          <p:nvPr/>
        </p:nvSpPr>
        <p:spPr>
          <a:xfrm>
            <a:off x="1378744" y="5124609"/>
            <a:ext cx="9320054" cy="2052161"/>
          </a:xfrm>
          <a:prstGeom prst="roundRect">
            <a:avLst>
              <a:gd name="adj" fmla="val 3301"/>
            </a:avLst>
          </a:prstGeom>
          <a:solidFill>
            <a:srgbClr val="161D33"/>
          </a:solidFill>
          <a:ln w="6773">
            <a:solidFill>
              <a:srgbClr val="2A3350"/>
            </a:solidFill>
            <a:prstDash val="solid"/>
          </a:ln>
        </p:spPr>
      </p:sp>
      <p:sp>
        <p:nvSpPr>
          <p:cNvPr id="34" name="Text 32"/>
          <p:cNvSpPr/>
          <p:nvPr/>
        </p:nvSpPr>
        <p:spPr>
          <a:xfrm>
            <a:off x="1507490" y="5239862"/>
            <a:ext cx="9968992" cy="144304"/>
          </a:xfrm>
          <a:prstGeom prst="rect">
            <a:avLst/>
          </a:prstGeom>
          <a:noFill/>
          <a:ln/>
        </p:spPr>
        <p:txBody>
          <a:bodyPr wrap="square" lIns="25400" tIns="25400" rIns="25400" bIns="25400" rtlCol="0" anchor="t">
            <a:normAutofit/>
          </a:bodyPr>
          <a:lstStyle/>
          <a:p>
            <a:pPr algn="l" indent="0" marL="0">
              <a:lnSpc>
                <a:spcPct val="98021"/>
              </a:lnSpc>
              <a:buNone/>
            </a:pPr>
            <a:r>
              <a:rPr lang="en-US" sz="747" b="1" spc="67" kern="0" dirty="0">
                <a:solidFill>
                  <a:srgbClr val="8F9EC4"/>
                </a:solidFill>
                <a:latin typeface="Arial" pitchFamily="34" charset="0"/>
                <a:ea typeface="Arial" pitchFamily="34" charset="-122"/>
                <a:cs typeface="Arial" pitchFamily="34" charset="-120"/>
              </a:rPr>
              <a:t>COMING UP</a:t>
            </a:r>
            <a:endParaRPr lang="en-US" sz="747" dirty="0"/>
          </a:p>
        </p:txBody>
      </p:sp>
      <p:sp>
        <p:nvSpPr>
          <p:cNvPr id="35" name="Shape 33"/>
          <p:cNvSpPr/>
          <p:nvPr/>
        </p:nvSpPr>
        <p:spPr>
          <a:xfrm>
            <a:off x="1507490" y="5620808"/>
            <a:ext cx="1008221" cy="13547"/>
          </a:xfrm>
          <a:prstGeom prst="rect">
            <a:avLst/>
          </a:prstGeom>
          <a:solidFill>
            <a:srgbClr val="2A3350"/>
          </a:solidFill>
          <a:ln/>
        </p:spPr>
      </p:sp>
      <p:sp>
        <p:nvSpPr>
          <p:cNvPr id="36" name="Text 34"/>
          <p:cNvSpPr/>
          <p:nvPr/>
        </p:nvSpPr>
        <p:spPr>
          <a:xfrm>
            <a:off x="1575223" y="5461264"/>
            <a:ext cx="948955"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FIGHT</a:t>
            </a:r>
            <a:endParaRPr lang="en-US" sz="693" dirty="0"/>
          </a:p>
        </p:txBody>
      </p:sp>
      <p:sp>
        <p:nvSpPr>
          <p:cNvPr id="37" name="Shape 35"/>
          <p:cNvSpPr/>
          <p:nvPr/>
        </p:nvSpPr>
        <p:spPr>
          <a:xfrm>
            <a:off x="2515711" y="5620808"/>
            <a:ext cx="3306445" cy="13547"/>
          </a:xfrm>
          <a:prstGeom prst="rect">
            <a:avLst/>
          </a:prstGeom>
          <a:solidFill>
            <a:srgbClr val="2A3350"/>
          </a:solidFill>
          <a:ln/>
        </p:spPr>
      </p:sp>
      <p:sp>
        <p:nvSpPr>
          <p:cNvPr id="38" name="Text 36"/>
          <p:cNvSpPr/>
          <p:nvPr/>
        </p:nvSpPr>
        <p:spPr>
          <a:xfrm>
            <a:off x="2583445" y="5461264"/>
            <a:ext cx="3270172"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CATEGORY</a:t>
            </a:r>
            <a:endParaRPr lang="en-US" sz="693" dirty="0"/>
          </a:p>
        </p:txBody>
      </p:sp>
      <p:sp>
        <p:nvSpPr>
          <p:cNvPr id="39" name="Shape 37"/>
          <p:cNvSpPr/>
          <p:nvPr/>
        </p:nvSpPr>
        <p:spPr>
          <a:xfrm>
            <a:off x="5822156" y="5620808"/>
            <a:ext cx="2456180" cy="13547"/>
          </a:xfrm>
          <a:prstGeom prst="rect">
            <a:avLst/>
          </a:prstGeom>
          <a:solidFill>
            <a:srgbClr val="2A3350"/>
          </a:solidFill>
          <a:ln/>
        </p:spPr>
      </p:sp>
      <p:sp>
        <p:nvSpPr>
          <p:cNvPr id="40" name="Text 38"/>
          <p:cNvSpPr/>
          <p:nvPr/>
        </p:nvSpPr>
        <p:spPr>
          <a:xfrm>
            <a:off x="5889890" y="5461264"/>
            <a:ext cx="2396913"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BLUE</a:t>
            </a:r>
            <a:endParaRPr lang="en-US" sz="693" dirty="0"/>
          </a:p>
        </p:txBody>
      </p:sp>
      <p:sp>
        <p:nvSpPr>
          <p:cNvPr id="41" name="Shape 39"/>
          <p:cNvSpPr/>
          <p:nvPr/>
        </p:nvSpPr>
        <p:spPr>
          <a:xfrm>
            <a:off x="8278337" y="5620808"/>
            <a:ext cx="2291874" cy="13547"/>
          </a:xfrm>
          <a:prstGeom prst="rect">
            <a:avLst/>
          </a:prstGeom>
          <a:solidFill>
            <a:srgbClr val="2A3350"/>
          </a:solidFill>
          <a:ln/>
        </p:spPr>
      </p:sp>
      <p:sp>
        <p:nvSpPr>
          <p:cNvPr id="42" name="Text 40"/>
          <p:cNvSpPr/>
          <p:nvPr/>
        </p:nvSpPr>
        <p:spPr>
          <a:xfrm>
            <a:off x="8346070" y="5461264"/>
            <a:ext cx="2232607"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GREEN</a:t>
            </a:r>
            <a:endParaRPr lang="en-US" sz="693" dirty="0"/>
          </a:p>
        </p:txBody>
      </p:sp>
      <p:sp>
        <p:nvSpPr>
          <p:cNvPr id="43" name="Shape 41"/>
          <p:cNvSpPr/>
          <p:nvPr/>
        </p:nvSpPr>
        <p:spPr>
          <a:xfrm>
            <a:off x="1507490" y="5914919"/>
            <a:ext cx="1008221" cy="9525"/>
          </a:xfrm>
          <a:prstGeom prst="rect">
            <a:avLst/>
          </a:prstGeom>
          <a:solidFill>
            <a:srgbClr val="2A3350"/>
          </a:solidFill>
          <a:ln/>
        </p:spPr>
      </p:sp>
      <p:sp>
        <p:nvSpPr>
          <p:cNvPr id="44" name="Text 42"/>
          <p:cNvSpPr/>
          <p:nvPr/>
        </p:nvSpPr>
        <p:spPr>
          <a:xfrm>
            <a:off x="1575223" y="5695156"/>
            <a:ext cx="948955"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44</a:t>
            </a:r>
            <a:endParaRPr lang="en-US" sz="907" dirty="0"/>
          </a:p>
        </p:txBody>
      </p:sp>
      <p:sp>
        <p:nvSpPr>
          <p:cNvPr id="45" name="Shape 43"/>
          <p:cNvSpPr/>
          <p:nvPr/>
        </p:nvSpPr>
        <p:spPr>
          <a:xfrm>
            <a:off x="2515711" y="5914919"/>
            <a:ext cx="3306445" cy="9525"/>
          </a:xfrm>
          <a:prstGeom prst="rect">
            <a:avLst/>
          </a:prstGeom>
          <a:solidFill>
            <a:srgbClr val="2A3350"/>
          </a:solidFill>
          <a:ln/>
        </p:spPr>
      </p:sp>
      <p:sp>
        <p:nvSpPr>
          <p:cNvPr id="46" name="Text 44"/>
          <p:cNvSpPr/>
          <p:nvPr/>
        </p:nvSpPr>
        <p:spPr>
          <a:xfrm>
            <a:off x="2583445" y="5695156"/>
            <a:ext cx="3270172"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spc="36" kern="0" dirty="0">
                <a:solidFill>
                  <a:srgbClr val="8F9EC4"/>
                </a:solidFill>
                <a:latin typeface="Arial" pitchFamily="34" charset="0"/>
                <a:ea typeface="Arial" pitchFamily="34" charset="-122"/>
                <a:cs typeface="Arial" pitchFamily="34" charset="-120"/>
              </a:rPr>
              <a:t>−73 kg Senior Men</a:t>
            </a:r>
            <a:endParaRPr lang="en-US" sz="907" dirty="0"/>
          </a:p>
        </p:txBody>
      </p:sp>
      <p:sp>
        <p:nvSpPr>
          <p:cNvPr id="47" name="Shape 45"/>
          <p:cNvSpPr/>
          <p:nvPr/>
        </p:nvSpPr>
        <p:spPr>
          <a:xfrm>
            <a:off x="5822156" y="5914919"/>
            <a:ext cx="2456180" cy="9525"/>
          </a:xfrm>
          <a:prstGeom prst="rect">
            <a:avLst/>
          </a:prstGeom>
          <a:solidFill>
            <a:srgbClr val="2A3350"/>
          </a:solidFill>
          <a:ln/>
        </p:spPr>
      </p:sp>
      <p:sp>
        <p:nvSpPr>
          <p:cNvPr id="48" name="Text 46"/>
          <p:cNvSpPr/>
          <p:nvPr/>
        </p:nvSpPr>
        <p:spPr>
          <a:xfrm>
            <a:off x="5889890" y="5695156"/>
            <a:ext cx="2396913"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3B82F6"/>
                </a:solidFill>
                <a:latin typeface="Arial" pitchFamily="34" charset="0"/>
                <a:ea typeface="Arial" pitchFamily="34" charset="-122"/>
                <a:cs typeface="Arial" pitchFamily="34" charset="-120"/>
              </a:rPr>
              <a:t>Nazarov, B.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TKM</a:t>
            </a:r>
            <a:endParaRPr lang="en-US" sz="907" dirty="0"/>
          </a:p>
        </p:txBody>
      </p:sp>
      <p:sp>
        <p:nvSpPr>
          <p:cNvPr id="49" name="Shape 47"/>
          <p:cNvSpPr/>
          <p:nvPr/>
        </p:nvSpPr>
        <p:spPr>
          <a:xfrm>
            <a:off x="8278337" y="5914919"/>
            <a:ext cx="2291874" cy="9525"/>
          </a:xfrm>
          <a:prstGeom prst="rect">
            <a:avLst/>
          </a:prstGeom>
          <a:solidFill>
            <a:srgbClr val="2A3350"/>
          </a:solidFill>
          <a:ln/>
        </p:spPr>
      </p:sp>
      <p:sp>
        <p:nvSpPr>
          <p:cNvPr id="50" name="Text 48"/>
          <p:cNvSpPr/>
          <p:nvPr/>
        </p:nvSpPr>
        <p:spPr>
          <a:xfrm>
            <a:off x="8346070" y="5695156"/>
            <a:ext cx="2232607"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22C55E"/>
                </a:solidFill>
                <a:latin typeface="Arial" pitchFamily="34" charset="0"/>
                <a:ea typeface="Arial" pitchFamily="34" charset="-122"/>
                <a:cs typeface="Arial" pitchFamily="34" charset="-120"/>
              </a:rPr>
              <a:t>Hassan, M.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IRI</a:t>
            </a:r>
            <a:endParaRPr lang="en-US" sz="907" dirty="0"/>
          </a:p>
        </p:txBody>
      </p:sp>
      <p:sp>
        <p:nvSpPr>
          <p:cNvPr id="51" name="Shape 49"/>
          <p:cNvSpPr/>
          <p:nvPr/>
        </p:nvSpPr>
        <p:spPr>
          <a:xfrm>
            <a:off x="1507490" y="5921851"/>
            <a:ext cx="9062720" cy="284163"/>
          </a:xfrm>
          <a:prstGeom prst="rect">
            <a:avLst/>
          </a:prstGeom>
          <a:solidFill>
            <a:srgbClr val="FFFFFF">
              <a:alpha val="2000"/>
            </a:srgbClr>
          </a:solidFill>
          <a:ln/>
        </p:spPr>
      </p:sp>
      <p:sp>
        <p:nvSpPr>
          <p:cNvPr id="52" name="Shape 50"/>
          <p:cNvSpPr/>
          <p:nvPr/>
        </p:nvSpPr>
        <p:spPr>
          <a:xfrm>
            <a:off x="1507490" y="6199241"/>
            <a:ext cx="1008221" cy="9525"/>
          </a:xfrm>
          <a:prstGeom prst="rect">
            <a:avLst/>
          </a:prstGeom>
          <a:solidFill>
            <a:srgbClr val="2A3350"/>
          </a:solidFill>
          <a:ln/>
        </p:spPr>
      </p:sp>
      <p:sp>
        <p:nvSpPr>
          <p:cNvPr id="53" name="Text 51"/>
          <p:cNvSpPr/>
          <p:nvPr/>
        </p:nvSpPr>
        <p:spPr>
          <a:xfrm>
            <a:off x="1575223" y="5982811"/>
            <a:ext cx="94895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45</a:t>
            </a:r>
            <a:endParaRPr lang="en-US" sz="907" dirty="0"/>
          </a:p>
        </p:txBody>
      </p:sp>
      <p:sp>
        <p:nvSpPr>
          <p:cNvPr id="54" name="Shape 52"/>
          <p:cNvSpPr/>
          <p:nvPr/>
        </p:nvSpPr>
        <p:spPr>
          <a:xfrm>
            <a:off x="2515711" y="6199241"/>
            <a:ext cx="3306445" cy="9525"/>
          </a:xfrm>
          <a:prstGeom prst="rect">
            <a:avLst/>
          </a:prstGeom>
          <a:solidFill>
            <a:srgbClr val="2A3350"/>
          </a:solidFill>
          <a:ln/>
        </p:spPr>
      </p:sp>
      <p:sp>
        <p:nvSpPr>
          <p:cNvPr id="55" name="Text 53"/>
          <p:cNvSpPr/>
          <p:nvPr/>
        </p:nvSpPr>
        <p:spPr>
          <a:xfrm>
            <a:off x="2583445" y="5982811"/>
            <a:ext cx="327017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spc="36" kern="0" dirty="0">
                <a:solidFill>
                  <a:srgbClr val="8F9EC4"/>
                </a:solidFill>
                <a:latin typeface="Arial" pitchFamily="34" charset="0"/>
                <a:ea typeface="Arial" pitchFamily="34" charset="-122"/>
                <a:cs typeface="Arial" pitchFamily="34" charset="-120"/>
              </a:rPr>
              <a:t>−60 kg Senior Men</a:t>
            </a:r>
            <a:endParaRPr lang="en-US" sz="907" dirty="0"/>
          </a:p>
        </p:txBody>
      </p:sp>
      <p:sp>
        <p:nvSpPr>
          <p:cNvPr id="56" name="Shape 54"/>
          <p:cNvSpPr/>
          <p:nvPr/>
        </p:nvSpPr>
        <p:spPr>
          <a:xfrm>
            <a:off x="5822156" y="6199241"/>
            <a:ext cx="2456180" cy="9525"/>
          </a:xfrm>
          <a:prstGeom prst="rect">
            <a:avLst/>
          </a:prstGeom>
          <a:solidFill>
            <a:srgbClr val="2A3350"/>
          </a:solidFill>
          <a:ln/>
        </p:spPr>
      </p:sp>
      <p:sp>
        <p:nvSpPr>
          <p:cNvPr id="57" name="Text 55"/>
          <p:cNvSpPr/>
          <p:nvPr/>
        </p:nvSpPr>
        <p:spPr>
          <a:xfrm>
            <a:off x="5889890" y="5982811"/>
            <a:ext cx="239691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3B82F6"/>
                </a:solidFill>
                <a:latin typeface="Arial" pitchFamily="34" charset="0"/>
                <a:ea typeface="Arial" pitchFamily="34" charset="-122"/>
                <a:cs typeface="Arial" pitchFamily="34" charset="-120"/>
              </a:rPr>
              <a:t>Yusupov, R.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UZB</a:t>
            </a:r>
            <a:endParaRPr lang="en-US" sz="907" dirty="0"/>
          </a:p>
        </p:txBody>
      </p:sp>
      <p:sp>
        <p:nvSpPr>
          <p:cNvPr id="58" name="Shape 56"/>
          <p:cNvSpPr/>
          <p:nvPr/>
        </p:nvSpPr>
        <p:spPr>
          <a:xfrm>
            <a:off x="8278337" y="6199241"/>
            <a:ext cx="2291874" cy="9525"/>
          </a:xfrm>
          <a:prstGeom prst="rect">
            <a:avLst/>
          </a:prstGeom>
          <a:solidFill>
            <a:srgbClr val="2A3350"/>
          </a:solidFill>
          <a:ln/>
        </p:spPr>
      </p:sp>
      <p:sp>
        <p:nvSpPr>
          <p:cNvPr id="59" name="Text 57"/>
          <p:cNvSpPr/>
          <p:nvPr/>
        </p:nvSpPr>
        <p:spPr>
          <a:xfrm>
            <a:off x="8346070" y="5982811"/>
            <a:ext cx="223260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22C55E"/>
                </a:solidFill>
                <a:latin typeface="Arial" pitchFamily="34" charset="0"/>
                <a:ea typeface="Arial" pitchFamily="34" charset="-122"/>
                <a:cs typeface="Arial" pitchFamily="34" charset="-120"/>
              </a:rPr>
              <a:t>Rahimov, S.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TJK</a:t>
            </a:r>
            <a:endParaRPr lang="en-US" sz="907" dirty="0"/>
          </a:p>
        </p:txBody>
      </p:sp>
      <p:sp>
        <p:nvSpPr>
          <p:cNvPr id="60" name="Shape 58"/>
          <p:cNvSpPr/>
          <p:nvPr/>
        </p:nvSpPr>
        <p:spPr>
          <a:xfrm>
            <a:off x="1507490" y="6483244"/>
            <a:ext cx="1008221" cy="9525"/>
          </a:xfrm>
          <a:prstGeom prst="rect">
            <a:avLst/>
          </a:prstGeom>
          <a:solidFill>
            <a:srgbClr val="2A3350"/>
          </a:solidFill>
          <a:ln/>
        </p:spPr>
      </p:sp>
      <p:sp>
        <p:nvSpPr>
          <p:cNvPr id="61" name="Text 59"/>
          <p:cNvSpPr/>
          <p:nvPr/>
        </p:nvSpPr>
        <p:spPr>
          <a:xfrm>
            <a:off x="1575223" y="6266815"/>
            <a:ext cx="94895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46</a:t>
            </a:r>
            <a:endParaRPr lang="en-US" sz="907" dirty="0"/>
          </a:p>
        </p:txBody>
      </p:sp>
      <p:sp>
        <p:nvSpPr>
          <p:cNvPr id="62" name="Shape 60"/>
          <p:cNvSpPr/>
          <p:nvPr/>
        </p:nvSpPr>
        <p:spPr>
          <a:xfrm>
            <a:off x="2515711" y="6483244"/>
            <a:ext cx="3306445" cy="9525"/>
          </a:xfrm>
          <a:prstGeom prst="rect">
            <a:avLst/>
          </a:prstGeom>
          <a:solidFill>
            <a:srgbClr val="2A3350"/>
          </a:solidFill>
          <a:ln/>
        </p:spPr>
      </p:sp>
      <p:sp>
        <p:nvSpPr>
          <p:cNvPr id="63" name="Text 61"/>
          <p:cNvSpPr/>
          <p:nvPr/>
        </p:nvSpPr>
        <p:spPr>
          <a:xfrm>
            <a:off x="2583445" y="6266815"/>
            <a:ext cx="327017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spc="36" kern="0" dirty="0">
                <a:solidFill>
                  <a:srgbClr val="8F9EC4"/>
                </a:solidFill>
                <a:latin typeface="Arial" pitchFamily="34" charset="0"/>
                <a:ea typeface="Arial" pitchFamily="34" charset="-122"/>
                <a:cs typeface="Arial" pitchFamily="34" charset="-120"/>
              </a:rPr>
              <a:t>−57 kg Senior Women</a:t>
            </a:r>
            <a:endParaRPr lang="en-US" sz="907" dirty="0"/>
          </a:p>
        </p:txBody>
      </p:sp>
      <p:sp>
        <p:nvSpPr>
          <p:cNvPr id="64" name="Shape 62"/>
          <p:cNvSpPr/>
          <p:nvPr/>
        </p:nvSpPr>
        <p:spPr>
          <a:xfrm>
            <a:off x="5822156" y="6483244"/>
            <a:ext cx="2456180" cy="9525"/>
          </a:xfrm>
          <a:prstGeom prst="rect">
            <a:avLst/>
          </a:prstGeom>
          <a:solidFill>
            <a:srgbClr val="2A3350"/>
          </a:solidFill>
          <a:ln/>
        </p:spPr>
      </p:sp>
      <p:sp>
        <p:nvSpPr>
          <p:cNvPr id="65" name="Text 63"/>
          <p:cNvSpPr/>
          <p:nvPr/>
        </p:nvSpPr>
        <p:spPr>
          <a:xfrm>
            <a:off x="5889890" y="6266815"/>
            <a:ext cx="239691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3B82F6"/>
                </a:solidFill>
                <a:latin typeface="Arial" pitchFamily="34" charset="0"/>
                <a:ea typeface="Arial" pitchFamily="34" charset="-122"/>
                <a:cs typeface="Arial" pitchFamily="34" charset="-120"/>
              </a:rPr>
              <a:t>Erkinova, D.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UZB</a:t>
            </a:r>
            <a:endParaRPr lang="en-US" sz="907" dirty="0"/>
          </a:p>
        </p:txBody>
      </p:sp>
      <p:sp>
        <p:nvSpPr>
          <p:cNvPr id="66" name="Shape 64"/>
          <p:cNvSpPr/>
          <p:nvPr/>
        </p:nvSpPr>
        <p:spPr>
          <a:xfrm>
            <a:off x="8278337" y="6483244"/>
            <a:ext cx="2291874" cy="9525"/>
          </a:xfrm>
          <a:prstGeom prst="rect">
            <a:avLst/>
          </a:prstGeom>
          <a:solidFill>
            <a:srgbClr val="2A3350"/>
          </a:solidFill>
          <a:ln/>
        </p:spPr>
      </p:sp>
      <p:sp>
        <p:nvSpPr>
          <p:cNvPr id="67" name="Text 65"/>
          <p:cNvSpPr/>
          <p:nvPr/>
        </p:nvSpPr>
        <p:spPr>
          <a:xfrm>
            <a:off x="8346070" y="6266815"/>
            <a:ext cx="223260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22C55E"/>
                </a:solidFill>
                <a:latin typeface="Arial" pitchFamily="34" charset="0"/>
                <a:ea typeface="Arial" pitchFamily="34" charset="-122"/>
                <a:cs typeface="Arial" pitchFamily="34" charset="-120"/>
              </a:rPr>
              <a:t>Bekova, S.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KAZ</a:t>
            </a:r>
            <a:endParaRPr lang="en-US" sz="907" dirty="0"/>
          </a:p>
        </p:txBody>
      </p:sp>
      <p:sp>
        <p:nvSpPr>
          <p:cNvPr id="68" name="Shape 66"/>
          <p:cNvSpPr/>
          <p:nvPr/>
        </p:nvSpPr>
        <p:spPr>
          <a:xfrm>
            <a:off x="1507490" y="6490018"/>
            <a:ext cx="9062720" cy="284162"/>
          </a:xfrm>
          <a:prstGeom prst="rect">
            <a:avLst/>
          </a:prstGeom>
          <a:solidFill>
            <a:srgbClr val="FFFFFF">
              <a:alpha val="2000"/>
            </a:srgbClr>
          </a:solidFill>
          <a:ln/>
        </p:spPr>
      </p:sp>
      <p:sp>
        <p:nvSpPr>
          <p:cNvPr id="69" name="Shape 67"/>
          <p:cNvSpPr/>
          <p:nvPr/>
        </p:nvSpPr>
        <p:spPr>
          <a:xfrm>
            <a:off x="1507490" y="6767407"/>
            <a:ext cx="1008221" cy="9525"/>
          </a:xfrm>
          <a:prstGeom prst="rect">
            <a:avLst/>
          </a:prstGeom>
          <a:solidFill>
            <a:srgbClr val="2A3350"/>
          </a:solidFill>
          <a:ln/>
        </p:spPr>
      </p:sp>
      <p:sp>
        <p:nvSpPr>
          <p:cNvPr id="70" name="Text 68"/>
          <p:cNvSpPr/>
          <p:nvPr/>
        </p:nvSpPr>
        <p:spPr>
          <a:xfrm>
            <a:off x="1575223" y="6550978"/>
            <a:ext cx="94895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47</a:t>
            </a:r>
            <a:endParaRPr lang="en-US" sz="907" dirty="0"/>
          </a:p>
        </p:txBody>
      </p:sp>
      <p:sp>
        <p:nvSpPr>
          <p:cNvPr id="71" name="Shape 69"/>
          <p:cNvSpPr/>
          <p:nvPr/>
        </p:nvSpPr>
        <p:spPr>
          <a:xfrm>
            <a:off x="2515711" y="6767407"/>
            <a:ext cx="3306445" cy="9525"/>
          </a:xfrm>
          <a:prstGeom prst="rect">
            <a:avLst/>
          </a:prstGeom>
          <a:solidFill>
            <a:srgbClr val="2A3350"/>
          </a:solidFill>
          <a:ln/>
        </p:spPr>
      </p:sp>
      <p:sp>
        <p:nvSpPr>
          <p:cNvPr id="72" name="Text 70"/>
          <p:cNvSpPr/>
          <p:nvPr/>
        </p:nvSpPr>
        <p:spPr>
          <a:xfrm>
            <a:off x="2583445" y="6550978"/>
            <a:ext cx="327017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spc="36" kern="0" dirty="0">
                <a:solidFill>
                  <a:srgbClr val="8F9EC4"/>
                </a:solidFill>
                <a:latin typeface="Arial" pitchFamily="34" charset="0"/>
                <a:ea typeface="Arial" pitchFamily="34" charset="-122"/>
                <a:cs typeface="Arial" pitchFamily="34" charset="-120"/>
              </a:rPr>
              <a:t>−66 kg Senior Men</a:t>
            </a:r>
            <a:endParaRPr lang="en-US" sz="907" dirty="0"/>
          </a:p>
        </p:txBody>
      </p:sp>
      <p:sp>
        <p:nvSpPr>
          <p:cNvPr id="73" name="Shape 71"/>
          <p:cNvSpPr/>
          <p:nvPr/>
        </p:nvSpPr>
        <p:spPr>
          <a:xfrm>
            <a:off x="5822156" y="6767407"/>
            <a:ext cx="2456180" cy="9525"/>
          </a:xfrm>
          <a:prstGeom prst="rect">
            <a:avLst/>
          </a:prstGeom>
          <a:solidFill>
            <a:srgbClr val="2A3350"/>
          </a:solidFill>
          <a:ln/>
        </p:spPr>
      </p:sp>
      <p:sp>
        <p:nvSpPr>
          <p:cNvPr id="74" name="Text 72"/>
          <p:cNvSpPr/>
          <p:nvPr/>
        </p:nvSpPr>
        <p:spPr>
          <a:xfrm>
            <a:off x="5889890" y="6550978"/>
            <a:ext cx="239691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3B82F6"/>
                </a:solidFill>
                <a:latin typeface="Arial" pitchFamily="34" charset="0"/>
                <a:ea typeface="Arial" pitchFamily="34" charset="-122"/>
                <a:cs typeface="Arial" pitchFamily="34" charset="-120"/>
              </a:rPr>
              <a:t>Kadyrov, A.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KGZ</a:t>
            </a:r>
            <a:endParaRPr lang="en-US" sz="907" dirty="0"/>
          </a:p>
        </p:txBody>
      </p:sp>
      <p:sp>
        <p:nvSpPr>
          <p:cNvPr id="75" name="Shape 73"/>
          <p:cNvSpPr/>
          <p:nvPr/>
        </p:nvSpPr>
        <p:spPr>
          <a:xfrm>
            <a:off x="8278337" y="6767407"/>
            <a:ext cx="2291874" cy="9525"/>
          </a:xfrm>
          <a:prstGeom prst="rect">
            <a:avLst/>
          </a:prstGeom>
          <a:solidFill>
            <a:srgbClr val="2A3350"/>
          </a:solidFill>
          <a:ln/>
        </p:spPr>
      </p:sp>
      <p:sp>
        <p:nvSpPr>
          <p:cNvPr id="76" name="Text 74"/>
          <p:cNvSpPr/>
          <p:nvPr/>
        </p:nvSpPr>
        <p:spPr>
          <a:xfrm>
            <a:off x="8346070" y="6550978"/>
            <a:ext cx="223260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22C55E"/>
                </a:solidFill>
                <a:latin typeface="Arial" pitchFamily="34" charset="0"/>
                <a:ea typeface="Arial" pitchFamily="34" charset="-122"/>
                <a:cs typeface="Arial" pitchFamily="34" charset="-120"/>
              </a:rPr>
              <a:t>Rahimov, S.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TJK</a:t>
            </a:r>
            <a:endParaRPr lang="en-US" sz="907" dirty="0"/>
          </a:p>
        </p:txBody>
      </p:sp>
      <p:sp>
        <p:nvSpPr>
          <p:cNvPr id="77" name="Shape 75"/>
          <p:cNvSpPr/>
          <p:nvPr/>
        </p:nvSpPr>
        <p:spPr>
          <a:xfrm>
            <a:off x="1507490" y="7051569"/>
            <a:ext cx="1008221" cy="9525"/>
          </a:xfrm>
          <a:prstGeom prst="rect">
            <a:avLst/>
          </a:prstGeom>
          <a:solidFill>
            <a:srgbClr val="2A3350"/>
          </a:solidFill>
          <a:ln/>
        </p:spPr>
      </p:sp>
      <p:sp>
        <p:nvSpPr>
          <p:cNvPr id="78" name="Text 76"/>
          <p:cNvSpPr/>
          <p:nvPr/>
        </p:nvSpPr>
        <p:spPr>
          <a:xfrm>
            <a:off x="1575223" y="6835140"/>
            <a:ext cx="948955"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48</a:t>
            </a:r>
            <a:endParaRPr lang="en-US" sz="907" dirty="0"/>
          </a:p>
        </p:txBody>
      </p:sp>
      <p:sp>
        <p:nvSpPr>
          <p:cNvPr id="79" name="Shape 77"/>
          <p:cNvSpPr/>
          <p:nvPr/>
        </p:nvSpPr>
        <p:spPr>
          <a:xfrm>
            <a:off x="2515711" y="7051569"/>
            <a:ext cx="3306445" cy="9525"/>
          </a:xfrm>
          <a:prstGeom prst="rect">
            <a:avLst/>
          </a:prstGeom>
          <a:solidFill>
            <a:srgbClr val="2A3350"/>
          </a:solidFill>
          <a:ln/>
        </p:spPr>
      </p:sp>
      <p:sp>
        <p:nvSpPr>
          <p:cNvPr id="80" name="Text 78"/>
          <p:cNvSpPr/>
          <p:nvPr/>
        </p:nvSpPr>
        <p:spPr>
          <a:xfrm>
            <a:off x="2583445" y="6835140"/>
            <a:ext cx="327017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spc="36" kern="0" dirty="0">
                <a:solidFill>
                  <a:srgbClr val="8F9EC4"/>
                </a:solidFill>
                <a:latin typeface="Arial" pitchFamily="34" charset="0"/>
                <a:ea typeface="Arial" pitchFamily="34" charset="-122"/>
                <a:cs typeface="Arial" pitchFamily="34" charset="-120"/>
              </a:rPr>
              <a:t>−73 kg Senior Men</a:t>
            </a:r>
            <a:endParaRPr lang="en-US" sz="907" dirty="0"/>
          </a:p>
        </p:txBody>
      </p:sp>
      <p:sp>
        <p:nvSpPr>
          <p:cNvPr id="81" name="Shape 79"/>
          <p:cNvSpPr/>
          <p:nvPr/>
        </p:nvSpPr>
        <p:spPr>
          <a:xfrm>
            <a:off x="5822156" y="7051569"/>
            <a:ext cx="2456180" cy="9525"/>
          </a:xfrm>
          <a:prstGeom prst="rect">
            <a:avLst/>
          </a:prstGeom>
          <a:solidFill>
            <a:srgbClr val="2A3350"/>
          </a:solidFill>
          <a:ln/>
        </p:spPr>
      </p:sp>
      <p:sp>
        <p:nvSpPr>
          <p:cNvPr id="82" name="Text 80"/>
          <p:cNvSpPr/>
          <p:nvPr/>
        </p:nvSpPr>
        <p:spPr>
          <a:xfrm>
            <a:off x="5889890" y="6835140"/>
            <a:ext cx="239691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3B82F6"/>
                </a:solidFill>
                <a:latin typeface="Arial" pitchFamily="34" charset="0"/>
                <a:ea typeface="Arial" pitchFamily="34" charset="-122"/>
                <a:cs typeface="Arial" pitchFamily="34" charset="-120"/>
              </a:rPr>
              <a:t>Abdullaev, T.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UZB</a:t>
            </a:r>
            <a:endParaRPr lang="en-US" sz="907" dirty="0"/>
          </a:p>
        </p:txBody>
      </p:sp>
      <p:sp>
        <p:nvSpPr>
          <p:cNvPr id="83" name="Shape 81"/>
          <p:cNvSpPr/>
          <p:nvPr/>
        </p:nvSpPr>
        <p:spPr>
          <a:xfrm>
            <a:off x="8278337" y="7051569"/>
            <a:ext cx="2291874" cy="9525"/>
          </a:xfrm>
          <a:prstGeom prst="rect">
            <a:avLst/>
          </a:prstGeom>
          <a:solidFill>
            <a:srgbClr val="2A3350"/>
          </a:solidFill>
          <a:ln/>
        </p:spPr>
      </p:sp>
      <p:sp>
        <p:nvSpPr>
          <p:cNvPr id="84" name="Text 82"/>
          <p:cNvSpPr/>
          <p:nvPr/>
        </p:nvSpPr>
        <p:spPr>
          <a:xfrm>
            <a:off x="8346070" y="6835140"/>
            <a:ext cx="223260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22C55E"/>
                </a:solidFill>
                <a:latin typeface="Arial" pitchFamily="34" charset="0"/>
                <a:ea typeface="Arial" pitchFamily="34" charset="-122"/>
                <a:cs typeface="Arial" pitchFamily="34" charset="-120"/>
              </a:rPr>
              <a:t>Nazarov, B.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TKM</a:t>
            </a:r>
            <a:endParaRPr lang="en-US" sz="907" dirty="0"/>
          </a:p>
        </p:txBody>
      </p:sp>
      <p:sp>
        <p:nvSpPr>
          <p:cNvPr id="85" name="Text 83"/>
          <p:cNvSpPr/>
          <p:nvPr/>
        </p:nvSpPr>
        <p:spPr>
          <a:xfrm>
            <a:off x="1378744" y="8424439"/>
            <a:ext cx="9599655" cy="156951"/>
          </a:xfrm>
          <a:prstGeom prst="rect">
            <a:avLst/>
          </a:prstGeom>
          <a:noFill/>
          <a:ln/>
        </p:spPr>
        <p:txBody>
          <a:bodyPr wrap="square" lIns="25400" tIns="25400" rIns="25400" bIns="25400" rtlCol="0" anchor="t">
            <a:normAutofit/>
          </a:bodyPr>
          <a:lstStyle/>
          <a:p>
            <a:pPr algn="l" indent="0" marL="0">
              <a:lnSpc>
                <a:spcPct val="117000"/>
              </a:lnSpc>
              <a:buNone/>
            </a:pPr>
            <a:r>
              <a:rPr lang="en-US" sz="693" dirty="0">
                <a:solidFill>
                  <a:srgbClr val="8F9EC4"/>
                </a:solidFill>
                <a:latin typeface="Arial" pitchFamily="34" charset="0"/>
                <a:ea typeface="Arial" pitchFamily="34" charset="-122"/>
                <a:cs typeface="Arial" pitchFamily="34" charset="-120"/>
              </a:rPr>
              <a:t>Updated 14:22:07 · refreshes automatically</a:t>
            </a:r>
            <a:endParaRPr lang="en-US" sz="693" dirty="0"/>
          </a:p>
        </p:txBody>
      </p:sp>
      <p:sp>
        <p:nvSpPr>
          <p:cNvPr id="86" name="Text 84"/>
          <p:cNvSpPr/>
          <p:nvPr/>
        </p:nvSpPr>
        <p:spPr>
          <a:xfrm>
            <a:off x="11353800" y="32004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No framework behind it</a:t>
            </a:r>
            <a:endParaRPr lang="en-US" sz="2550" dirty="0"/>
          </a:p>
        </p:txBody>
      </p:sp>
      <p:sp>
        <p:nvSpPr>
          <p:cNvPr id="87" name="Text 85"/>
          <p:cNvSpPr/>
          <p:nvPr/>
        </p:nvSpPr>
        <p:spPr>
          <a:xfrm>
            <a:off x="11353800" y="3696811"/>
            <a:ext cx="596493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The hall's boards carry no Livewire and no JavaScript: they are served from cache and reload themselves, so a screen left running all weekend recovers on its own from a dropped network.</a:t>
            </a:r>
            <a:endParaRPr lang="en-US" sz="2100" dirty="0"/>
          </a:p>
        </p:txBody>
      </p:sp>
      <p:sp>
        <p:nvSpPr>
          <p:cNvPr id="88" name="Text 86"/>
          <p:cNvSpPr/>
          <p:nvPr/>
        </p:nvSpPr>
        <p:spPr>
          <a:xfrm>
            <a:off x="11353800" y="61722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One version number</a:t>
            </a:r>
            <a:endParaRPr lang="en-US" sz="2550" dirty="0"/>
          </a:p>
        </p:txBody>
      </p:sp>
      <p:sp>
        <p:nvSpPr>
          <p:cNvPr id="89" name="Text 87"/>
          <p:cNvSpPr/>
          <p:nvPr/>
        </p:nvSpPr>
        <p:spPr>
          <a:xfrm>
            <a:off x="11353800" y="6668612"/>
            <a:ext cx="596493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Every screen for a championship hangs off it. A recorded result bumps it and all of them are current on the next request — which is what keeps a room full of spectators from bringing the desk down.</a:t>
            </a:r>
            <a:endParaRPr lang="en-US" sz="2100" dirty="0"/>
          </a:p>
        </p:txBody>
      </p:sp>
      <p:pic>
        <p:nvPicPr>
          <p:cNvPr id="90"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03 · THE HALL</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Medal standings</a:t>
            </a:r>
            <a:endParaRPr lang="en-US" sz="4800" dirty="0"/>
          </a:p>
        </p:txBody>
      </p:sp>
      <p:sp>
        <p:nvSpPr>
          <p:cNvPr id="4" name="Shape 2"/>
          <p:cNvSpPr/>
          <p:nvPr/>
        </p:nvSpPr>
        <p:spPr>
          <a:xfrm>
            <a:off x="1143000" y="3200400"/>
            <a:ext cx="9753600" cy="5486400"/>
          </a:xfrm>
          <a:prstGeom prst="rect">
            <a:avLst/>
          </a:prstGeom>
          <a:solidFill>
            <a:srgbClr val="05070A"/>
          </a:solidFill>
          <a:ln w="19050">
            <a:solidFill>
              <a:srgbClr val="201E1D">
                <a:alpha val="40000"/>
              </a:srgbClr>
            </a:solidFill>
            <a:prstDash val="solid"/>
          </a:ln>
        </p:spPr>
      </p:sp>
      <p:sp>
        <p:nvSpPr>
          <p:cNvPr id="5" name="Shape 3"/>
          <p:cNvSpPr/>
          <p:nvPr/>
        </p:nvSpPr>
        <p:spPr>
          <a:xfrm>
            <a:off x="1162050" y="3219450"/>
            <a:ext cx="9753600" cy="5486400"/>
          </a:xfrm>
          <a:prstGeom prst="rect">
            <a:avLst/>
          </a:prstGeom>
          <a:solidFill>
            <a:srgbClr val="0B1020"/>
          </a:solidFill>
          <a:ln/>
        </p:spPr>
      </p:sp>
      <p:sp>
        <p:nvSpPr>
          <p:cNvPr id="6" name="Shape 4"/>
          <p:cNvSpPr/>
          <p:nvPr/>
        </p:nvSpPr>
        <p:spPr>
          <a:xfrm>
            <a:off x="1378744" y="3767137"/>
            <a:ext cx="9320054" cy="20320"/>
          </a:xfrm>
          <a:prstGeom prst="rect">
            <a:avLst/>
          </a:prstGeom>
          <a:solidFill>
            <a:srgbClr val="2A3350"/>
          </a:solidFill>
          <a:ln/>
        </p:spPr>
      </p:sp>
      <p:sp>
        <p:nvSpPr>
          <p:cNvPr id="7" name="Shape 5"/>
          <p:cNvSpPr/>
          <p:nvPr/>
        </p:nvSpPr>
        <p:spPr>
          <a:xfrm>
            <a:off x="1378744" y="3406140"/>
            <a:ext cx="257334" cy="257334"/>
          </a:xfrm>
          <a:prstGeom prst="ellipse">
            <a:avLst/>
          </a:prstGeom>
          <a:ln w="13547">
            <a:solidFill>
              <a:srgbClr val="F2F5FF"/>
            </a:solidFill>
            <a:prstDash val="solid"/>
          </a:ln>
        </p:spPr>
      </p:sp>
      <p:sp>
        <p:nvSpPr>
          <p:cNvPr id="8" name="Text 6"/>
          <p:cNvSpPr/>
          <p:nvPr/>
        </p:nvSpPr>
        <p:spPr>
          <a:xfrm>
            <a:off x="1354190" y="3419687"/>
            <a:ext cx="306440" cy="268340"/>
          </a:xfrm>
          <a:prstGeom prst="rect">
            <a:avLst/>
          </a:prstGeom>
          <a:noFill/>
          <a:ln/>
        </p:spPr>
        <p:txBody>
          <a:bodyPr wrap="square" lIns="25400" tIns="25400" rIns="25400" bIns="25400" rtlCol="0" anchor="ctr">
            <a:normAutofit/>
          </a:bodyPr>
          <a:lstStyle/>
          <a:p>
            <a:pPr algn="ctr" indent="0" marL="0">
              <a:lnSpc>
                <a:spcPct val="114231"/>
              </a:lnSpc>
              <a:buNone/>
            </a:pPr>
            <a:r>
              <a:rPr lang="en-US" sz="587" b="1" dirty="0">
                <a:solidFill>
                  <a:srgbClr val="F2F5FF"/>
                </a:solidFill>
                <a:latin typeface="Arial" pitchFamily="34" charset="0"/>
                <a:ea typeface="Arial" pitchFamily="34" charset="-122"/>
                <a:cs typeface="Arial" pitchFamily="34" charset="-120"/>
              </a:rPr>
              <a:t>IKA</a:t>
            </a:r>
            <a:endParaRPr lang="en-US" sz="587" dirty="0"/>
          </a:p>
        </p:txBody>
      </p:sp>
      <p:sp>
        <p:nvSpPr>
          <p:cNvPr id="9" name="Text 7"/>
          <p:cNvSpPr/>
          <p:nvPr/>
        </p:nvSpPr>
        <p:spPr>
          <a:xfrm>
            <a:off x="1710690" y="3384074"/>
            <a:ext cx="2913967" cy="202724"/>
          </a:xfrm>
          <a:prstGeom prst="rect">
            <a:avLst/>
          </a:prstGeom>
          <a:noFill/>
          <a:ln/>
        </p:spPr>
        <p:txBody>
          <a:bodyPr wrap="square" lIns="25400" tIns="25400" rIns="25400" bIns="25400" rtlCol="0" anchor="t">
            <a:normAutofit/>
          </a:bodyPr>
          <a:lstStyle/>
          <a:p>
            <a:pPr algn="l" indent="0" marL="0">
              <a:lnSpc>
                <a:spcPct val="115714"/>
              </a:lnSpc>
              <a:buNone/>
            </a:pPr>
            <a:r>
              <a:rPr lang="en-US" sz="960" b="1" spc="77" kern="0" dirty="0">
                <a:solidFill>
                  <a:srgbClr val="F2F5FF"/>
                </a:solidFill>
                <a:latin typeface="Arial" pitchFamily="34" charset="0"/>
                <a:ea typeface="Arial" pitchFamily="34" charset="-122"/>
                <a:cs typeface="Arial" pitchFamily="34" charset="-120"/>
              </a:rPr>
              <a:t>INTERNATIONAL KURASH ASSOCIATION</a:t>
            </a:r>
            <a:endParaRPr lang="en-US" sz="960" dirty="0"/>
          </a:p>
        </p:txBody>
      </p:sp>
      <p:sp>
        <p:nvSpPr>
          <p:cNvPr id="10" name="Text 8"/>
          <p:cNvSpPr/>
          <p:nvPr/>
        </p:nvSpPr>
        <p:spPr>
          <a:xfrm>
            <a:off x="1710690" y="3548697"/>
            <a:ext cx="2913967" cy="175260"/>
          </a:xfrm>
          <a:prstGeom prst="rect">
            <a:avLst/>
          </a:prstGeom>
          <a:noFill/>
          <a:ln/>
        </p:spPr>
        <p:txBody>
          <a:bodyPr wrap="square" lIns="25400" tIns="25400" rIns="25400" bIns="25400" rtlCol="0" anchor="t">
            <a:normAutofit/>
          </a:bodyPr>
          <a:lstStyle/>
          <a:p>
            <a:pPr algn="l" indent="0" marL="0">
              <a:lnSpc>
                <a:spcPct val="112500"/>
              </a:lnSpc>
              <a:buNone/>
            </a:pPr>
            <a:r>
              <a:rPr lang="en-US" sz="800" dirty="0">
                <a:solidFill>
                  <a:srgbClr val="8F9EC4"/>
                </a:solidFill>
                <a:latin typeface="Arial" pitchFamily="34" charset="0"/>
                <a:ea typeface="Arial" pitchFamily="34" charset="-122"/>
                <a:cs typeface="Arial" pitchFamily="34" charset="-120"/>
              </a:rPr>
              <a:t>Asian Kurash Championship 2026 · Tashkent, Uzbekistan</a:t>
            </a:r>
            <a:endParaRPr lang="en-US" sz="800" dirty="0"/>
          </a:p>
        </p:txBody>
      </p:sp>
      <p:sp>
        <p:nvSpPr>
          <p:cNvPr id="11" name="Text 9"/>
          <p:cNvSpPr/>
          <p:nvPr/>
        </p:nvSpPr>
        <p:spPr>
          <a:xfrm>
            <a:off x="10103167" y="3382010"/>
            <a:ext cx="671989" cy="275908"/>
          </a:xfrm>
          <a:prstGeom prst="rect">
            <a:avLst/>
          </a:prstGeom>
          <a:noFill/>
          <a:ln/>
        </p:spPr>
        <p:txBody>
          <a:bodyPr wrap="square" lIns="25400" tIns="25400" rIns="25400" bIns="25400" rtlCol="0" anchor="t">
            <a:normAutofit/>
          </a:bodyPr>
          <a:lstStyle/>
          <a:p>
            <a:pPr algn="l" indent="0" marL="0">
              <a:lnSpc>
                <a:spcPct val="117000"/>
              </a:lnSpc>
              <a:buNone/>
            </a:pPr>
            <a:r>
              <a:rPr lang="en-US" sz="1387" b="1" dirty="0">
                <a:solidFill>
                  <a:srgbClr val="F2F5FF"/>
                </a:solidFill>
                <a:latin typeface="Arial" pitchFamily="34" charset="0"/>
                <a:ea typeface="Arial" pitchFamily="34" charset="-122"/>
                <a:cs typeface="Arial" pitchFamily="34" charset="-120"/>
              </a:rPr>
              <a:t>Medals</a:t>
            </a:r>
            <a:endParaRPr lang="en-US" sz="1387" dirty="0"/>
          </a:p>
        </p:txBody>
      </p:sp>
      <p:sp>
        <p:nvSpPr>
          <p:cNvPr id="12" name="Shape 10"/>
          <p:cNvSpPr/>
          <p:nvPr/>
        </p:nvSpPr>
        <p:spPr>
          <a:xfrm>
            <a:off x="1378744" y="3922871"/>
            <a:ext cx="3070543" cy="4406741"/>
          </a:xfrm>
          <a:prstGeom prst="roundRect">
            <a:avLst>
              <a:gd name="adj" fmla="val 2206"/>
            </a:avLst>
          </a:prstGeom>
          <a:solidFill>
            <a:srgbClr val="161D33"/>
          </a:solidFill>
          <a:ln w="6773">
            <a:solidFill>
              <a:srgbClr val="2A3350"/>
            </a:solidFill>
            <a:prstDash val="solid"/>
          </a:ln>
        </p:spPr>
      </p:sp>
      <p:sp>
        <p:nvSpPr>
          <p:cNvPr id="13" name="Text 11"/>
          <p:cNvSpPr/>
          <p:nvPr/>
        </p:nvSpPr>
        <p:spPr>
          <a:xfrm>
            <a:off x="1507490" y="4037965"/>
            <a:ext cx="3094530" cy="144304"/>
          </a:xfrm>
          <a:prstGeom prst="rect">
            <a:avLst/>
          </a:prstGeom>
          <a:noFill/>
          <a:ln/>
        </p:spPr>
        <p:txBody>
          <a:bodyPr wrap="square" lIns="25400" tIns="25400" rIns="25400" bIns="25400" rtlCol="0" anchor="t">
            <a:normAutofit/>
          </a:bodyPr>
          <a:lstStyle/>
          <a:p>
            <a:pPr algn="l" indent="0" marL="0">
              <a:lnSpc>
                <a:spcPct val="98021"/>
              </a:lnSpc>
              <a:buNone/>
            </a:pPr>
            <a:r>
              <a:rPr lang="en-US" sz="747" b="1" spc="67" kern="0" dirty="0">
                <a:solidFill>
                  <a:srgbClr val="8F9EC4"/>
                </a:solidFill>
                <a:latin typeface="Arial" pitchFamily="34" charset="0"/>
                <a:ea typeface="Arial" pitchFamily="34" charset="-122"/>
                <a:cs typeface="Arial" pitchFamily="34" charset="-120"/>
              </a:rPr>
              <a:t>STANDING BY NOC</a:t>
            </a:r>
            <a:endParaRPr lang="en-US" sz="747" dirty="0"/>
          </a:p>
        </p:txBody>
      </p:sp>
      <p:sp>
        <p:nvSpPr>
          <p:cNvPr id="14" name="Shape 12"/>
          <p:cNvSpPr/>
          <p:nvPr/>
        </p:nvSpPr>
        <p:spPr>
          <a:xfrm>
            <a:off x="1507490" y="4418912"/>
            <a:ext cx="737235" cy="13547"/>
          </a:xfrm>
          <a:prstGeom prst="rect">
            <a:avLst/>
          </a:prstGeom>
          <a:solidFill>
            <a:srgbClr val="2A3350"/>
          </a:solidFill>
          <a:ln/>
        </p:spPr>
      </p:sp>
      <p:sp>
        <p:nvSpPr>
          <p:cNvPr id="15" name="Text 13"/>
          <p:cNvSpPr/>
          <p:nvPr/>
        </p:nvSpPr>
        <p:spPr>
          <a:xfrm>
            <a:off x="1575223" y="4259368"/>
            <a:ext cx="677968"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NOC</a:t>
            </a:r>
            <a:endParaRPr lang="en-US" sz="693" dirty="0"/>
          </a:p>
        </p:txBody>
      </p:sp>
      <p:sp>
        <p:nvSpPr>
          <p:cNvPr id="16" name="Shape 14"/>
          <p:cNvSpPr/>
          <p:nvPr/>
        </p:nvSpPr>
        <p:spPr>
          <a:xfrm>
            <a:off x="2244725" y="4418912"/>
            <a:ext cx="402114" cy="13547"/>
          </a:xfrm>
          <a:prstGeom prst="rect">
            <a:avLst/>
          </a:prstGeom>
          <a:solidFill>
            <a:srgbClr val="2A3350"/>
          </a:solidFill>
          <a:ln/>
        </p:spPr>
      </p:sp>
      <p:sp>
        <p:nvSpPr>
          <p:cNvPr id="17" name="Text 15"/>
          <p:cNvSpPr/>
          <p:nvPr/>
        </p:nvSpPr>
        <p:spPr>
          <a:xfrm>
            <a:off x="2312458" y="4259368"/>
            <a:ext cx="342847"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G</a:t>
            </a:r>
            <a:endParaRPr lang="en-US" sz="693" dirty="0"/>
          </a:p>
        </p:txBody>
      </p:sp>
      <p:sp>
        <p:nvSpPr>
          <p:cNvPr id="18" name="Shape 16"/>
          <p:cNvSpPr/>
          <p:nvPr/>
        </p:nvSpPr>
        <p:spPr>
          <a:xfrm>
            <a:off x="2646839" y="4418912"/>
            <a:ext cx="397510" cy="13547"/>
          </a:xfrm>
          <a:prstGeom prst="rect">
            <a:avLst/>
          </a:prstGeom>
          <a:solidFill>
            <a:srgbClr val="2A3350"/>
          </a:solidFill>
          <a:ln/>
        </p:spPr>
      </p:sp>
      <p:sp>
        <p:nvSpPr>
          <p:cNvPr id="19" name="Text 17"/>
          <p:cNvSpPr/>
          <p:nvPr/>
        </p:nvSpPr>
        <p:spPr>
          <a:xfrm>
            <a:off x="2714572" y="4259368"/>
            <a:ext cx="338243"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S</a:t>
            </a:r>
            <a:endParaRPr lang="en-US" sz="693" dirty="0"/>
          </a:p>
        </p:txBody>
      </p:sp>
      <p:sp>
        <p:nvSpPr>
          <p:cNvPr id="20" name="Shape 18"/>
          <p:cNvSpPr/>
          <p:nvPr/>
        </p:nvSpPr>
        <p:spPr>
          <a:xfrm>
            <a:off x="3044349" y="4418912"/>
            <a:ext cx="397510" cy="13547"/>
          </a:xfrm>
          <a:prstGeom prst="rect">
            <a:avLst/>
          </a:prstGeom>
          <a:solidFill>
            <a:srgbClr val="2A3350"/>
          </a:solidFill>
          <a:ln/>
        </p:spPr>
      </p:sp>
      <p:sp>
        <p:nvSpPr>
          <p:cNvPr id="21" name="Text 19"/>
          <p:cNvSpPr/>
          <p:nvPr/>
        </p:nvSpPr>
        <p:spPr>
          <a:xfrm>
            <a:off x="3112082" y="4259368"/>
            <a:ext cx="338243"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B</a:t>
            </a:r>
            <a:endParaRPr lang="en-US" sz="693" dirty="0"/>
          </a:p>
        </p:txBody>
      </p:sp>
      <p:sp>
        <p:nvSpPr>
          <p:cNvPr id="22" name="Shape 20"/>
          <p:cNvSpPr/>
          <p:nvPr/>
        </p:nvSpPr>
        <p:spPr>
          <a:xfrm>
            <a:off x="3441859" y="4418912"/>
            <a:ext cx="878840" cy="13547"/>
          </a:xfrm>
          <a:prstGeom prst="rect">
            <a:avLst/>
          </a:prstGeom>
          <a:solidFill>
            <a:srgbClr val="2A3350"/>
          </a:solidFill>
          <a:ln/>
        </p:spPr>
      </p:sp>
      <p:sp>
        <p:nvSpPr>
          <p:cNvPr id="23" name="Text 21"/>
          <p:cNvSpPr/>
          <p:nvPr/>
        </p:nvSpPr>
        <p:spPr>
          <a:xfrm>
            <a:off x="3509592" y="4259368"/>
            <a:ext cx="819573"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TOTAL</a:t>
            </a:r>
            <a:endParaRPr lang="en-US" sz="693" dirty="0"/>
          </a:p>
        </p:txBody>
      </p:sp>
      <p:sp>
        <p:nvSpPr>
          <p:cNvPr id="24" name="Shape 22"/>
          <p:cNvSpPr/>
          <p:nvPr/>
        </p:nvSpPr>
        <p:spPr>
          <a:xfrm>
            <a:off x="1507490" y="4713182"/>
            <a:ext cx="737235" cy="9525"/>
          </a:xfrm>
          <a:prstGeom prst="rect">
            <a:avLst/>
          </a:prstGeom>
          <a:solidFill>
            <a:srgbClr val="2A3350"/>
          </a:solidFill>
          <a:ln/>
        </p:spPr>
      </p:sp>
      <p:sp>
        <p:nvSpPr>
          <p:cNvPr id="25" name="Text 23"/>
          <p:cNvSpPr/>
          <p:nvPr/>
        </p:nvSpPr>
        <p:spPr>
          <a:xfrm>
            <a:off x="1575223" y="4493419"/>
            <a:ext cx="677968"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UZB</a:t>
            </a:r>
            <a:endParaRPr lang="en-US" sz="907" dirty="0"/>
          </a:p>
        </p:txBody>
      </p:sp>
      <p:sp>
        <p:nvSpPr>
          <p:cNvPr id="26" name="Shape 24"/>
          <p:cNvSpPr/>
          <p:nvPr/>
        </p:nvSpPr>
        <p:spPr>
          <a:xfrm>
            <a:off x="2244725" y="4713182"/>
            <a:ext cx="402114" cy="9525"/>
          </a:xfrm>
          <a:prstGeom prst="rect">
            <a:avLst/>
          </a:prstGeom>
          <a:solidFill>
            <a:srgbClr val="2A3350"/>
          </a:solidFill>
          <a:ln/>
        </p:spPr>
      </p:sp>
      <p:sp>
        <p:nvSpPr>
          <p:cNvPr id="27" name="Text 25"/>
          <p:cNvSpPr/>
          <p:nvPr/>
        </p:nvSpPr>
        <p:spPr>
          <a:xfrm>
            <a:off x="2312458" y="4493419"/>
            <a:ext cx="342847"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4</a:t>
            </a:r>
            <a:endParaRPr lang="en-US" sz="907" dirty="0"/>
          </a:p>
        </p:txBody>
      </p:sp>
      <p:sp>
        <p:nvSpPr>
          <p:cNvPr id="28" name="Shape 26"/>
          <p:cNvSpPr/>
          <p:nvPr/>
        </p:nvSpPr>
        <p:spPr>
          <a:xfrm>
            <a:off x="2646839" y="4713182"/>
            <a:ext cx="397510" cy="9525"/>
          </a:xfrm>
          <a:prstGeom prst="rect">
            <a:avLst/>
          </a:prstGeom>
          <a:solidFill>
            <a:srgbClr val="2A3350"/>
          </a:solidFill>
          <a:ln/>
        </p:spPr>
      </p:sp>
      <p:sp>
        <p:nvSpPr>
          <p:cNvPr id="29" name="Text 27"/>
          <p:cNvSpPr/>
          <p:nvPr/>
        </p:nvSpPr>
        <p:spPr>
          <a:xfrm>
            <a:off x="2714572" y="4493419"/>
            <a:ext cx="338243"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2</a:t>
            </a:r>
            <a:endParaRPr lang="en-US" sz="907" dirty="0"/>
          </a:p>
        </p:txBody>
      </p:sp>
      <p:sp>
        <p:nvSpPr>
          <p:cNvPr id="30" name="Shape 28"/>
          <p:cNvSpPr/>
          <p:nvPr/>
        </p:nvSpPr>
        <p:spPr>
          <a:xfrm>
            <a:off x="3044349" y="4713182"/>
            <a:ext cx="397510" cy="9525"/>
          </a:xfrm>
          <a:prstGeom prst="rect">
            <a:avLst/>
          </a:prstGeom>
          <a:solidFill>
            <a:srgbClr val="2A3350"/>
          </a:solidFill>
          <a:ln/>
        </p:spPr>
      </p:sp>
      <p:sp>
        <p:nvSpPr>
          <p:cNvPr id="31" name="Text 29"/>
          <p:cNvSpPr/>
          <p:nvPr/>
        </p:nvSpPr>
        <p:spPr>
          <a:xfrm>
            <a:off x="3112082" y="4493419"/>
            <a:ext cx="338243"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3</a:t>
            </a:r>
            <a:endParaRPr lang="en-US" sz="907" dirty="0"/>
          </a:p>
        </p:txBody>
      </p:sp>
      <p:sp>
        <p:nvSpPr>
          <p:cNvPr id="32" name="Shape 30"/>
          <p:cNvSpPr/>
          <p:nvPr/>
        </p:nvSpPr>
        <p:spPr>
          <a:xfrm>
            <a:off x="3441859" y="4713182"/>
            <a:ext cx="878840" cy="9525"/>
          </a:xfrm>
          <a:prstGeom prst="rect">
            <a:avLst/>
          </a:prstGeom>
          <a:solidFill>
            <a:srgbClr val="2A3350"/>
          </a:solidFill>
          <a:ln/>
        </p:spPr>
      </p:sp>
      <p:sp>
        <p:nvSpPr>
          <p:cNvPr id="33" name="Text 31"/>
          <p:cNvSpPr/>
          <p:nvPr/>
        </p:nvSpPr>
        <p:spPr>
          <a:xfrm>
            <a:off x="3509592" y="4493419"/>
            <a:ext cx="819573"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9</a:t>
            </a:r>
            <a:endParaRPr lang="en-US" sz="907" dirty="0"/>
          </a:p>
        </p:txBody>
      </p:sp>
      <p:sp>
        <p:nvSpPr>
          <p:cNvPr id="34" name="Shape 32"/>
          <p:cNvSpPr/>
          <p:nvPr/>
        </p:nvSpPr>
        <p:spPr>
          <a:xfrm>
            <a:off x="1507490" y="4719955"/>
            <a:ext cx="2813209" cy="284162"/>
          </a:xfrm>
          <a:prstGeom prst="rect">
            <a:avLst/>
          </a:prstGeom>
          <a:solidFill>
            <a:srgbClr val="FFFFFF">
              <a:alpha val="2000"/>
            </a:srgbClr>
          </a:solidFill>
          <a:ln/>
        </p:spPr>
      </p:sp>
      <p:sp>
        <p:nvSpPr>
          <p:cNvPr id="35" name="Shape 33"/>
          <p:cNvSpPr/>
          <p:nvPr/>
        </p:nvSpPr>
        <p:spPr>
          <a:xfrm>
            <a:off x="1507490" y="4997344"/>
            <a:ext cx="737235" cy="9525"/>
          </a:xfrm>
          <a:prstGeom prst="rect">
            <a:avLst/>
          </a:prstGeom>
          <a:solidFill>
            <a:srgbClr val="2A3350"/>
          </a:solidFill>
          <a:ln/>
        </p:spPr>
      </p:sp>
      <p:sp>
        <p:nvSpPr>
          <p:cNvPr id="36" name="Text 34"/>
          <p:cNvSpPr/>
          <p:nvPr/>
        </p:nvSpPr>
        <p:spPr>
          <a:xfrm>
            <a:off x="1575223" y="4780915"/>
            <a:ext cx="67796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KAZ</a:t>
            </a:r>
            <a:endParaRPr lang="en-US" sz="907" dirty="0"/>
          </a:p>
        </p:txBody>
      </p:sp>
      <p:sp>
        <p:nvSpPr>
          <p:cNvPr id="37" name="Shape 35"/>
          <p:cNvSpPr/>
          <p:nvPr/>
        </p:nvSpPr>
        <p:spPr>
          <a:xfrm>
            <a:off x="2244725" y="4997344"/>
            <a:ext cx="402114" cy="9525"/>
          </a:xfrm>
          <a:prstGeom prst="rect">
            <a:avLst/>
          </a:prstGeom>
          <a:solidFill>
            <a:srgbClr val="2A3350"/>
          </a:solidFill>
          <a:ln/>
        </p:spPr>
      </p:sp>
      <p:sp>
        <p:nvSpPr>
          <p:cNvPr id="38" name="Text 36"/>
          <p:cNvSpPr/>
          <p:nvPr/>
        </p:nvSpPr>
        <p:spPr>
          <a:xfrm>
            <a:off x="2312458" y="4780915"/>
            <a:ext cx="3428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2</a:t>
            </a:r>
            <a:endParaRPr lang="en-US" sz="907" dirty="0"/>
          </a:p>
        </p:txBody>
      </p:sp>
      <p:sp>
        <p:nvSpPr>
          <p:cNvPr id="39" name="Shape 37"/>
          <p:cNvSpPr/>
          <p:nvPr/>
        </p:nvSpPr>
        <p:spPr>
          <a:xfrm>
            <a:off x="2646839" y="4997344"/>
            <a:ext cx="397510" cy="9525"/>
          </a:xfrm>
          <a:prstGeom prst="rect">
            <a:avLst/>
          </a:prstGeom>
          <a:solidFill>
            <a:srgbClr val="2A3350"/>
          </a:solidFill>
          <a:ln/>
        </p:spPr>
      </p:sp>
      <p:sp>
        <p:nvSpPr>
          <p:cNvPr id="40" name="Text 38"/>
          <p:cNvSpPr/>
          <p:nvPr/>
        </p:nvSpPr>
        <p:spPr>
          <a:xfrm>
            <a:off x="2714572" y="4780915"/>
            <a:ext cx="33824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3</a:t>
            </a:r>
            <a:endParaRPr lang="en-US" sz="907" dirty="0"/>
          </a:p>
        </p:txBody>
      </p:sp>
      <p:sp>
        <p:nvSpPr>
          <p:cNvPr id="41" name="Shape 39"/>
          <p:cNvSpPr/>
          <p:nvPr/>
        </p:nvSpPr>
        <p:spPr>
          <a:xfrm>
            <a:off x="3044349" y="4997344"/>
            <a:ext cx="397510" cy="9525"/>
          </a:xfrm>
          <a:prstGeom prst="rect">
            <a:avLst/>
          </a:prstGeom>
          <a:solidFill>
            <a:srgbClr val="2A3350"/>
          </a:solidFill>
          <a:ln/>
        </p:spPr>
      </p:sp>
      <p:sp>
        <p:nvSpPr>
          <p:cNvPr id="42" name="Text 40"/>
          <p:cNvSpPr/>
          <p:nvPr/>
        </p:nvSpPr>
        <p:spPr>
          <a:xfrm>
            <a:off x="3112082" y="4780915"/>
            <a:ext cx="33824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2</a:t>
            </a:r>
            <a:endParaRPr lang="en-US" sz="907" dirty="0"/>
          </a:p>
        </p:txBody>
      </p:sp>
      <p:sp>
        <p:nvSpPr>
          <p:cNvPr id="43" name="Shape 41"/>
          <p:cNvSpPr/>
          <p:nvPr/>
        </p:nvSpPr>
        <p:spPr>
          <a:xfrm>
            <a:off x="3441859" y="4997344"/>
            <a:ext cx="878840" cy="9525"/>
          </a:xfrm>
          <a:prstGeom prst="rect">
            <a:avLst/>
          </a:prstGeom>
          <a:solidFill>
            <a:srgbClr val="2A3350"/>
          </a:solidFill>
          <a:ln/>
        </p:spPr>
      </p:sp>
      <p:sp>
        <p:nvSpPr>
          <p:cNvPr id="44" name="Text 42"/>
          <p:cNvSpPr/>
          <p:nvPr/>
        </p:nvSpPr>
        <p:spPr>
          <a:xfrm>
            <a:off x="3509592" y="4780915"/>
            <a:ext cx="81957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7</a:t>
            </a:r>
            <a:endParaRPr lang="en-US" sz="907" dirty="0"/>
          </a:p>
        </p:txBody>
      </p:sp>
      <p:sp>
        <p:nvSpPr>
          <p:cNvPr id="45" name="Shape 43"/>
          <p:cNvSpPr/>
          <p:nvPr/>
        </p:nvSpPr>
        <p:spPr>
          <a:xfrm>
            <a:off x="1507490" y="5281507"/>
            <a:ext cx="737235" cy="9525"/>
          </a:xfrm>
          <a:prstGeom prst="rect">
            <a:avLst/>
          </a:prstGeom>
          <a:solidFill>
            <a:srgbClr val="2A3350"/>
          </a:solidFill>
          <a:ln/>
        </p:spPr>
      </p:sp>
      <p:sp>
        <p:nvSpPr>
          <p:cNvPr id="46" name="Text 44"/>
          <p:cNvSpPr/>
          <p:nvPr/>
        </p:nvSpPr>
        <p:spPr>
          <a:xfrm>
            <a:off x="1575223" y="5065078"/>
            <a:ext cx="67796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KGZ</a:t>
            </a:r>
            <a:endParaRPr lang="en-US" sz="907" dirty="0"/>
          </a:p>
        </p:txBody>
      </p:sp>
      <p:sp>
        <p:nvSpPr>
          <p:cNvPr id="47" name="Shape 45"/>
          <p:cNvSpPr/>
          <p:nvPr/>
        </p:nvSpPr>
        <p:spPr>
          <a:xfrm>
            <a:off x="2244725" y="5281507"/>
            <a:ext cx="402114" cy="9525"/>
          </a:xfrm>
          <a:prstGeom prst="rect">
            <a:avLst/>
          </a:prstGeom>
          <a:solidFill>
            <a:srgbClr val="2A3350"/>
          </a:solidFill>
          <a:ln/>
        </p:spPr>
      </p:sp>
      <p:sp>
        <p:nvSpPr>
          <p:cNvPr id="48" name="Text 46"/>
          <p:cNvSpPr/>
          <p:nvPr/>
        </p:nvSpPr>
        <p:spPr>
          <a:xfrm>
            <a:off x="2312458" y="5065078"/>
            <a:ext cx="3428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1</a:t>
            </a:r>
            <a:endParaRPr lang="en-US" sz="907" dirty="0"/>
          </a:p>
        </p:txBody>
      </p:sp>
      <p:sp>
        <p:nvSpPr>
          <p:cNvPr id="49" name="Shape 47"/>
          <p:cNvSpPr/>
          <p:nvPr/>
        </p:nvSpPr>
        <p:spPr>
          <a:xfrm>
            <a:off x="2646839" y="5281507"/>
            <a:ext cx="397510" cy="9525"/>
          </a:xfrm>
          <a:prstGeom prst="rect">
            <a:avLst/>
          </a:prstGeom>
          <a:solidFill>
            <a:srgbClr val="2A3350"/>
          </a:solidFill>
          <a:ln/>
        </p:spPr>
      </p:sp>
      <p:sp>
        <p:nvSpPr>
          <p:cNvPr id="50" name="Text 48"/>
          <p:cNvSpPr/>
          <p:nvPr/>
        </p:nvSpPr>
        <p:spPr>
          <a:xfrm>
            <a:off x="2714572" y="5065078"/>
            <a:ext cx="33824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1</a:t>
            </a:r>
            <a:endParaRPr lang="en-US" sz="907" dirty="0"/>
          </a:p>
        </p:txBody>
      </p:sp>
      <p:sp>
        <p:nvSpPr>
          <p:cNvPr id="51" name="Shape 49"/>
          <p:cNvSpPr/>
          <p:nvPr/>
        </p:nvSpPr>
        <p:spPr>
          <a:xfrm>
            <a:off x="3044349" y="5281507"/>
            <a:ext cx="397510" cy="9525"/>
          </a:xfrm>
          <a:prstGeom prst="rect">
            <a:avLst/>
          </a:prstGeom>
          <a:solidFill>
            <a:srgbClr val="2A3350"/>
          </a:solidFill>
          <a:ln/>
        </p:spPr>
      </p:sp>
      <p:sp>
        <p:nvSpPr>
          <p:cNvPr id="52" name="Text 50"/>
          <p:cNvSpPr/>
          <p:nvPr/>
        </p:nvSpPr>
        <p:spPr>
          <a:xfrm>
            <a:off x="3112082" y="5065078"/>
            <a:ext cx="33824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3</a:t>
            </a:r>
            <a:endParaRPr lang="en-US" sz="907" dirty="0"/>
          </a:p>
        </p:txBody>
      </p:sp>
      <p:sp>
        <p:nvSpPr>
          <p:cNvPr id="53" name="Shape 51"/>
          <p:cNvSpPr/>
          <p:nvPr/>
        </p:nvSpPr>
        <p:spPr>
          <a:xfrm>
            <a:off x="3441859" y="5281507"/>
            <a:ext cx="878840" cy="9525"/>
          </a:xfrm>
          <a:prstGeom prst="rect">
            <a:avLst/>
          </a:prstGeom>
          <a:solidFill>
            <a:srgbClr val="2A3350"/>
          </a:solidFill>
          <a:ln/>
        </p:spPr>
      </p:sp>
      <p:sp>
        <p:nvSpPr>
          <p:cNvPr id="54" name="Text 52"/>
          <p:cNvSpPr/>
          <p:nvPr/>
        </p:nvSpPr>
        <p:spPr>
          <a:xfrm>
            <a:off x="3509592" y="5065078"/>
            <a:ext cx="81957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5</a:t>
            </a:r>
            <a:endParaRPr lang="en-US" sz="907" dirty="0"/>
          </a:p>
        </p:txBody>
      </p:sp>
      <p:sp>
        <p:nvSpPr>
          <p:cNvPr id="55" name="Shape 53"/>
          <p:cNvSpPr/>
          <p:nvPr/>
        </p:nvSpPr>
        <p:spPr>
          <a:xfrm>
            <a:off x="1507490" y="5288280"/>
            <a:ext cx="2813209" cy="284163"/>
          </a:xfrm>
          <a:prstGeom prst="rect">
            <a:avLst/>
          </a:prstGeom>
          <a:solidFill>
            <a:srgbClr val="FFFFFF">
              <a:alpha val="2000"/>
            </a:srgbClr>
          </a:solidFill>
          <a:ln/>
        </p:spPr>
      </p:sp>
      <p:sp>
        <p:nvSpPr>
          <p:cNvPr id="56" name="Shape 54"/>
          <p:cNvSpPr/>
          <p:nvPr/>
        </p:nvSpPr>
        <p:spPr>
          <a:xfrm>
            <a:off x="1507490" y="5565669"/>
            <a:ext cx="737235" cy="9525"/>
          </a:xfrm>
          <a:prstGeom prst="rect">
            <a:avLst/>
          </a:prstGeom>
          <a:solidFill>
            <a:srgbClr val="2A3350"/>
          </a:solidFill>
          <a:ln/>
        </p:spPr>
      </p:sp>
      <p:sp>
        <p:nvSpPr>
          <p:cNvPr id="57" name="Text 55"/>
          <p:cNvSpPr/>
          <p:nvPr/>
        </p:nvSpPr>
        <p:spPr>
          <a:xfrm>
            <a:off x="1575223" y="5349240"/>
            <a:ext cx="67796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IRI</a:t>
            </a:r>
            <a:endParaRPr lang="en-US" sz="907" dirty="0"/>
          </a:p>
        </p:txBody>
      </p:sp>
      <p:sp>
        <p:nvSpPr>
          <p:cNvPr id="58" name="Shape 56"/>
          <p:cNvSpPr/>
          <p:nvPr/>
        </p:nvSpPr>
        <p:spPr>
          <a:xfrm>
            <a:off x="2244725" y="5565669"/>
            <a:ext cx="402114" cy="9525"/>
          </a:xfrm>
          <a:prstGeom prst="rect">
            <a:avLst/>
          </a:prstGeom>
          <a:solidFill>
            <a:srgbClr val="2A3350"/>
          </a:solidFill>
          <a:ln/>
        </p:spPr>
      </p:sp>
      <p:sp>
        <p:nvSpPr>
          <p:cNvPr id="59" name="Text 57"/>
          <p:cNvSpPr/>
          <p:nvPr/>
        </p:nvSpPr>
        <p:spPr>
          <a:xfrm>
            <a:off x="2312458" y="5349240"/>
            <a:ext cx="3428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1</a:t>
            </a:r>
            <a:endParaRPr lang="en-US" sz="907" dirty="0"/>
          </a:p>
        </p:txBody>
      </p:sp>
      <p:sp>
        <p:nvSpPr>
          <p:cNvPr id="60" name="Shape 58"/>
          <p:cNvSpPr/>
          <p:nvPr/>
        </p:nvSpPr>
        <p:spPr>
          <a:xfrm>
            <a:off x="2646839" y="5565669"/>
            <a:ext cx="397510" cy="9525"/>
          </a:xfrm>
          <a:prstGeom prst="rect">
            <a:avLst/>
          </a:prstGeom>
          <a:solidFill>
            <a:srgbClr val="2A3350"/>
          </a:solidFill>
          <a:ln/>
        </p:spPr>
      </p:sp>
      <p:sp>
        <p:nvSpPr>
          <p:cNvPr id="61" name="Text 59"/>
          <p:cNvSpPr/>
          <p:nvPr/>
        </p:nvSpPr>
        <p:spPr>
          <a:xfrm>
            <a:off x="2714572" y="5349240"/>
            <a:ext cx="33824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0</a:t>
            </a:r>
            <a:endParaRPr lang="en-US" sz="907" dirty="0"/>
          </a:p>
        </p:txBody>
      </p:sp>
      <p:sp>
        <p:nvSpPr>
          <p:cNvPr id="62" name="Shape 60"/>
          <p:cNvSpPr/>
          <p:nvPr/>
        </p:nvSpPr>
        <p:spPr>
          <a:xfrm>
            <a:off x="3044349" y="5565669"/>
            <a:ext cx="397510" cy="9525"/>
          </a:xfrm>
          <a:prstGeom prst="rect">
            <a:avLst/>
          </a:prstGeom>
          <a:solidFill>
            <a:srgbClr val="2A3350"/>
          </a:solidFill>
          <a:ln/>
        </p:spPr>
      </p:sp>
      <p:sp>
        <p:nvSpPr>
          <p:cNvPr id="63" name="Text 61"/>
          <p:cNvSpPr/>
          <p:nvPr/>
        </p:nvSpPr>
        <p:spPr>
          <a:xfrm>
            <a:off x="3112082" y="5349240"/>
            <a:ext cx="33824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2</a:t>
            </a:r>
            <a:endParaRPr lang="en-US" sz="907" dirty="0"/>
          </a:p>
        </p:txBody>
      </p:sp>
      <p:sp>
        <p:nvSpPr>
          <p:cNvPr id="64" name="Shape 62"/>
          <p:cNvSpPr/>
          <p:nvPr/>
        </p:nvSpPr>
        <p:spPr>
          <a:xfrm>
            <a:off x="3441859" y="5565669"/>
            <a:ext cx="878840" cy="9525"/>
          </a:xfrm>
          <a:prstGeom prst="rect">
            <a:avLst/>
          </a:prstGeom>
          <a:solidFill>
            <a:srgbClr val="2A3350"/>
          </a:solidFill>
          <a:ln/>
        </p:spPr>
      </p:sp>
      <p:sp>
        <p:nvSpPr>
          <p:cNvPr id="65" name="Text 63"/>
          <p:cNvSpPr/>
          <p:nvPr/>
        </p:nvSpPr>
        <p:spPr>
          <a:xfrm>
            <a:off x="3509592" y="5349240"/>
            <a:ext cx="81957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3</a:t>
            </a:r>
            <a:endParaRPr lang="en-US" sz="907" dirty="0"/>
          </a:p>
        </p:txBody>
      </p:sp>
      <p:sp>
        <p:nvSpPr>
          <p:cNvPr id="66" name="Shape 64"/>
          <p:cNvSpPr/>
          <p:nvPr/>
        </p:nvSpPr>
        <p:spPr>
          <a:xfrm>
            <a:off x="1507490" y="5849832"/>
            <a:ext cx="737235" cy="9525"/>
          </a:xfrm>
          <a:prstGeom prst="rect">
            <a:avLst/>
          </a:prstGeom>
          <a:solidFill>
            <a:srgbClr val="2A3350"/>
          </a:solidFill>
          <a:ln/>
        </p:spPr>
      </p:sp>
      <p:sp>
        <p:nvSpPr>
          <p:cNvPr id="67" name="Text 65"/>
          <p:cNvSpPr/>
          <p:nvPr/>
        </p:nvSpPr>
        <p:spPr>
          <a:xfrm>
            <a:off x="1575223" y="5633402"/>
            <a:ext cx="67796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KOR</a:t>
            </a:r>
            <a:endParaRPr lang="en-US" sz="907" dirty="0"/>
          </a:p>
        </p:txBody>
      </p:sp>
      <p:sp>
        <p:nvSpPr>
          <p:cNvPr id="68" name="Shape 66"/>
          <p:cNvSpPr/>
          <p:nvPr/>
        </p:nvSpPr>
        <p:spPr>
          <a:xfrm>
            <a:off x="2244725" y="5849832"/>
            <a:ext cx="402114" cy="9525"/>
          </a:xfrm>
          <a:prstGeom prst="rect">
            <a:avLst/>
          </a:prstGeom>
          <a:solidFill>
            <a:srgbClr val="2A3350"/>
          </a:solidFill>
          <a:ln/>
        </p:spPr>
      </p:sp>
      <p:sp>
        <p:nvSpPr>
          <p:cNvPr id="69" name="Text 67"/>
          <p:cNvSpPr/>
          <p:nvPr/>
        </p:nvSpPr>
        <p:spPr>
          <a:xfrm>
            <a:off x="2312458" y="5633402"/>
            <a:ext cx="342847"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0</a:t>
            </a:r>
            <a:endParaRPr lang="en-US" sz="907" dirty="0"/>
          </a:p>
        </p:txBody>
      </p:sp>
      <p:sp>
        <p:nvSpPr>
          <p:cNvPr id="70" name="Shape 68"/>
          <p:cNvSpPr/>
          <p:nvPr/>
        </p:nvSpPr>
        <p:spPr>
          <a:xfrm>
            <a:off x="2646839" y="5849832"/>
            <a:ext cx="397510" cy="9525"/>
          </a:xfrm>
          <a:prstGeom prst="rect">
            <a:avLst/>
          </a:prstGeom>
          <a:solidFill>
            <a:srgbClr val="2A3350"/>
          </a:solidFill>
          <a:ln/>
        </p:spPr>
      </p:sp>
      <p:sp>
        <p:nvSpPr>
          <p:cNvPr id="71" name="Text 69"/>
          <p:cNvSpPr/>
          <p:nvPr/>
        </p:nvSpPr>
        <p:spPr>
          <a:xfrm>
            <a:off x="2714572" y="5633402"/>
            <a:ext cx="33824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2</a:t>
            </a:r>
            <a:endParaRPr lang="en-US" sz="907" dirty="0"/>
          </a:p>
        </p:txBody>
      </p:sp>
      <p:sp>
        <p:nvSpPr>
          <p:cNvPr id="72" name="Shape 70"/>
          <p:cNvSpPr/>
          <p:nvPr/>
        </p:nvSpPr>
        <p:spPr>
          <a:xfrm>
            <a:off x="3044349" y="5849832"/>
            <a:ext cx="397510" cy="9525"/>
          </a:xfrm>
          <a:prstGeom prst="rect">
            <a:avLst/>
          </a:prstGeom>
          <a:solidFill>
            <a:srgbClr val="2A3350"/>
          </a:solidFill>
          <a:ln/>
        </p:spPr>
      </p:sp>
      <p:sp>
        <p:nvSpPr>
          <p:cNvPr id="73" name="Text 71"/>
          <p:cNvSpPr/>
          <p:nvPr/>
        </p:nvSpPr>
        <p:spPr>
          <a:xfrm>
            <a:off x="3112082" y="5633402"/>
            <a:ext cx="33824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1</a:t>
            </a:r>
            <a:endParaRPr lang="en-US" sz="907" dirty="0"/>
          </a:p>
        </p:txBody>
      </p:sp>
      <p:sp>
        <p:nvSpPr>
          <p:cNvPr id="74" name="Shape 72"/>
          <p:cNvSpPr/>
          <p:nvPr/>
        </p:nvSpPr>
        <p:spPr>
          <a:xfrm>
            <a:off x="3441859" y="5849832"/>
            <a:ext cx="878840" cy="9525"/>
          </a:xfrm>
          <a:prstGeom prst="rect">
            <a:avLst/>
          </a:prstGeom>
          <a:solidFill>
            <a:srgbClr val="2A3350"/>
          </a:solidFill>
          <a:ln/>
        </p:spPr>
      </p:sp>
      <p:sp>
        <p:nvSpPr>
          <p:cNvPr id="75" name="Text 73"/>
          <p:cNvSpPr/>
          <p:nvPr/>
        </p:nvSpPr>
        <p:spPr>
          <a:xfrm>
            <a:off x="3509592" y="5633402"/>
            <a:ext cx="819573"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2F5FF"/>
                </a:solidFill>
                <a:latin typeface="Arial" pitchFamily="34" charset="0"/>
                <a:ea typeface="Arial" pitchFamily="34" charset="-122"/>
                <a:cs typeface="Arial" pitchFamily="34" charset="-120"/>
              </a:rPr>
              <a:t>3</a:t>
            </a:r>
            <a:endParaRPr lang="en-US" sz="907" dirty="0"/>
          </a:p>
        </p:txBody>
      </p:sp>
      <p:sp>
        <p:nvSpPr>
          <p:cNvPr id="76" name="Shape 74"/>
          <p:cNvSpPr/>
          <p:nvPr/>
        </p:nvSpPr>
        <p:spPr>
          <a:xfrm>
            <a:off x="4557713" y="3922871"/>
            <a:ext cx="6141085" cy="4406741"/>
          </a:xfrm>
          <a:prstGeom prst="roundRect">
            <a:avLst>
              <a:gd name="adj" fmla="val 1537"/>
            </a:avLst>
          </a:prstGeom>
          <a:solidFill>
            <a:srgbClr val="161D33"/>
          </a:solidFill>
          <a:ln w="6773">
            <a:solidFill>
              <a:srgbClr val="2A3350"/>
            </a:solidFill>
            <a:prstDash val="solid"/>
          </a:ln>
        </p:spPr>
      </p:sp>
      <p:sp>
        <p:nvSpPr>
          <p:cNvPr id="77" name="Text 75"/>
          <p:cNvSpPr/>
          <p:nvPr/>
        </p:nvSpPr>
        <p:spPr>
          <a:xfrm>
            <a:off x="4686459" y="4037965"/>
            <a:ext cx="6472126" cy="144304"/>
          </a:xfrm>
          <a:prstGeom prst="rect">
            <a:avLst/>
          </a:prstGeom>
          <a:noFill/>
          <a:ln/>
        </p:spPr>
        <p:txBody>
          <a:bodyPr wrap="square" lIns="25400" tIns="25400" rIns="25400" bIns="25400" rtlCol="0" anchor="t">
            <a:normAutofit/>
          </a:bodyPr>
          <a:lstStyle/>
          <a:p>
            <a:pPr algn="l" indent="0" marL="0">
              <a:lnSpc>
                <a:spcPct val="98021"/>
              </a:lnSpc>
              <a:buNone/>
            </a:pPr>
            <a:r>
              <a:rPr lang="en-US" sz="747" b="1" spc="67" kern="0" dirty="0">
                <a:solidFill>
                  <a:srgbClr val="8F9EC4"/>
                </a:solidFill>
                <a:latin typeface="Arial" pitchFamily="34" charset="0"/>
                <a:ea typeface="Arial" pitchFamily="34" charset="-122"/>
                <a:cs typeface="Arial" pitchFamily="34" charset="-120"/>
              </a:rPr>
              <a:t>PODIUMS</a:t>
            </a:r>
            <a:endParaRPr lang="en-US" sz="747" dirty="0"/>
          </a:p>
        </p:txBody>
      </p:sp>
      <p:sp>
        <p:nvSpPr>
          <p:cNvPr id="78" name="Shape 76"/>
          <p:cNvSpPr/>
          <p:nvPr/>
        </p:nvSpPr>
        <p:spPr>
          <a:xfrm>
            <a:off x="4686459" y="4418912"/>
            <a:ext cx="1548289" cy="13547"/>
          </a:xfrm>
          <a:prstGeom prst="rect">
            <a:avLst/>
          </a:prstGeom>
          <a:solidFill>
            <a:srgbClr val="2A3350"/>
          </a:solidFill>
          <a:ln/>
        </p:spPr>
      </p:sp>
      <p:sp>
        <p:nvSpPr>
          <p:cNvPr id="79" name="Text 77"/>
          <p:cNvSpPr/>
          <p:nvPr/>
        </p:nvSpPr>
        <p:spPr>
          <a:xfrm>
            <a:off x="4754192" y="4259368"/>
            <a:ext cx="1489022"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CATEGORY</a:t>
            </a:r>
            <a:endParaRPr lang="en-US" sz="693" dirty="0"/>
          </a:p>
        </p:txBody>
      </p:sp>
      <p:sp>
        <p:nvSpPr>
          <p:cNvPr id="80" name="Shape 78"/>
          <p:cNvSpPr/>
          <p:nvPr/>
        </p:nvSpPr>
        <p:spPr>
          <a:xfrm>
            <a:off x="6234747" y="4418912"/>
            <a:ext cx="1268889" cy="13547"/>
          </a:xfrm>
          <a:prstGeom prst="rect">
            <a:avLst/>
          </a:prstGeom>
          <a:solidFill>
            <a:srgbClr val="2A3350"/>
          </a:solidFill>
          <a:ln/>
        </p:spPr>
      </p:sp>
      <p:sp>
        <p:nvSpPr>
          <p:cNvPr id="81" name="Text 79"/>
          <p:cNvSpPr/>
          <p:nvPr/>
        </p:nvSpPr>
        <p:spPr>
          <a:xfrm>
            <a:off x="6302481" y="4259368"/>
            <a:ext cx="1209622"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GOLD</a:t>
            </a:r>
            <a:endParaRPr lang="en-US" sz="693" dirty="0"/>
          </a:p>
        </p:txBody>
      </p:sp>
      <p:sp>
        <p:nvSpPr>
          <p:cNvPr id="82" name="Shape 80"/>
          <p:cNvSpPr/>
          <p:nvPr/>
        </p:nvSpPr>
        <p:spPr>
          <a:xfrm>
            <a:off x="7503636" y="4418912"/>
            <a:ext cx="1400969" cy="13547"/>
          </a:xfrm>
          <a:prstGeom prst="rect">
            <a:avLst/>
          </a:prstGeom>
          <a:solidFill>
            <a:srgbClr val="2A3350"/>
          </a:solidFill>
          <a:ln/>
        </p:spPr>
      </p:sp>
      <p:sp>
        <p:nvSpPr>
          <p:cNvPr id="83" name="Text 81"/>
          <p:cNvSpPr/>
          <p:nvPr/>
        </p:nvSpPr>
        <p:spPr>
          <a:xfrm>
            <a:off x="7571369" y="4259368"/>
            <a:ext cx="1341702"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SILVER</a:t>
            </a:r>
            <a:endParaRPr lang="en-US" sz="693" dirty="0"/>
          </a:p>
        </p:txBody>
      </p:sp>
      <p:sp>
        <p:nvSpPr>
          <p:cNvPr id="84" name="Shape 82"/>
          <p:cNvSpPr/>
          <p:nvPr/>
        </p:nvSpPr>
        <p:spPr>
          <a:xfrm>
            <a:off x="8904605" y="4418912"/>
            <a:ext cx="1665605" cy="13547"/>
          </a:xfrm>
          <a:prstGeom prst="rect">
            <a:avLst/>
          </a:prstGeom>
          <a:solidFill>
            <a:srgbClr val="2A3350"/>
          </a:solidFill>
          <a:ln/>
        </p:spPr>
      </p:sp>
      <p:sp>
        <p:nvSpPr>
          <p:cNvPr id="85" name="Text 83"/>
          <p:cNvSpPr/>
          <p:nvPr/>
        </p:nvSpPr>
        <p:spPr>
          <a:xfrm>
            <a:off x="8972339" y="4259368"/>
            <a:ext cx="1606338" cy="150231"/>
          </a:xfrm>
          <a:prstGeom prst="rect">
            <a:avLst/>
          </a:prstGeom>
          <a:noFill/>
          <a:ln/>
        </p:spPr>
        <p:txBody>
          <a:bodyPr wrap="square" lIns="25400" tIns="25400" rIns="25400" bIns="25400" rtlCol="0" anchor="ctr">
            <a:normAutofit/>
          </a:bodyPr>
          <a:lstStyle/>
          <a:p>
            <a:pPr algn="l" indent="0" marL="0">
              <a:lnSpc>
                <a:spcPct val="117000"/>
              </a:lnSpc>
              <a:buNone/>
            </a:pPr>
            <a:r>
              <a:rPr lang="en-US" sz="693" b="1" spc="55" kern="0" dirty="0">
                <a:solidFill>
                  <a:srgbClr val="8F9EC4"/>
                </a:solidFill>
                <a:latin typeface="Arial" pitchFamily="34" charset="0"/>
                <a:ea typeface="Arial" pitchFamily="34" charset="-122"/>
                <a:cs typeface="Arial" pitchFamily="34" charset="-120"/>
              </a:rPr>
              <a:t>BRONZE</a:t>
            </a:r>
            <a:endParaRPr lang="en-US" sz="693" dirty="0"/>
          </a:p>
        </p:txBody>
      </p:sp>
      <p:sp>
        <p:nvSpPr>
          <p:cNvPr id="86" name="Shape 84"/>
          <p:cNvSpPr/>
          <p:nvPr/>
        </p:nvSpPr>
        <p:spPr>
          <a:xfrm>
            <a:off x="4686459" y="4713182"/>
            <a:ext cx="1548289" cy="9525"/>
          </a:xfrm>
          <a:prstGeom prst="rect">
            <a:avLst/>
          </a:prstGeom>
          <a:solidFill>
            <a:srgbClr val="2A3350"/>
          </a:solidFill>
          <a:ln/>
        </p:spPr>
      </p:sp>
      <p:sp>
        <p:nvSpPr>
          <p:cNvPr id="87" name="Text 85"/>
          <p:cNvSpPr/>
          <p:nvPr/>
        </p:nvSpPr>
        <p:spPr>
          <a:xfrm>
            <a:off x="4754192" y="4493419"/>
            <a:ext cx="1489022"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−60 kg Senior Men</a:t>
            </a:r>
            <a:endParaRPr lang="en-US" sz="907" dirty="0"/>
          </a:p>
        </p:txBody>
      </p:sp>
      <p:sp>
        <p:nvSpPr>
          <p:cNvPr id="88" name="Shape 86"/>
          <p:cNvSpPr/>
          <p:nvPr/>
        </p:nvSpPr>
        <p:spPr>
          <a:xfrm>
            <a:off x="6234747" y="4713182"/>
            <a:ext cx="1268889" cy="9525"/>
          </a:xfrm>
          <a:prstGeom prst="rect">
            <a:avLst/>
          </a:prstGeom>
          <a:solidFill>
            <a:srgbClr val="2A3350"/>
          </a:solidFill>
          <a:ln/>
        </p:spPr>
      </p:sp>
      <p:sp>
        <p:nvSpPr>
          <p:cNvPr id="89" name="Text 87"/>
          <p:cNvSpPr/>
          <p:nvPr/>
        </p:nvSpPr>
        <p:spPr>
          <a:xfrm>
            <a:off x="6302481" y="4493419"/>
            <a:ext cx="1209622"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Abdullaev, T.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UZB</a:t>
            </a:r>
            <a:endParaRPr lang="en-US" sz="907" dirty="0"/>
          </a:p>
        </p:txBody>
      </p:sp>
      <p:sp>
        <p:nvSpPr>
          <p:cNvPr id="90" name="Shape 88"/>
          <p:cNvSpPr/>
          <p:nvPr/>
        </p:nvSpPr>
        <p:spPr>
          <a:xfrm>
            <a:off x="7503636" y="4713182"/>
            <a:ext cx="1400969" cy="9525"/>
          </a:xfrm>
          <a:prstGeom prst="rect">
            <a:avLst/>
          </a:prstGeom>
          <a:solidFill>
            <a:srgbClr val="2A3350"/>
          </a:solidFill>
          <a:ln/>
        </p:spPr>
      </p:sp>
      <p:sp>
        <p:nvSpPr>
          <p:cNvPr id="91" name="Text 89"/>
          <p:cNvSpPr/>
          <p:nvPr/>
        </p:nvSpPr>
        <p:spPr>
          <a:xfrm>
            <a:off x="7571369" y="4493419"/>
            <a:ext cx="1341702"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Choi, J.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KOR</a:t>
            </a:r>
            <a:endParaRPr lang="en-US" sz="907" dirty="0"/>
          </a:p>
        </p:txBody>
      </p:sp>
      <p:sp>
        <p:nvSpPr>
          <p:cNvPr id="92" name="Shape 90"/>
          <p:cNvSpPr/>
          <p:nvPr/>
        </p:nvSpPr>
        <p:spPr>
          <a:xfrm>
            <a:off x="8904605" y="4713182"/>
            <a:ext cx="1665605" cy="9525"/>
          </a:xfrm>
          <a:prstGeom prst="rect">
            <a:avLst/>
          </a:prstGeom>
          <a:solidFill>
            <a:srgbClr val="2A3350"/>
          </a:solidFill>
          <a:ln/>
        </p:spPr>
      </p:sp>
      <p:sp>
        <p:nvSpPr>
          <p:cNvPr id="93" name="Text 91"/>
          <p:cNvSpPr/>
          <p:nvPr/>
        </p:nvSpPr>
        <p:spPr>
          <a:xfrm>
            <a:off x="8972339" y="4493419"/>
            <a:ext cx="1606338" cy="196903"/>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Kadyrov, A., Yusupov, R.</a:t>
            </a:r>
            <a:endParaRPr lang="en-US" sz="907" dirty="0"/>
          </a:p>
        </p:txBody>
      </p:sp>
      <p:sp>
        <p:nvSpPr>
          <p:cNvPr id="94" name="Shape 92"/>
          <p:cNvSpPr/>
          <p:nvPr/>
        </p:nvSpPr>
        <p:spPr>
          <a:xfrm>
            <a:off x="4686459" y="4719955"/>
            <a:ext cx="5883751" cy="284162"/>
          </a:xfrm>
          <a:prstGeom prst="rect">
            <a:avLst/>
          </a:prstGeom>
          <a:solidFill>
            <a:srgbClr val="FFFFFF">
              <a:alpha val="2000"/>
            </a:srgbClr>
          </a:solidFill>
          <a:ln/>
        </p:spPr>
      </p:sp>
      <p:sp>
        <p:nvSpPr>
          <p:cNvPr id="95" name="Shape 93"/>
          <p:cNvSpPr/>
          <p:nvPr/>
        </p:nvSpPr>
        <p:spPr>
          <a:xfrm>
            <a:off x="4686459" y="4997344"/>
            <a:ext cx="1548289" cy="9525"/>
          </a:xfrm>
          <a:prstGeom prst="rect">
            <a:avLst/>
          </a:prstGeom>
          <a:solidFill>
            <a:srgbClr val="2A3350"/>
          </a:solidFill>
          <a:ln/>
        </p:spPr>
      </p:sp>
      <p:sp>
        <p:nvSpPr>
          <p:cNvPr id="96" name="Text 94"/>
          <p:cNvSpPr/>
          <p:nvPr/>
        </p:nvSpPr>
        <p:spPr>
          <a:xfrm>
            <a:off x="4754192" y="4780915"/>
            <a:ext cx="148902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−66 kg Senior Men</a:t>
            </a:r>
            <a:endParaRPr lang="en-US" sz="907" dirty="0"/>
          </a:p>
        </p:txBody>
      </p:sp>
      <p:sp>
        <p:nvSpPr>
          <p:cNvPr id="97" name="Shape 95"/>
          <p:cNvSpPr/>
          <p:nvPr/>
        </p:nvSpPr>
        <p:spPr>
          <a:xfrm>
            <a:off x="6234747" y="4997344"/>
            <a:ext cx="1268889" cy="9525"/>
          </a:xfrm>
          <a:prstGeom prst="rect">
            <a:avLst/>
          </a:prstGeom>
          <a:solidFill>
            <a:srgbClr val="2A3350"/>
          </a:solidFill>
          <a:ln/>
        </p:spPr>
      </p:sp>
      <p:sp>
        <p:nvSpPr>
          <p:cNvPr id="98" name="Text 96"/>
          <p:cNvSpPr/>
          <p:nvPr/>
        </p:nvSpPr>
        <p:spPr>
          <a:xfrm>
            <a:off x="6302481" y="4780915"/>
            <a:ext cx="120962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Serikov, D.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KAZ</a:t>
            </a:r>
            <a:endParaRPr lang="en-US" sz="907" dirty="0"/>
          </a:p>
        </p:txBody>
      </p:sp>
      <p:sp>
        <p:nvSpPr>
          <p:cNvPr id="99" name="Shape 97"/>
          <p:cNvSpPr/>
          <p:nvPr/>
        </p:nvSpPr>
        <p:spPr>
          <a:xfrm>
            <a:off x="7503636" y="4997344"/>
            <a:ext cx="1400969" cy="9525"/>
          </a:xfrm>
          <a:prstGeom prst="rect">
            <a:avLst/>
          </a:prstGeom>
          <a:solidFill>
            <a:srgbClr val="2A3350"/>
          </a:solidFill>
          <a:ln/>
        </p:spPr>
      </p:sp>
      <p:sp>
        <p:nvSpPr>
          <p:cNvPr id="100" name="Text 98"/>
          <p:cNvSpPr/>
          <p:nvPr/>
        </p:nvSpPr>
        <p:spPr>
          <a:xfrm>
            <a:off x="7571369" y="4780915"/>
            <a:ext cx="134170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Rahimov, S.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TJK</a:t>
            </a:r>
            <a:endParaRPr lang="en-US" sz="907" dirty="0"/>
          </a:p>
        </p:txBody>
      </p:sp>
      <p:sp>
        <p:nvSpPr>
          <p:cNvPr id="101" name="Shape 99"/>
          <p:cNvSpPr/>
          <p:nvPr/>
        </p:nvSpPr>
        <p:spPr>
          <a:xfrm>
            <a:off x="8904605" y="4997344"/>
            <a:ext cx="1665605" cy="9525"/>
          </a:xfrm>
          <a:prstGeom prst="rect">
            <a:avLst/>
          </a:prstGeom>
          <a:solidFill>
            <a:srgbClr val="2A3350"/>
          </a:solidFill>
          <a:ln/>
        </p:spPr>
      </p:sp>
      <p:sp>
        <p:nvSpPr>
          <p:cNvPr id="102" name="Text 100"/>
          <p:cNvSpPr/>
          <p:nvPr/>
        </p:nvSpPr>
        <p:spPr>
          <a:xfrm>
            <a:off x="8972339" y="4780915"/>
            <a:ext cx="160633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Hassan, M., Nazarov, B.</a:t>
            </a:r>
            <a:endParaRPr lang="en-US" sz="907" dirty="0"/>
          </a:p>
        </p:txBody>
      </p:sp>
      <p:sp>
        <p:nvSpPr>
          <p:cNvPr id="103" name="Shape 101"/>
          <p:cNvSpPr/>
          <p:nvPr/>
        </p:nvSpPr>
        <p:spPr>
          <a:xfrm>
            <a:off x="4686459" y="5281507"/>
            <a:ext cx="1548289" cy="9525"/>
          </a:xfrm>
          <a:prstGeom prst="rect">
            <a:avLst/>
          </a:prstGeom>
          <a:solidFill>
            <a:srgbClr val="2A3350"/>
          </a:solidFill>
          <a:ln/>
        </p:spPr>
      </p:sp>
      <p:sp>
        <p:nvSpPr>
          <p:cNvPr id="104" name="Text 102"/>
          <p:cNvSpPr/>
          <p:nvPr/>
        </p:nvSpPr>
        <p:spPr>
          <a:xfrm>
            <a:off x="4754192" y="5065078"/>
            <a:ext cx="148902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−52 kg Senior Women</a:t>
            </a:r>
            <a:endParaRPr lang="en-US" sz="907" dirty="0"/>
          </a:p>
        </p:txBody>
      </p:sp>
      <p:sp>
        <p:nvSpPr>
          <p:cNvPr id="105" name="Shape 103"/>
          <p:cNvSpPr/>
          <p:nvPr/>
        </p:nvSpPr>
        <p:spPr>
          <a:xfrm>
            <a:off x="6234747" y="5281507"/>
            <a:ext cx="1268889" cy="9525"/>
          </a:xfrm>
          <a:prstGeom prst="rect">
            <a:avLst/>
          </a:prstGeom>
          <a:solidFill>
            <a:srgbClr val="2A3350"/>
          </a:solidFill>
          <a:ln/>
        </p:spPr>
      </p:sp>
      <p:sp>
        <p:nvSpPr>
          <p:cNvPr id="106" name="Text 104"/>
          <p:cNvSpPr/>
          <p:nvPr/>
        </p:nvSpPr>
        <p:spPr>
          <a:xfrm>
            <a:off x="6302481" y="5065078"/>
            <a:ext cx="120962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Karimova, N.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UZB</a:t>
            </a:r>
            <a:endParaRPr lang="en-US" sz="907" dirty="0"/>
          </a:p>
        </p:txBody>
      </p:sp>
      <p:sp>
        <p:nvSpPr>
          <p:cNvPr id="107" name="Shape 105"/>
          <p:cNvSpPr/>
          <p:nvPr/>
        </p:nvSpPr>
        <p:spPr>
          <a:xfrm>
            <a:off x="7503636" y="5281507"/>
            <a:ext cx="1400969" cy="9525"/>
          </a:xfrm>
          <a:prstGeom prst="rect">
            <a:avLst/>
          </a:prstGeom>
          <a:solidFill>
            <a:srgbClr val="2A3350"/>
          </a:solidFill>
          <a:ln/>
        </p:spPr>
      </p:sp>
      <p:sp>
        <p:nvSpPr>
          <p:cNvPr id="108" name="Text 106"/>
          <p:cNvSpPr/>
          <p:nvPr/>
        </p:nvSpPr>
        <p:spPr>
          <a:xfrm>
            <a:off x="7571369" y="5065078"/>
            <a:ext cx="134170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Toktogulova, A.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KGZ</a:t>
            </a:r>
            <a:endParaRPr lang="en-US" sz="907" dirty="0"/>
          </a:p>
        </p:txBody>
      </p:sp>
      <p:sp>
        <p:nvSpPr>
          <p:cNvPr id="109" name="Shape 107"/>
          <p:cNvSpPr/>
          <p:nvPr/>
        </p:nvSpPr>
        <p:spPr>
          <a:xfrm>
            <a:off x="8904605" y="5281507"/>
            <a:ext cx="1665605" cy="9525"/>
          </a:xfrm>
          <a:prstGeom prst="rect">
            <a:avLst/>
          </a:prstGeom>
          <a:solidFill>
            <a:srgbClr val="2A3350"/>
          </a:solidFill>
          <a:ln/>
        </p:spPr>
      </p:sp>
      <p:sp>
        <p:nvSpPr>
          <p:cNvPr id="110" name="Text 108"/>
          <p:cNvSpPr/>
          <p:nvPr/>
        </p:nvSpPr>
        <p:spPr>
          <a:xfrm>
            <a:off x="8972339" y="5065078"/>
            <a:ext cx="160633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Bekova, S., Erkinova, D.</a:t>
            </a:r>
            <a:endParaRPr lang="en-US" sz="907" dirty="0"/>
          </a:p>
        </p:txBody>
      </p:sp>
      <p:sp>
        <p:nvSpPr>
          <p:cNvPr id="111" name="Shape 109"/>
          <p:cNvSpPr/>
          <p:nvPr/>
        </p:nvSpPr>
        <p:spPr>
          <a:xfrm>
            <a:off x="4686459" y="5288280"/>
            <a:ext cx="5883751" cy="284163"/>
          </a:xfrm>
          <a:prstGeom prst="rect">
            <a:avLst/>
          </a:prstGeom>
          <a:solidFill>
            <a:srgbClr val="FFFFFF">
              <a:alpha val="2000"/>
            </a:srgbClr>
          </a:solidFill>
          <a:ln/>
        </p:spPr>
      </p:sp>
      <p:sp>
        <p:nvSpPr>
          <p:cNvPr id="112" name="Shape 110"/>
          <p:cNvSpPr/>
          <p:nvPr/>
        </p:nvSpPr>
        <p:spPr>
          <a:xfrm>
            <a:off x="4686459" y="5565669"/>
            <a:ext cx="1548289" cy="9525"/>
          </a:xfrm>
          <a:prstGeom prst="rect">
            <a:avLst/>
          </a:prstGeom>
          <a:solidFill>
            <a:srgbClr val="2A3350"/>
          </a:solidFill>
          <a:ln/>
        </p:spPr>
      </p:sp>
      <p:sp>
        <p:nvSpPr>
          <p:cNvPr id="113" name="Text 111"/>
          <p:cNvSpPr/>
          <p:nvPr/>
        </p:nvSpPr>
        <p:spPr>
          <a:xfrm>
            <a:off x="4754192" y="5349240"/>
            <a:ext cx="148902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−57 kg Senior Women</a:t>
            </a:r>
            <a:endParaRPr lang="en-US" sz="907" dirty="0"/>
          </a:p>
        </p:txBody>
      </p:sp>
      <p:sp>
        <p:nvSpPr>
          <p:cNvPr id="114" name="Shape 112"/>
          <p:cNvSpPr/>
          <p:nvPr/>
        </p:nvSpPr>
        <p:spPr>
          <a:xfrm>
            <a:off x="6234747" y="5565669"/>
            <a:ext cx="1268889" cy="9525"/>
          </a:xfrm>
          <a:prstGeom prst="rect">
            <a:avLst/>
          </a:prstGeom>
          <a:solidFill>
            <a:srgbClr val="2A3350"/>
          </a:solidFill>
          <a:ln/>
        </p:spPr>
      </p:sp>
      <p:sp>
        <p:nvSpPr>
          <p:cNvPr id="115" name="Text 113"/>
          <p:cNvSpPr/>
          <p:nvPr/>
        </p:nvSpPr>
        <p:spPr>
          <a:xfrm>
            <a:off x="6302481" y="5349240"/>
            <a:ext cx="120962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b="1" dirty="0">
                <a:solidFill>
                  <a:srgbClr val="FBBF24"/>
                </a:solidFill>
                <a:latin typeface="Arial" pitchFamily="34" charset="0"/>
                <a:ea typeface="Arial" pitchFamily="34" charset="-122"/>
                <a:cs typeface="Arial" pitchFamily="34" charset="-120"/>
              </a:rPr>
              <a:t>Bekova, S.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KAZ</a:t>
            </a:r>
            <a:endParaRPr lang="en-US" sz="907" dirty="0"/>
          </a:p>
        </p:txBody>
      </p:sp>
      <p:sp>
        <p:nvSpPr>
          <p:cNvPr id="116" name="Shape 114"/>
          <p:cNvSpPr/>
          <p:nvPr/>
        </p:nvSpPr>
        <p:spPr>
          <a:xfrm>
            <a:off x="7503636" y="5565669"/>
            <a:ext cx="1400969" cy="9525"/>
          </a:xfrm>
          <a:prstGeom prst="rect">
            <a:avLst/>
          </a:prstGeom>
          <a:solidFill>
            <a:srgbClr val="2A3350"/>
          </a:solidFill>
          <a:ln/>
        </p:spPr>
      </p:sp>
      <p:sp>
        <p:nvSpPr>
          <p:cNvPr id="117" name="Text 115"/>
          <p:cNvSpPr/>
          <p:nvPr/>
        </p:nvSpPr>
        <p:spPr>
          <a:xfrm>
            <a:off x="7571369" y="5349240"/>
            <a:ext cx="1341702"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F2F5FF"/>
                </a:solidFill>
                <a:latin typeface="Arial" pitchFamily="34" charset="0"/>
                <a:ea typeface="Arial" pitchFamily="34" charset="-122"/>
                <a:cs typeface="Arial" pitchFamily="34" charset="-120"/>
              </a:rPr>
              <a:t>Erkinova, D. </a:t>
            </a:r>
            <a:pPr algn="l" indent="0" marL="0">
              <a:lnSpc>
                <a:spcPct val="114750"/>
              </a:lnSpc>
              <a:buNone/>
            </a:pPr>
            <a:r>
              <a:rPr lang="en-US" sz="693" b="1" dirty="0">
                <a:solidFill>
                  <a:srgbClr val="8F9EC4"/>
                </a:solidFill>
                <a:latin typeface="Arial" pitchFamily="34" charset="0"/>
                <a:ea typeface="Arial" pitchFamily="34" charset="-122"/>
                <a:cs typeface="Arial" pitchFamily="34" charset="-120"/>
              </a:rPr>
              <a:t>UZB</a:t>
            </a:r>
            <a:endParaRPr lang="en-US" sz="907" dirty="0"/>
          </a:p>
        </p:txBody>
      </p:sp>
      <p:sp>
        <p:nvSpPr>
          <p:cNvPr id="118" name="Shape 116"/>
          <p:cNvSpPr/>
          <p:nvPr/>
        </p:nvSpPr>
        <p:spPr>
          <a:xfrm>
            <a:off x="8904605" y="5565669"/>
            <a:ext cx="1665605" cy="9525"/>
          </a:xfrm>
          <a:prstGeom prst="rect">
            <a:avLst/>
          </a:prstGeom>
          <a:solidFill>
            <a:srgbClr val="2A3350"/>
          </a:solidFill>
          <a:ln/>
        </p:spPr>
      </p:sp>
      <p:sp>
        <p:nvSpPr>
          <p:cNvPr id="119" name="Text 117"/>
          <p:cNvSpPr/>
          <p:nvPr/>
        </p:nvSpPr>
        <p:spPr>
          <a:xfrm>
            <a:off x="8972339" y="5349240"/>
            <a:ext cx="1606338" cy="193569"/>
          </a:xfrm>
          <a:prstGeom prst="rect">
            <a:avLst/>
          </a:prstGeom>
          <a:noFill/>
          <a:ln/>
        </p:spPr>
        <p:txBody>
          <a:bodyPr wrap="square" lIns="25400" tIns="25400" rIns="25400" bIns="25400" rtlCol="0" anchor="ctr">
            <a:normAutofit/>
          </a:bodyPr>
          <a:lstStyle/>
          <a:p>
            <a:pPr algn="l" indent="0" marL="0">
              <a:lnSpc>
                <a:spcPct val="114750"/>
              </a:lnSpc>
              <a:buNone/>
            </a:pPr>
            <a:r>
              <a:rPr lang="en-US" sz="907" dirty="0">
                <a:solidFill>
                  <a:srgbClr val="8F9EC4"/>
                </a:solidFill>
                <a:latin typeface="Arial" pitchFamily="34" charset="0"/>
                <a:ea typeface="Arial" pitchFamily="34" charset="-122"/>
                <a:cs typeface="Arial" pitchFamily="34" charset="-120"/>
              </a:rPr>
              <a:t>—</a:t>
            </a:r>
            <a:endParaRPr lang="en-US" sz="907" dirty="0"/>
          </a:p>
        </p:txBody>
      </p:sp>
      <p:sp>
        <p:nvSpPr>
          <p:cNvPr id="120" name="Text 118"/>
          <p:cNvSpPr/>
          <p:nvPr/>
        </p:nvSpPr>
        <p:spPr>
          <a:xfrm>
            <a:off x="1378744" y="8424439"/>
            <a:ext cx="9599655" cy="156951"/>
          </a:xfrm>
          <a:prstGeom prst="rect">
            <a:avLst/>
          </a:prstGeom>
          <a:noFill/>
          <a:ln/>
        </p:spPr>
        <p:txBody>
          <a:bodyPr wrap="square" lIns="25400" tIns="25400" rIns="25400" bIns="25400" rtlCol="0" anchor="t">
            <a:normAutofit/>
          </a:bodyPr>
          <a:lstStyle/>
          <a:p>
            <a:pPr algn="l" indent="0" marL="0">
              <a:lnSpc>
                <a:spcPct val="117000"/>
              </a:lnSpc>
              <a:buNone/>
            </a:pPr>
            <a:r>
              <a:rPr lang="en-US" sz="693" dirty="0">
                <a:solidFill>
                  <a:srgbClr val="8F9EC4"/>
                </a:solidFill>
                <a:latin typeface="Arial" pitchFamily="34" charset="0"/>
                <a:ea typeface="Arial" pitchFamily="34" charset="-122"/>
                <a:cs typeface="Arial" pitchFamily="34" charset="-120"/>
              </a:rPr>
              <a:t>Updated 14:22:07 · refreshes automatically</a:t>
            </a:r>
            <a:endParaRPr lang="en-US" sz="693" dirty="0"/>
          </a:p>
        </p:txBody>
      </p:sp>
      <p:sp>
        <p:nvSpPr>
          <p:cNvPr id="121" name="Text 119"/>
          <p:cNvSpPr/>
          <p:nvPr/>
        </p:nvSpPr>
        <p:spPr>
          <a:xfrm>
            <a:off x="11353800" y="32004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Derived, never cached</a:t>
            </a:r>
            <a:endParaRPr lang="en-US" sz="2550" dirty="0"/>
          </a:p>
        </p:txBody>
      </p:sp>
      <p:sp>
        <p:nvSpPr>
          <p:cNvPr id="122" name="Text 120"/>
          <p:cNvSpPr/>
          <p:nvPr/>
        </p:nvSpPr>
        <p:spPr>
          <a:xfrm>
            <a:off x="11353800" y="3696811"/>
            <a:ext cx="5964936" cy="15925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The standing and the podiums are computed from bout rows on every read, so the board, the certificates and the printed medal standing cannot disagree with each other.</a:t>
            </a:r>
            <a:endParaRPr lang="en-US" sz="2100" dirty="0"/>
          </a:p>
        </p:txBody>
      </p:sp>
      <p:sp>
        <p:nvSpPr>
          <p:cNvPr id="123" name="Text 121"/>
          <p:cNvSpPr/>
          <p:nvPr/>
        </p:nvSpPr>
        <p:spPr>
          <a:xfrm>
            <a:off x="11353800" y="5715000"/>
            <a:ext cx="63703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One bronze in a round robin</a:t>
            </a:r>
            <a:endParaRPr lang="en-US" sz="2550" dirty="0"/>
          </a:p>
        </p:txBody>
      </p:sp>
      <p:sp>
        <p:nvSpPr>
          <p:cNvPr id="124" name="Text 122"/>
          <p:cNvSpPr/>
          <p:nvPr/>
        </p:nvSpPr>
        <p:spPr>
          <a:xfrm>
            <a:off x="11353800" y="6211412"/>
            <a:ext cx="5964936" cy="15925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A group has no second semi-final to lose, so the medal set follows the format the class was actually fought under rather than a single house rule.</a:t>
            </a:r>
            <a:endParaRPr lang="en-US" sz="2100" dirty="0"/>
          </a:p>
        </p:txBody>
      </p:sp>
      <p:pic>
        <p:nvPicPr>
          <p:cNvPr id="125"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03 · THE HALL</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Documents and paperwork</a:t>
            </a:r>
            <a:endParaRPr lang="en-US" sz="4800" dirty="0"/>
          </a:p>
        </p:txBody>
      </p:sp>
      <p:sp>
        <p:nvSpPr>
          <p:cNvPr id="4" name="Text 2"/>
          <p:cNvSpPr/>
          <p:nvPr/>
        </p:nvSpPr>
        <p:spPr>
          <a:xfrm>
            <a:off x="1143000" y="7662863"/>
            <a:ext cx="13215620" cy="201454"/>
          </a:xfrm>
          <a:prstGeom prst="rect">
            <a:avLst/>
          </a:prstGeom>
          <a:noFill/>
          <a:ln/>
        </p:spPr>
        <p:txBody>
          <a:bodyPr wrap="square" lIns="25400" tIns="25400" rIns="25400" bIns="25400" rtlCol="0" anchor="t">
            <a:normAutofit/>
          </a:bodyPr>
          <a:lstStyle/>
          <a:p>
            <a:pPr algn="l" indent="0" marL="0">
              <a:lnSpc>
                <a:spcPct val="165517"/>
              </a:lnSpc>
              <a:buNone/>
            </a:pPr>
            <a:r>
              <a:rPr lang="en-US" sz="1875" dirty="0">
                <a:solidFill>
                  <a:srgbClr val="201E1D">
                    <a:alpha val="55000"/>
                  </a:srgbClr>
                </a:solidFill>
                <a:latin typeface="Arial" pitchFamily="34" charset="0"/>
                <a:ea typeface="Arial" pitchFamily="34" charset="-122"/>
                <a:cs typeface="Arial" pitchFamily="34" charset="-120"/>
              </a:rPr>
              <a:t>Twelve documents, rendered from the database at the moment they are requested — a re-download is never stale.</a:t>
            </a:r>
            <a:endParaRPr lang="en-US" sz="1875" dirty="0"/>
          </a:p>
        </p:txBody>
      </p:sp>
      <p:pic>
        <p:nvPicPr>
          <p:cNvPr id="5"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C3013"/>
        </a:solidFill>
      </p:bgPr>
    </p:bg>
    <p:spTree>
      <p:nvGrpSpPr>
        <p:cNvPr id="1" name=""/>
        <p:cNvGrpSpPr/>
        <p:nvPr/>
      </p:nvGrpSpPr>
      <p:grpSpPr>
        <a:xfrm>
          <a:off x="0" y="0"/>
          <a:ext cx="0" cy="0"/>
          <a:chOff x="0" y="0"/>
          <a:chExt cx="0" cy="0"/>
        </a:xfrm>
      </p:grpSpPr>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04 · ADOPTION</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Roles and gates</a:t>
            </a:r>
            <a:endParaRPr lang="en-US" sz="4800" dirty="0"/>
          </a:p>
        </p:txBody>
      </p:sp>
      <p:sp>
        <p:nvSpPr>
          <p:cNvPr id="4" name="Text 2"/>
          <p:cNvSpPr/>
          <p:nvPr/>
        </p:nvSpPr>
        <p:spPr>
          <a:xfrm>
            <a:off x="1143000" y="7662863"/>
            <a:ext cx="13215620" cy="201454"/>
          </a:xfrm>
          <a:prstGeom prst="rect">
            <a:avLst/>
          </a:prstGeom>
          <a:noFill/>
          <a:ln/>
        </p:spPr>
        <p:txBody>
          <a:bodyPr wrap="square" lIns="25400" tIns="25400" rIns="25400" bIns="25400" rtlCol="0" anchor="t">
            <a:normAutofit/>
          </a:bodyPr>
          <a:lstStyle/>
          <a:p>
            <a:pPr algn="l" indent="0" marL="0">
              <a:lnSpc>
                <a:spcPct val="165517"/>
              </a:lnSpc>
              <a:buNone/>
            </a:pPr>
            <a:r>
              <a:rPr lang="en-US" sz="1875" dirty="0">
                <a:solidFill>
                  <a:srgbClr val="201E1D">
                    <a:alpha val="55000"/>
                  </a:srgbClr>
                </a:solidFill>
                <a:latin typeface="Arial" pitchFamily="34" charset="0"/>
                <a:ea typeface="Arial" pitchFamily="34" charset="-122"/>
                <a:cs typeface="Arial" pitchFamily="34" charset="-120"/>
              </a:rPr>
              <a:t>Seven roles behind fourteen gates. A referee is trusted with the result and cannot regenerate the draw it sits in.</a:t>
            </a:r>
            <a:endParaRPr lang="en-US" sz="1875" dirty="0"/>
          </a:p>
        </p:txBody>
      </p:sp>
      <p:pic>
        <p:nvPicPr>
          <p:cNvPr id="5"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04 · ADOPTION</a:t>
            </a:r>
            <a:endParaRPr lang="en-US" sz="1800" dirty="0"/>
          </a:p>
        </p:txBody>
      </p:sp>
      <p:sp>
        <p:nvSpPr>
          <p:cNvPr id="3" name="Text 1"/>
          <p:cNvSpPr/>
          <p:nvPr/>
        </p:nvSpPr>
        <p:spPr>
          <a:xfrm>
            <a:off x="1107599" y="1867853"/>
            <a:ext cx="17641141" cy="456247"/>
          </a:xfrm>
          <a:prstGeom prst="rect">
            <a:avLst/>
          </a:prstGeom>
          <a:noFill/>
          <a:ln/>
        </p:spPr>
        <p:txBody>
          <a:bodyPr wrap="square" lIns="25400" tIns="25400" rIns="25400" bIns="25400" rtlCol="0" anchor="t">
            <a:normAutofit/>
          </a:bodyPr>
          <a:lstStyle/>
          <a:p>
            <a:pPr algn="l" indent="0" marL="0">
              <a:lnSpc>
                <a:spcPct val="100000"/>
              </a:lnSpc>
              <a:buNone/>
            </a:pPr>
            <a:r>
              <a:rPr lang="en-US" sz="4800" b="1" spc="-72" kern="0" dirty="0">
                <a:solidFill>
                  <a:srgbClr val="201E1D"/>
                </a:solidFill>
                <a:latin typeface="Arial" pitchFamily="34" charset="0"/>
                <a:ea typeface="Arial" pitchFamily="34" charset="-122"/>
                <a:cs typeface="Arial" pitchFamily="34" charset="-120"/>
              </a:rPr>
              <a:t>What it takes to run it</a:t>
            </a:r>
            <a:endParaRPr lang="en-US" sz="4800" dirty="0"/>
          </a:p>
        </p:txBody>
      </p:sp>
      <p:sp>
        <p:nvSpPr>
          <p:cNvPr id="4" name="Shape 2"/>
          <p:cNvSpPr/>
          <p:nvPr/>
        </p:nvSpPr>
        <p:spPr>
          <a:xfrm>
            <a:off x="1143000" y="3190875"/>
            <a:ext cx="5029200" cy="19050"/>
          </a:xfrm>
          <a:prstGeom prst="rect">
            <a:avLst/>
          </a:prstGeom>
          <a:solidFill>
            <a:srgbClr val="201E1D">
              <a:alpha val="40000"/>
            </a:srgbClr>
          </a:solidFill>
          <a:ln/>
        </p:spPr>
      </p:sp>
      <p:sp>
        <p:nvSpPr>
          <p:cNvPr id="5" name="Text 3"/>
          <p:cNvSpPr/>
          <p:nvPr/>
        </p:nvSpPr>
        <p:spPr>
          <a:xfrm>
            <a:off x="1143000" y="3435509"/>
            <a:ext cx="55321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The venue</a:t>
            </a:r>
            <a:endParaRPr lang="en-US" sz="2550" dirty="0"/>
          </a:p>
        </p:txBody>
      </p:sp>
      <p:sp>
        <p:nvSpPr>
          <p:cNvPr id="6" name="Text 4"/>
          <p:cNvSpPr/>
          <p:nvPr/>
        </p:nvSpPr>
        <p:spPr>
          <a:xfrm>
            <a:off x="1143000" y="3931920"/>
            <a:ext cx="5180076" cy="20497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solidFill>
                <a:latin typeface="Arial" pitchFamily="34" charset="0"/>
                <a:ea typeface="Arial" pitchFamily="34" charset="-122"/>
                <a:cs typeface="Arial" pitchFamily="34" charset="-120"/>
              </a:rPr>
              <a:t>One machine serving on the hall’s own network, and the screens you already have: a tablet per mat, a laptop at the desk, a projector for the boards. No route off the network is needed at match time.</a:t>
            </a:r>
            <a:endParaRPr lang="en-US" sz="2100" dirty="0"/>
          </a:p>
        </p:txBody>
      </p:sp>
      <p:sp>
        <p:nvSpPr>
          <p:cNvPr id="7" name="Shape 5"/>
          <p:cNvSpPr/>
          <p:nvPr/>
        </p:nvSpPr>
        <p:spPr>
          <a:xfrm>
            <a:off x="6629400" y="3190875"/>
            <a:ext cx="5029200" cy="19050"/>
          </a:xfrm>
          <a:prstGeom prst="rect">
            <a:avLst/>
          </a:prstGeom>
          <a:solidFill>
            <a:srgbClr val="201E1D">
              <a:alpha val="40000"/>
            </a:srgbClr>
          </a:solidFill>
          <a:ln/>
        </p:spPr>
      </p:sp>
      <p:sp>
        <p:nvSpPr>
          <p:cNvPr id="8" name="Text 6"/>
          <p:cNvSpPr/>
          <p:nvPr/>
        </p:nvSpPr>
        <p:spPr>
          <a:xfrm>
            <a:off x="6629400" y="3435509"/>
            <a:ext cx="55321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The rehearsal</a:t>
            </a:r>
            <a:endParaRPr lang="en-US" sz="2550" dirty="0"/>
          </a:p>
        </p:txBody>
      </p:sp>
      <p:sp>
        <p:nvSpPr>
          <p:cNvPr id="9" name="Text 7"/>
          <p:cNvSpPr/>
          <p:nvPr/>
        </p:nvSpPr>
        <p:spPr>
          <a:xfrm>
            <a:off x="6629400" y="3931920"/>
            <a:ext cx="5180076" cy="25069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solidFill>
                <a:latin typeface="Arial" pitchFamily="34" charset="0"/>
                <a:ea typeface="Arial" pitchFamily="34" charset="-122"/>
                <a:cs typeface="Arial" pitchFamily="34" charset="-120"/>
              </a:rPr>
              <a:t>A whole championship can be built to look at — every class entered, weighed, drawn and part-fought, with a contest live on each mat. The scoreboard driver has a fake, so a venue setup is rehearsed before the equipment arrives.</a:t>
            </a:r>
            <a:endParaRPr lang="en-US" sz="2100" dirty="0"/>
          </a:p>
        </p:txBody>
      </p:sp>
      <p:sp>
        <p:nvSpPr>
          <p:cNvPr id="10" name="Shape 8"/>
          <p:cNvSpPr/>
          <p:nvPr/>
        </p:nvSpPr>
        <p:spPr>
          <a:xfrm>
            <a:off x="12115800" y="3190875"/>
            <a:ext cx="5029200" cy="19050"/>
          </a:xfrm>
          <a:prstGeom prst="rect">
            <a:avLst/>
          </a:prstGeom>
          <a:solidFill>
            <a:srgbClr val="201E1D">
              <a:alpha val="40000"/>
            </a:srgbClr>
          </a:solidFill>
          <a:ln/>
        </p:spPr>
      </p:sp>
      <p:sp>
        <p:nvSpPr>
          <p:cNvPr id="11" name="Text 9"/>
          <p:cNvSpPr/>
          <p:nvPr/>
        </p:nvSpPr>
        <p:spPr>
          <a:xfrm>
            <a:off x="12115800" y="3435509"/>
            <a:ext cx="5532120" cy="260191"/>
          </a:xfrm>
          <a:prstGeom prst="rect">
            <a:avLst/>
          </a:prstGeom>
          <a:noFill/>
          <a:ln/>
        </p:spPr>
        <p:txBody>
          <a:bodyPr wrap="square" lIns="25400" tIns="25400" rIns="25400" bIns="25400" rtlCol="0" anchor="t">
            <a:normAutofit/>
          </a:bodyPr>
          <a:lstStyle/>
          <a:p>
            <a:pPr algn="l" indent="0" marL="0">
              <a:lnSpc>
                <a:spcPct val="123077"/>
              </a:lnSpc>
              <a:buNone/>
            </a:pPr>
            <a:r>
              <a:rPr lang="en-US" sz="2550" b="1" spc="-38" kern="0" dirty="0">
                <a:solidFill>
                  <a:srgbClr val="201E1D"/>
                </a:solidFill>
                <a:latin typeface="Arial" pitchFamily="34" charset="0"/>
                <a:ea typeface="Arial" pitchFamily="34" charset="-122"/>
                <a:cs typeface="Arial" pitchFamily="34" charset="-120"/>
              </a:rPr>
              <a:t>The safety net</a:t>
            </a:r>
            <a:endParaRPr lang="en-US" sz="2550" dirty="0"/>
          </a:p>
        </p:txBody>
      </p:sp>
      <p:sp>
        <p:nvSpPr>
          <p:cNvPr id="12" name="Text 10"/>
          <p:cNvSpPr/>
          <p:nvPr/>
        </p:nvSpPr>
        <p:spPr>
          <a:xfrm>
            <a:off x="12115800" y="3931920"/>
            <a:ext cx="5180076" cy="250698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solidFill>
                <a:latin typeface="Arial" pitchFamily="34" charset="0"/>
                <a:ea typeface="Arial" pitchFamily="34" charset="-122"/>
                <a:cs typeface="Arial" pitchFamily="34" charset="-120"/>
              </a:rPr>
              <a:t>Destructive database commands are blocked in four independent layers, backups run nightly and on demand, and nothing deletes a backup. Accounts can be recovered from one — a procedure that has been used.</a:t>
            </a:r>
            <a:endParaRPr lang="en-US" sz="2100" dirty="0"/>
          </a:p>
        </p:txBody>
      </p:sp>
      <p:pic>
        <p:nvPicPr>
          <p:cNvPr id="13"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04 · ADOPTION</a:t>
            </a:r>
            <a:endParaRPr lang="en-US" sz="1800" dirty="0"/>
          </a:p>
        </p:txBody>
      </p:sp>
      <p:sp>
        <p:nvSpPr>
          <p:cNvPr id="3" name="Text 1"/>
          <p:cNvSpPr/>
          <p:nvPr/>
        </p:nvSpPr>
        <p:spPr>
          <a:xfrm>
            <a:off x="873601" y="2781300"/>
            <a:ext cx="17898539" cy="2705100"/>
          </a:xfrm>
          <a:prstGeom prst="rect">
            <a:avLst/>
          </a:prstGeom>
          <a:noFill/>
          <a:ln/>
        </p:spPr>
        <p:txBody>
          <a:bodyPr wrap="square" lIns="25400" tIns="25400" rIns="25400" bIns="25400" rtlCol="0" anchor="t">
            <a:normAutofit/>
          </a:bodyPr>
          <a:lstStyle/>
          <a:p>
            <a:pPr algn="l" indent="0" marL="0">
              <a:lnSpc>
                <a:spcPct val="89172"/>
              </a:lnSpc>
              <a:buNone/>
            </a:pPr>
            <a:r>
              <a:rPr lang="en-US" sz="21000" b="1" spc="-420" kern="0" dirty="0">
                <a:solidFill>
                  <a:srgbClr val="EC3013"/>
                </a:solidFill>
                <a:latin typeface="Arial" pitchFamily="34" charset="0"/>
                <a:ea typeface="Arial" pitchFamily="34" charset="-122"/>
                <a:cs typeface="Arial" pitchFamily="34" charset="-120"/>
              </a:rPr>
              <a:t>1,555</a:t>
            </a:r>
            <a:endParaRPr lang="en-US" sz="21000" dirty="0"/>
          </a:p>
        </p:txBody>
      </p:sp>
      <p:sp>
        <p:nvSpPr>
          <p:cNvPr id="4" name="Text 2"/>
          <p:cNvSpPr/>
          <p:nvPr/>
        </p:nvSpPr>
        <p:spPr>
          <a:xfrm>
            <a:off x="1143000" y="5905500"/>
            <a:ext cx="7243277" cy="1409700"/>
          </a:xfrm>
          <a:prstGeom prst="rect">
            <a:avLst/>
          </a:prstGeom>
          <a:noFill/>
          <a:ln/>
        </p:spPr>
        <p:txBody>
          <a:bodyPr wrap="square" lIns="25400" tIns="25400" rIns="25400" bIns="25400" rtlCol="0" anchor="t">
            <a:normAutofit/>
          </a:bodyPr>
          <a:lstStyle/>
          <a:p>
            <a:pPr algn="l" indent="0" marL="0">
              <a:lnSpc>
                <a:spcPct val="150000"/>
              </a:lnSpc>
              <a:buNone/>
            </a:pPr>
            <a:r>
              <a:rPr lang="en-US" sz="2100" dirty="0">
                <a:solidFill>
                  <a:srgbClr val="201E1D">
                    <a:alpha val="55000"/>
                  </a:srgbClr>
                </a:solidFill>
                <a:latin typeface="Arial" pitchFamily="34" charset="0"/>
                <a:ea typeface="Arial" pitchFamily="34" charset="-122"/>
                <a:cs typeface="Arial" pitchFamily="34" charset="-120"/>
              </a:rPr>
              <a:t>Tests, with 5,019 assertions, all passing — feature tests drive the real screens against a real MariaDB, and whole tournaments are simulated end to end on every push.</a:t>
            </a:r>
            <a:endParaRPr lang="en-US" sz="2100" dirty="0"/>
          </a:p>
        </p:txBody>
      </p:sp>
      <p:pic>
        <p:nvPicPr>
          <p:cNvPr id="5" name="Image 0" descr="preencoded.png">    </p:cNvPr>
          <p:cNvPicPr>
            <a:picLocks noChangeAspect="1"/>
          </p:cNvPicPr>
          <p:nvPr/>
        </p:nvPicPr>
        <p:blipFill>
          <a:blip r:embed="rId1"/>
          <a:stretch>
            <a:fillRect/>
          </a:stretch>
        </p:blipFill>
        <p:spPr>
          <a:xfrm>
            <a:off x="1143000" y="8987155"/>
            <a:ext cx="3391217" cy="156845"/>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3F2F2"/>
        </a:solidFill>
      </p:bgPr>
    </p:bg>
    <p:spTree>
      <p:nvGrpSpPr>
        <p:cNvPr id="1" name=""/>
        <p:cNvGrpSpPr/>
        <p:nvPr/>
      </p:nvGrpSpPr>
      <p:grpSpPr>
        <a:xfrm>
          <a:off x="0" y="0"/>
          <a:ext cx="0" cy="0"/>
          <a:chOff x="0" y="0"/>
          <a:chExt cx="0" cy="0"/>
        </a:xfrm>
      </p:grpSpPr>
      <p:sp>
        <p:nvSpPr>
          <p:cNvPr id="2" name="Text 0"/>
          <p:cNvSpPr/>
          <p:nvPr/>
        </p:nvSpPr>
        <p:spPr>
          <a:xfrm>
            <a:off x="1143000" y="528955"/>
            <a:ext cx="176022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spc="144" kern="0" dirty="0">
                <a:solidFill>
                  <a:srgbClr val="EC3013"/>
                </a:solidFill>
                <a:latin typeface="Arial" pitchFamily="34" charset="0"/>
                <a:ea typeface="Arial" pitchFamily="34" charset="-122"/>
                <a:cs typeface="Arial" pitchFamily="34" charset="-120"/>
              </a:rPr>
              <a:t>04 · ADOPTION</a:t>
            </a:r>
            <a:endParaRPr lang="en-US" sz="1800" dirty="0"/>
          </a:p>
        </p:txBody>
      </p:sp>
      <p:sp>
        <p:nvSpPr>
          <p:cNvPr id="3" name="Text 1"/>
          <p:cNvSpPr/>
          <p:nvPr/>
        </p:nvSpPr>
        <p:spPr>
          <a:xfrm>
            <a:off x="1074420" y="3314700"/>
            <a:ext cx="17677637" cy="1181100"/>
          </a:xfrm>
          <a:prstGeom prst="rect">
            <a:avLst/>
          </a:prstGeom>
          <a:noFill/>
          <a:ln/>
        </p:spPr>
        <p:txBody>
          <a:bodyPr wrap="square" lIns="25400" tIns="25400" rIns="25400" bIns="25400" rtlCol="0" anchor="t">
            <a:normAutofit/>
          </a:bodyPr>
          <a:lstStyle/>
          <a:p>
            <a:pPr algn="l" indent="0" marL="0">
              <a:lnSpc>
                <a:spcPct val="85714"/>
              </a:lnSpc>
              <a:buNone/>
            </a:pPr>
            <a:r>
              <a:rPr lang="en-US" sz="9300" b="1" spc="-186" kern="0" dirty="0">
                <a:solidFill>
                  <a:srgbClr val="201E1D"/>
                </a:solidFill>
                <a:latin typeface="Arial" pitchFamily="34" charset="0"/>
                <a:ea typeface="Arial" pitchFamily="34" charset="-122"/>
                <a:cs typeface="Arial" pitchFamily="34" charset="-120"/>
              </a:rPr>
              <a:t>Run a championship on it</a:t>
            </a:r>
            <a:endParaRPr lang="en-US" sz="9300" dirty="0"/>
          </a:p>
        </p:txBody>
      </p:sp>
      <p:sp>
        <p:nvSpPr>
          <p:cNvPr id="4" name="Text 2"/>
          <p:cNvSpPr/>
          <p:nvPr/>
        </p:nvSpPr>
        <p:spPr>
          <a:xfrm>
            <a:off x="1143000" y="4914900"/>
            <a:ext cx="8993188" cy="1866900"/>
          </a:xfrm>
          <a:prstGeom prst="rect">
            <a:avLst/>
          </a:prstGeom>
          <a:noFill/>
          <a:ln/>
        </p:spPr>
        <p:txBody>
          <a:bodyPr wrap="square" lIns="25400" tIns="25400" rIns="25400" bIns="25400" rtlCol="0" anchor="t">
            <a:normAutofit/>
          </a:bodyPr>
          <a:lstStyle/>
          <a:p>
            <a:pPr algn="l" indent="0" marL="0">
              <a:lnSpc>
                <a:spcPct val="104348"/>
              </a:lnSpc>
              <a:buNone/>
            </a:pPr>
            <a:r>
              <a:rPr lang="en-US" sz="3000" dirty="0">
                <a:solidFill>
                  <a:srgbClr val="201E1D">
                    <a:alpha val="55000"/>
                  </a:srgbClr>
                </a:solidFill>
                <a:latin typeface="Arial" pitchFamily="34" charset="0"/>
                <a:ea typeface="Arial" pitchFamily="34" charset="-122"/>
                <a:cs typeface="Arial" pitchFamily="34" charset="-120"/>
              </a:rPr>
              <a:t>The next step is a rehearsal in the hall: your entry spreadsheet, your mats, your boards — a full day fought on demonstration data before the first athlete arrives.</a:t>
            </a:r>
            <a:endParaRPr lang="en-US" sz="3000" dirty="0"/>
          </a:p>
        </p:txBody>
      </p:sp>
      <p:sp>
        <p:nvSpPr>
          <p:cNvPr id="5" name="Text 3"/>
          <p:cNvSpPr/>
          <p:nvPr/>
        </p:nvSpPr>
        <p:spPr>
          <a:xfrm>
            <a:off x="1143000" y="8987155"/>
            <a:ext cx="2856865"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201E1D">
                    <a:alpha val="55000"/>
                  </a:srgbClr>
                </a:solidFill>
                <a:latin typeface="Arial" pitchFamily="34" charset="0"/>
                <a:ea typeface="Arial" pitchFamily="34" charset="-122"/>
                <a:cs typeface="Arial" pitchFamily="34" charset="-120"/>
              </a:rPr>
              <a:t>Not an official IKA product</a:t>
            </a:r>
            <a:endParaRPr lang="en-US" sz="1800" dirty="0"/>
          </a:p>
        </p:txBody>
      </p:sp>
      <p:sp>
        <p:nvSpPr>
          <p:cNvPr id="6" name="Text 4"/>
          <p:cNvSpPr/>
          <p:nvPr/>
        </p:nvSpPr>
        <p:spPr>
          <a:xfrm>
            <a:off x="3911600" y="8987155"/>
            <a:ext cx="152400"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201E1D">
                    <a:alpha val="55000"/>
                  </a:srgbClr>
                </a:solidFill>
                <a:latin typeface="Arial" pitchFamily="34" charset="0"/>
                <a:ea typeface="Arial" pitchFamily="34" charset="-122"/>
                <a:cs typeface="Arial" pitchFamily="34" charset="-120"/>
              </a:rPr>
              <a:t>·</a:t>
            </a:r>
            <a:endParaRPr lang="en-US" sz="1800" dirty="0"/>
          </a:p>
        </p:txBody>
      </p:sp>
      <p:sp>
        <p:nvSpPr>
          <p:cNvPr id="7" name="Text 5"/>
          <p:cNvSpPr/>
          <p:nvPr/>
        </p:nvSpPr>
        <p:spPr>
          <a:xfrm>
            <a:off x="4159250" y="8987155"/>
            <a:ext cx="3004772" cy="194945"/>
          </a:xfrm>
          <a:prstGeom prst="rect">
            <a:avLst/>
          </a:prstGeom>
          <a:noFill/>
          <a:ln/>
        </p:spPr>
        <p:txBody>
          <a:bodyPr wrap="square" lIns="25400" tIns="25400" rIns="25400" bIns="25400" rtlCol="0" anchor="t">
            <a:normAutofit/>
          </a:bodyPr>
          <a:lstStyle/>
          <a:p>
            <a:pPr algn="l" indent="0" marL="0">
              <a:lnSpc>
                <a:spcPct val="132857"/>
              </a:lnSpc>
              <a:buNone/>
            </a:pPr>
            <a:r>
              <a:rPr lang="en-US" sz="1800" dirty="0">
                <a:solidFill>
                  <a:srgbClr val="201E1D">
                    <a:alpha val="55000"/>
                  </a:srgbClr>
                </a:solidFill>
                <a:latin typeface="Arial" pitchFamily="34" charset="0"/>
                <a:ea typeface="Arial" pitchFamily="34" charset="-122"/>
                <a:cs typeface="Arial" pitchFamily="34" charset="-120"/>
              </a:rPr>
              <a:t>Rules per IKA, 2022 edition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2026-08-28T08:52:30Z</dcterms:created>
  <dcterms:modified xsi:type="dcterms:W3CDTF">2026-08-28T08:52:30Z</dcterms:modified>
</cp:coreProperties>
</file>